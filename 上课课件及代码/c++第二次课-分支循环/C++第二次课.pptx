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4"/>
  </p:notesMasterIdLst>
  <p:sldIdLst>
    <p:sldId id="256" r:id="rId3"/>
    <p:sldId id="27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8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8" y="35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！欢迎来到我们的C++编程小课堂！今天，我们将一起探索编程世界里两个非常重要的魔法——分支和循环。它们能让我们的程序变得更聪明，学会自己做选择和重复做事情。准备好了吗？让我们开始这段奇妙的旅程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825AE-056D-FB64-1EC8-459B1FEC1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27CF246-2201-A256-8955-5748F72B3C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22B00E-E561-1380-CA88-C98E376E386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FCA6984-8F54-61A9-DE45-F34FB456AF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1515A35-902E-2857-CA71-3D4A78A438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基本的循环，我们还有一些高级技巧可以让循环更强大。比如循环嵌套，就是循环里面套着循环，用来处理更复杂的问题。还有break和continue两个关键字，break可以让我们提前结束循环，而continue可以让我们跳过当前这一轮，直接开始下一轮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36D4F-F562-FFEF-BC15-3EA759AA3E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9F82D-8A6F-1EA7-B09C-C1A451029E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68250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这是我们今天的课程地图。我们会先学习什么是分支结构，然后深入了解各种分支语句，接着我们会进入循环的世界，学习while和for循环，最后还会接触一些循环的高级技巧。让我们一步一步，跟着地图探索吧！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好了，现在我们正式进入第一站：神奇的分支结构。想象一下，我们每天都会做很多选择，比如早上起床先刷牙还是先洗脸。分支结构就是让我们的程序也学会像我们一样做选择！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到底什么是分支结构呢？其实很简单。就像这张图里展示的，根据天气这个“条件”，我们做出了“带伞”或“不带伞”的不同选择。程序中的分支结构，就是让计算机根据我们设定的条件，来决定执行哪一段代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我们学习的第一个分支语句叫做 if 语句。它非常直接，就像它的名字一样，“如果”怎么样，就做什么。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比如我们刚才说的例子，如果天气是下雨，那么我们就执行“带伞”这个动作。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在代码里，我们用一对大括号 {} 把要执行的代码包起来。大家可以看到底部的代码示例，这就是将生活中的逻辑转化为代码的过程。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我们用if语句来做个小游戏吧！这是一个猜数字游戏。假设答案是5，玩家猜了8。因为8大于5，满足了“玩家猜测的数字 &gt; 答案”这个条件，所以程序就会执行输出“太大了！”的操作。是不是很有趣？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有时候我们需要做“二选一”的决定，这时候就可以用if-else语句。它比if语句多了一个else部分，代表“否则”。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还是用天气的例子，如果下雨就带伞，否则（也就是不下雨）就不带伞。这样程序的逻辑就更完整了。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再来看一个if-else的例子。假设我们有一个分数，比如75分。因为75大于等于60，满足了条件，所以程序会输出“及格”。如果分数是55分，不满足条件，程序就会执行else部分，输出“不及格”。这样就能简单地判断成绩了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生活中选择往往不止两个，这时候我们就需要if-else if-else语句来处理多重选择。比如判断成绩等级，我们可以设置多个条件：90分以上是A，80到89是B，70到79是C，剩下的就是D。程序会从上到下依次检查条件，一旦找到满足的条件，就执行对应的代码，然后结束整个分支判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这是一个非常实用的例子！我们根据不同的温度范围，给出不同的穿衣建议。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比如温度是28度，满足第一个条件“&gt;25度”，所以建议穿短袖。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如果温度是20度，不满足第一个条件，但满足第二个条件“&gt;=15度”，所以建议穿长袖。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如果温度是10度，前面的条件都不满足，就执行else，建议穿外套。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通过这个简单的逻辑，程序就能像我们的大脑一样，根据天气变化做出正确的判断，是不是很智能？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当我们需要根据一个变量的不同取值来执行不同代码时，if-else if-else虽然可行，但代码可能会显得冗长。这时，switch-case语句就是一个非常好的选择，它专门用于处理等值判断，代码结构更清晰。例如，根据今天是星期几来安排活动。在语法上，我们使用switch关键字，后面跟变量，然后用case列出各种可能的值。最重要的一点是，每个case代码块结束后一定要加上break语句，否则程序会“穿透”到下一个case继续执行，这通常不是我们想要的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太棒了！我们已经学会了让程序做选择。现在，我们进入第二站：强大的循环结构。循环结构可以让程序重复执行一段代码，就像我们在跑步机上跑步一样，一遍又一遍，直到达到目标。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我们学习的第一个循环语句是while循环。它的逻辑很简单：只要小括号里的条件是真的，就一直执行大括号里的代码。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比如这个例子，我们从1开始数，只要数字i小于等于10，就把它打印出来，然后让i增加1。这样程序就会自动从1数到10啦！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仔细看看这个数数游戏的执行过程。一开始i是1，满足条件，所以输出1，然后i变成2。接着检查条件，2也满足，输出2，i变成3。就这样一直重复，直到i变成11，这时候条件不满足了，循环就结束了。程序就成功地从1数到了10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for循环是while循环的升级版，它把循环需要的三个关键步骤——初始化、条件判断和更新——都集中在了一起，写起来更简洁，看起来也更清楚。我们还是用从1数到10的例子，用for循环只需要一行代码就能完成所有设置，非常方便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`for`循环非常适合用来做有规律的重复任务，比如打印图案。这个例子里，我们用了两层`for`循环（这叫做循环嵌套）。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外层循环控制行数，从1到5。内层循环控制每行打印的星号数量，第i行就打印i个星号。这样就能轻松地打印出一个漂亮的三角形啦！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基本的循环，我们还有一些高级技巧可以让循环更强大。比如循环嵌套，就是循环里面套着循环，用来处理更复杂的问题。还有break和continue两个关键字，break可以让我们提前结束循环，而continue可以让我们跳过当前这一轮，直接开始下一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九九乘法表是循环嵌套最经典的例子！外层循环i从1到9，代表乘法表的行数。内层循环j从1到i，代表每行有多少个乘法式子。这样，程序就能自动为我们生成完整的九九乘法表了，是不是非常神奇？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我们来看break的用法。假设我们在10个房间里找宝藏，宝藏在5号房间。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程序会从1号房间开始检查，当检查到5号房间时，发现了宝藏，这时候执行break语句，循环就会立刻结束，程序不会再去检查6到10号房间了。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这样可以节省时间，非常高效！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今天的课程到这里就接近尾声了。我们一起学习了神奇的分支结构，包括`if`、`if-else`和`if-else if-else`，让程序学会了做选择。我们还探索了强大的循环结构，用`while`和`for`让程序重复执行任务，并且了解了`break`和`continue`这两个实用的小技巧。大家都掌握了吗？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27.pn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28.svg"/><Relationship Id="rId9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10" Type="http://schemas.openxmlformats.org/officeDocument/2006/relationships/image" Target="../media/image36.svg"/><Relationship Id="rId4" Type="http://schemas.openxmlformats.org/officeDocument/2006/relationships/image" Target="../media/image52.svg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27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10" Type="http://schemas.openxmlformats.org/officeDocument/2006/relationships/image" Target="../media/image50.svg"/><Relationship Id="rId4" Type="http://schemas.openxmlformats.org/officeDocument/2006/relationships/image" Target="../media/image28.svg"/><Relationship Id="rId9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jpeg"/><Relationship Id="rId7" Type="http://schemas.openxmlformats.org/officeDocument/2006/relationships/image" Target="../media/image6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png"/><Relationship Id="rId5" Type="http://schemas.openxmlformats.org/officeDocument/2006/relationships/image" Target="../media/image59.svg"/><Relationship Id="rId4" Type="http://schemas.openxmlformats.org/officeDocument/2006/relationships/image" Target="../media/image58.png"/><Relationship Id="rId9" Type="http://schemas.openxmlformats.org/officeDocument/2006/relationships/image" Target="../media/image6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14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1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35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36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7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28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2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10" Type="http://schemas.openxmlformats.org/officeDocument/2006/relationships/image" Target="../media/image75.svg"/><Relationship Id="rId4" Type="http://schemas.openxmlformats.org/officeDocument/2006/relationships/image" Target="../media/image3.svg"/><Relationship Id="rId9" Type="http://schemas.openxmlformats.org/officeDocument/2006/relationships/image" Target="../media/image7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4" Type="http://schemas.openxmlformats.org/officeDocument/2006/relationships/image" Target="../media/image77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svg"/><Relationship Id="rId3" Type="http://schemas.openxmlformats.org/officeDocument/2006/relationships/image" Target="../media/image43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4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4.jpeg"/><Relationship Id="rId7" Type="http://schemas.openxmlformats.org/officeDocument/2006/relationships/image" Target="../media/image59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8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6000" y="1651000"/>
            <a:ext cx="10160000" cy="2794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38100" cap="flat" cmpd="sng">
            <a:solidFill>
              <a:srgbClr val="F5A623">
                <a:alpha val="10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4A90E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270000" y="2032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神奇的分支与循环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594">
            <a:off x="3556008" y="2914650"/>
            <a:ext cx="508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2286000" y="317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探索编程世界的逻辑奥秘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4699000"/>
            <a:ext cx="508000" cy="50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42000" y="4699000"/>
            <a:ext cx="508000" cy="50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14000" y="4699000"/>
            <a:ext cx="508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26780A-6CFC-5CF2-7EDF-A413C4FF6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177E794-5B04-2A18-1CE1-4AABC5638E49}"/>
              </a:ext>
            </a:extLst>
          </p:cNvPr>
          <p:cNvSpPr/>
          <p:nvPr/>
        </p:nvSpPr>
        <p:spPr>
          <a:xfrm>
            <a:off x="762000" y="508000"/>
            <a:ext cx="4470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课程回顾</a:t>
            </a:r>
            <a:endParaRPr lang="en-US" sz="110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73B6D8C-1E2F-5C6A-6F4F-A08E517FE1A9}"/>
              </a:ext>
            </a:extLst>
          </p:cNvPr>
          <p:cNvSpPr/>
          <p:nvPr/>
        </p:nvSpPr>
        <p:spPr>
          <a:xfrm>
            <a:off x="762000" y="5842000"/>
            <a:ext cx="10668000" cy="76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50000">
                <a:srgbClr val="F5A623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39795CD2-0578-9B74-CD67-822550898785}"/>
              </a:ext>
            </a:extLst>
          </p:cNvPr>
          <p:cNvSpPr/>
          <p:nvPr/>
        </p:nvSpPr>
        <p:spPr>
          <a:xfrm>
            <a:off x="762000" y="1920240"/>
            <a:ext cx="5029200" cy="2926080"/>
          </a:xfrm>
          <a:prstGeom prst="roundRect">
            <a:avLst>
              <a:gd name="adj" fmla="val 3750"/>
            </a:avLst>
          </a:prstGeom>
          <a:solidFill>
            <a:srgbClr val="2632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CD992A3F-5B79-51E2-88F3-F22BBBE4FF1D}"/>
              </a:ext>
            </a:extLst>
          </p:cNvPr>
          <p:cNvSpPr/>
          <p:nvPr/>
        </p:nvSpPr>
        <p:spPr>
          <a:xfrm>
            <a:off x="990600" y="2057400"/>
            <a:ext cx="164592" cy="164592"/>
          </a:xfrm>
          <a:prstGeom prst="ellipse">
            <a:avLst/>
          </a:prstGeom>
          <a:solidFill>
            <a:srgbClr val="FF5252"/>
          </a:solidFill>
          <a:ln/>
        </p:spPr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1CB0B585-8C43-2957-07A6-CE9F7E6866D2}"/>
              </a:ext>
            </a:extLst>
          </p:cNvPr>
          <p:cNvSpPr/>
          <p:nvPr/>
        </p:nvSpPr>
        <p:spPr>
          <a:xfrm>
            <a:off x="1219200" y="2057400"/>
            <a:ext cx="164592" cy="164592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69B4C4D0-1F59-2AF4-5931-7533F12C1E27}"/>
              </a:ext>
            </a:extLst>
          </p:cNvPr>
          <p:cNvSpPr/>
          <p:nvPr/>
        </p:nvSpPr>
        <p:spPr>
          <a:xfrm>
            <a:off x="1447800" y="205740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058427B9-25F2-196D-1A5C-E77B54BA7FE2}"/>
              </a:ext>
            </a:extLst>
          </p:cNvPr>
          <p:cNvSpPr/>
          <p:nvPr/>
        </p:nvSpPr>
        <p:spPr>
          <a:xfrm>
            <a:off x="990600" y="24231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a, b;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"请输入两个整数：";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a &gt;&gt; b;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"和=" &lt;&lt; a+b &lt;&lt; endl;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"差=" &lt;&lt; a-b &lt;&lt; endl;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"积=" &lt;&lt; a*b &lt;&lt; endl;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"商=" &lt;&lt; a/b &lt;&lt; endl;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"余数=" &lt;&lt; a%b &lt;&lt; endl;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02C151BA-3FC2-888E-4B18-680A04DCA8EB}"/>
              </a:ext>
            </a:extLst>
          </p:cNvPr>
          <p:cNvSpPr/>
          <p:nvPr/>
        </p:nvSpPr>
        <p:spPr>
          <a:xfrm>
            <a:off x="7198360" y="2159000"/>
            <a:ext cx="3017520" cy="2194560"/>
          </a:xfrm>
          <a:prstGeom prst="roundRect">
            <a:avLst>
              <a:gd name="adj" fmla="val 4167"/>
            </a:avLst>
          </a:prstGeom>
          <a:solidFill>
            <a:srgbClr val="1B5E20"/>
          </a:solidFill>
          <a:ln/>
        </p:spPr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BBDEE43D-A94F-8976-C529-91BB604A49C0}"/>
              </a:ext>
            </a:extLst>
          </p:cNvPr>
          <p:cNvSpPr/>
          <p:nvPr/>
        </p:nvSpPr>
        <p:spPr>
          <a:xfrm>
            <a:off x="7335520" y="2232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运行效果</a:t>
            </a:r>
            <a:endParaRPr lang="en-US" sz="11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8FE8370D-2DDF-4026-A629-0A6D0A1F00D1}"/>
              </a:ext>
            </a:extLst>
          </p:cNvPr>
          <p:cNvSpPr/>
          <p:nvPr/>
        </p:nvSpPr>
        <p:spPr>
          <a:xfrm>
            <a:off x="7381240" y="257048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请输入两个整数：10 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和=13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差=7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积=30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商=3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余数=1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10302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223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课程导航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524000"/>
            <a:ext cx="3556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17653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14500" y="1651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初探编程：什么是分支？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03500"/>
            <a:ext cx="3556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F5A623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6500" y="28448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14500" y="2730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玩转分支：if/else结构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683000"/>
            <a:ext cx="3556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7ED32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6500" y="39243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14500" y="3810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分支进阶：嵌套与Switch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953000" y="1524000"/>
            <a:ext cx="3556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43500" y="17653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651500" y="1651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循环的魔力：While循环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953000" y="2603500"/>
            <a:ext cx="3556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F5A623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43500" y="2844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651500" y="2730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高效循环：For循环详解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953000" y="3683000"/>
            <a:ext cx="3556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7ED32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43500" y="39243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651500" y="3810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循环技巧：嵌套与中断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4826000"/>
            <a:ext cx="7493000" cy="889000"/>
          </a:xfrm>
          <a:prstGeom prst="roundRect">
            <a:avLst>
              <a:gd name="adj" fmla="val 14285"/>
            </a:avLst>
          </a:prstGeom>
          <a:solidFill>
            <a:srgbClr val="EBF5FF">
              <a:alpha val="95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dash"/>
            <a:round/>
          </a:ln>
          <a:effectLst>
            <a:outerShdw blurRad="101600" dist="508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70000" y="50673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778000" y="49530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终极挑战：知识总结与综合实战演练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032000" y="2032000"/>
            <a:ext cx="8128000" cy="2794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3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1200" y="2286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3327400" y="2984500"/>
            <a:ext cx="553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第一部分：神奇的分支结构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84700" y="3683000"/>
            <a:ext cx="3022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让程序学会“做选择”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6000" y="2286000"/>
            <a:ext cx="304800" cy="30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01200" y="42672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508000"/>
            <a:ext cx="4470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什么是分支结构？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127000" dist="101600" dir="27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752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2860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分支结构就像我们生活中的</a:t>
            </a: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选择</a:t>
            </a: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程序会根据不同的</a:t>
            </a:r>
            <a:r>
              <a:rPr lang="en-US" sz="20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条件</a:t>
            </a: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，判断真假，从而做出不同的反应或执行不同的操作。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  <a:effectLst>
            <a:outerShdw blurRad="127000" dist="101600" dir="2700000" algn="tl" rotWithShape="0">
              <a:srgbClr val="7ED32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1778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752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生活中的例子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2860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条件：</a:t>
            </a:r>
            <a:r>
              <a:rPr lang="en-US" sz="20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今天是否下雨？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选择A：如果下雨 →</a:t>
            </a:r>
            <a:r>
              <a:rPr lang="en-US" sz="2000" b="0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带伞出门</a:t>
            </a:r>
          </a:p>
          <a:p>
            <a:pPr indent="0" algn="l">
              <a:lnSpc>
                <a:spcPct val="108333"/>
              </a:lnSpc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选择B：如果不下雨 →</a:t>
            </a:r>
            <a:r>
              <a:rPr lang="en-US" sz="2000" b="0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不用带伞</a:t>
            </a:r>
          </a:p>
        </p:txBody>
      </p:sp>
      <p:sp>
        <p:nvSpPr>
          <p:cNvPr id="13" name="AutoShape 13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最简单的选择：if语句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5875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5240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if 语句是最简单的分支结构。它的意思是：“如果满足某个条件，就执行后面的代码。”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📖 语法格式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238500"/>
            <a:ext cx="4699000" cy="952500"/>
          </a:xfrm>
          <a:prstGeom prst="roundRect">
            <a:avLst>
              <a:gd name="adj" fmla="val 6666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33020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(条件) {</a:t>
            </a:r>
            <a:endParaRPr lang="en-US" sz="1100"/>
          </a:p>
          <a:p>
            <a:pPr indent="25400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64646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条件满足时执行的代码</a:t>
            </a:r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2667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F5A623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2794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☀️ 生活例子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3302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32385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如果天气是下雨，就带伞。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7ED32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482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💻 代码示例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5270500"/>
            <a:ext cx="10160000" cy="762000"/>
          </a:xfrm>
          <a:prstGeom prst="roundRect">
            <a:avLst>
              <a:gd name="adj" fmla="val 8333"/>
            </a:avLst>
          </a:prstGeom>
          <a:solidFill>
            <a:srgbClr val="7ED32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143000" y="5334000"/>
            <a:ext cx="990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(天气 == "下雨") { 带伞(); }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趣味小例子：猜数字游戏（if）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7ED321">
              <a:alpha val="15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6383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587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我们来玩一个猜数字游戏！程序心里想一个数字，让玩家来猜。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4765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5A623">
              <a:alpha val="15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27178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2667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规则：如果玩家猜的数字大于答案，程序就提示“太大了！”。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556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4A90E2">
              <a:alpha val="1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1148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746500"/>
            <a:ext cx="889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代码逻辑：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if (玩家猜测的数字 &gt; 答案) { 输出("太大了！"); }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461000"/>
            <a:ext cx="10668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50000">
                <a:srgbClr val="7ED321">
                  <a:alpha val="100000"/>
                </a:srgbClr>
              </a:gs>
              <a:gs pos="100000">
                <a:srgbClr val="F5A623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571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简单的</a:t>
            </a: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if</a:t>
            </a:r>
            <a:r>
              <a:rPr lang="en-US" sz="2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语句，让程序拥有了“判断”的能力！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838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二选一的选择：if-else语句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587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498600"/>
            <a:ext cx="9525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2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让程序在两种情况中选择一个。即“如果满足条件，就执行A；否则，就执行B。”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2667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💻 语法格式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11500"/>
            <a:ext cx="4699000" cy="1016000"/>
          </a:xfrm>
          <a:prstGeom prst="roundRect">
            <a:avLst>
              <a:gd name="adj" fmla="val 6250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79500" y="31750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0505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(条件) { 执行代码A }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50505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 { 执行代码B }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350000" y="2540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F5A623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540500" y="2667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☀️ 生活例子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40500" y="3111500"/>
            <a:ext cx="4699000" cy="1016000"/>
          </a:xfrm>
          <a:prstGeom prst="roundRect">
            <a:avLst>
              <a:gd name="adj" fmla="val 6250"/>
            </a:avLst>
          </a:prstGeom>
          <a:solidFill>
            <a:srgbClr val="F5A62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3365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75500" y="3238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如果天气是下雨，就带伞；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否则（不下雨），就不带伞。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4572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7ED32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52500" y="4699000"/>
            <a:ext cx="1028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🚀 代码示例：模拟生活决策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52500" y="5143500"/>
            <a:ext cx="10287000" cy="762000"/>
          </a:xfrm>
          <a:prstGeom prst="roundRect">
            <a:avLst>
              <a:gd name="adj" fmla="val 8333"/>
            </a:avLst>
          </a:prstGeom>
          <a:solidFill>
            <a:srgbClr val="7ED32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79500" y="5207000"/>
            <a:ext cx="1003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0505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(天气 == "下雨") { 带伞(); } else { 不带伞(); }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508000"/>
            <a:ext cx="11734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趣味小例子：判断成绩等级（if-else）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4A90E2">
              <a:alpha val="1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6383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5875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我们来写一个程序，判断考试成绩是否及格。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4765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5A623">
              <a:alpha val="1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27813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2603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规则：</a:t>
            </a: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如果分数大于等于60，就显示“及格”；否则显示“不及格”。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683000"/>
            <a:ext cx="10668000" cy="1905000"/>
          </a:xfrm>
          <a:prstGeom prst="roundRect">
            <a:avLst>
              <a:gd name="adj" fmla="val 6666"/>
            </a:avLst>
          </a:prstGeom>
          <a:solidFill>
            <a:srgbClr val="7ED321">
              <a:alpha val="1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9243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8735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代码逻辑：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4381500"/>
            <a:ext cx="9652000" cy="1016000"/>
          </a:xfrm>
          <a:prstGeom prst="roundRect">
            <a:avLst>
              <a:gd name="adj" fmla="val 625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651000" y="4445000"/>
            <a:ext cx="939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if (分数 &gt;= 60) { 输出("及格"); } else { 输出("不及格"); }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0" y="6731000"/>
            <a:ext cx="12192000" cy="127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50000">
                <a:srgbClr val="F5A623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8940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多重选择：if-else if-else语句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587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524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968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当需要做更多选择时使用。逻辑是：满足条件A则执行A，否则检查条件B，都不满足则执行C。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238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175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语法格式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6195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if (条件A) { 执行A }</a:t>
            </a:r>
            <a:b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else if (条件B) { 执行B }</a:t>
            </a:r>
            <a:b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else { 执行C }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953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143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5080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生活例子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524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根据考试分数（90/80/70分档）来判断成绩等级（A/B/C/D）。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1397000"/>
            <a:ext cx="5207000" cy="4699000"/>
          </a:xfrm>
          <a:prstGeom prst="roundRect">
            <a:avLst>
              <a:gd name="adj" fmla="val 27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1587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1524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代码实战：成绩分级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2032000"/>
            <a:ext cx="4699000" cy="2794000"/>
          </a:xfrm>
          <a:prstGeom prst="roundRect">
            <a:avLst>
              <a:gd name="adj" fmla="val 4545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604000" y="2159000"/>
            <a:ext cx="4445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if (分数 &gt;= 90) {</a:t>
            </a:r>
            <a:endParaRPr lang="en-US" sz="1100"/>
          </a:p>
          <a:p>
            <a:pPr marL="25400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输出("A");</a:t>
            </a:r>
          </a:p>
          <a:p>
            <a:pPr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} else if (分数 &gt;= 80) {</a:t>
            </a:r>
          </a:p>
          <a:p>
            <a:pPr marL="25400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输出("B");</a:t>
            </a:r>
          </a:p>
          <a:p>
            <a:pPr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} else if (分数 &gt;= 70) {</a:t>
            </a:r>
          </a:p>
          <a:p>
            <a:pPr marL="25400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输出("C");</a:t>
            </a:r>
          </a:p>
          <a:p>
            <a:pPr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} else {</a:t>
            </a:r>
          </a:p>
          <a:p>
            <a:pPr marL="25400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输出("D");</a:t>
            </a:r>
          </a:p>
          <a:p>
            <a:pPr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477000" y="5080000"/>
            <a:ext cx="4699000" cy="762000"/>
          </a:xfrm>
          <a:prstGeom prst="roundRect">
            <a:avLst>
              <a:gd name="adj" fmla="val 16666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5270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85000" y="5207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程序会从上到下依次检查条件，一旦满足就执行对应代码并结束判断。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20320" y="96520"/>
            <a:ext cx="12171680" cy="676656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28600" y="508000"/>
            <a:ext cx="11734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趣味小例子：根据温度穿衣服（if-else if-else）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5A623">
              <a:alpha val="15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587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524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温度 &gt; 25℃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建议：穿短袖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397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7ED321">
              <a:alpha val="15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5500" y="15875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1524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15℃ ≤ 温度 ≤ 25℃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建议：穿长袖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128000" y="1397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4A90E2">
              <a:alpha val="15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18500" y="1587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90000" y="1524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温度 &lt; 15℃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建议：穿外套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3048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代码实现逻辑 (C++):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083560"/>
            <a:ext cx="10668000" cy="2313940"/>
          </a:xfrm>
          <a:prstGeom prst="roundRect">
            <a:avLst>
              <a:gd name="adj" fmla="val 6666"/>
            </a:avLst>
          </a:pr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89000" y="3619500"/>
            <a:ext cx="1041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400" b="0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if</a:t>
            </a:r>
            <a:r>
              <a:rPr lang="en-US" sz="2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(温度 &gt; 25) {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输出("穿短袖");</a:t>
            </a:r>
          </a:p>
          <a:p>
            <a:pPr indent="0" algn="l">
              <a:lnSpc>
                <a:spcPct val="108333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  <a:r>
              <a:rPr lang="en-US" sz="2400" b="0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else if</a:t>
            </a:r>
            <a:r>
              <a:rPr lang="en-US" sz="2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(温度 &gt;= 15) {</a:t>
            </a:r>
          </a:p>
          <a:p>
            <a:pPr indent="0" algn="l">
              <a:lnSpc>
                <a:spcPct val="108333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输出("穿长袖");</a:t>
            </a:r>
          </a:p>
          <a:p>
            <a:pPr indent="0" algn="l">
              <a:lnSpc>
                <a:spcPct val="108333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  <a:r>
              <a:rPr lang="en-US" sz="2400" b="0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else</a:t>
            </a:r>
            <a:r>
              <a:rPr lang="en-US" sz="2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{</a:t>
            </a:r>
          </a:p>
          <a:p>
            <a:pPr indent="0" algn="l">
              <a:lnSpc>
                <a:spcPct val="108333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输出("穿外套");</a:t>
            </a:r>
          </a:p>
          <a:p>
            <a:pPr indent="0" algn="l">
              <a:lnSpc>
                <a:spcPct val="108333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92800" y="5651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if-else if-else 多条件判断，程序能像大脑一样“思考”并给出建议！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8940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等值判断的捷径：switch-case语句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587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524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9685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当需要根据一个变量的不同取值来执行不同代码时，switch-case是比if-else if-else更简洁的选择。它专门用于处理等值判断。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365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302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语法格式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7465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switch (变量) {</a:t>
            </a:r>
            <a:endParaRPr lang="en-US" sz="1100"/>
          </a:p>
          <a:p>
            <a:pPr marL="2540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case 值1: 执行代码; break;</a:t>
            </a:r>
          </a:p>
          <a:p>
            <a:pPr marL="2540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case 值2: 执行代码; break;</a:t>
            </a:r>
          </a:p>
          <a:p>
            <a:pPr marL="2540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default: 默认执行代码;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1397000"/>
            <a:ext cx="5207000" cy="4699000"/>
          </a:xfrm>
          <a:prstGeom prst="roundRect">
            <a:avLst>
              <a:gd name="adj" fmla="val 27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1587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85000" y="1524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代码实战：根据数字判断星期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2032000"/>
            <a:ext cx="4699000" cy="2794000"/>
          </a:xfrm>
          <a:prstGeom prst="roundRect">
            <a:avLst>
              <a:gd name="adj" fmla="val 4545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604000" y="2159000"/>
            <a:ext cx="4445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int day = 3;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switch (day) {</a:t>
            </a:r>
          </a:p>
          <a:p>
            <a:pPr marL="25400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case 1: 输出("星期一"); break;</a:t>
            </a:r>
          </a:p>
          <a:p>
            <a:pPr marL="25400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case 2: 输出("星期二"); break;</a:t>
            </a:r>
          </a:p>
          <a:p>
            <a:pPr marL="25400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case 3: 输出("星期三"); break;</a:t>
            </a:r>
          </a:p>
          <a:p>
            <a:pPr marL="25400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// ... 省略周四至周六</a:t>
            </a:r>
          </a:p>
          <a:p>
            <a:pPr marL="25400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case 7: 输出("星期日"); break;</a:t>
            </a:r>
          </a:p>
          <a:p>
            <a:pPr marL="25400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default: 输出("输入错误！");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477000" y="5080000"/>
            <a:ext cx="4699000" cy="762000"/>
          </a:xfrm>
          <a:prstGeom prst="roundRect">
            <a:avLst>
              <a:gd name="adj" fmla="val 16666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5270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5207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每个case后记得加break，否则会继续执行下一个case的代码。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1200" y="762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286000" y="1524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第二部分：强大的循环结构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286000" y="2286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让程序学会“重复做”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56000" y="17780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31200" y="1778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334000" y="3048000"/>
            <a:ext cx="1524000" cy="76200"/>
          </a:xfrm>
          <a:prstGeom prst="roundRect">
            <a:avLst>
              <a:gd name="adj" fmla="val 5000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264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当条件满足时：while循环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5875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核心概念与语法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含义：当条件满足时，重复执行循环体代码。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4572000" cy="889000"/>
          </a:xfrm>
          <a:prstGeom prst="roundRect">
            <a:avLst>
              <a:gd name="adj" fmla="val 7142"/>
            </a:avLst>
          </a:prstGeom>
          <a:solidFill>
            <a:srgbClr val="F0F7FF">
              <a:alpha val="10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2857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while (条件) {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// 循环体代码 (注意避免无限循环)</a:t>
            </a: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F5A623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44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43815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生活场景类比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889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想象一个数数游戏：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“当计数器小于等于10时，一直数数。”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350000" y="1397000"/>
            <a:ext cx="5080000" cy="4445000"/>
          </a:xfrm>
          <a:prstGeom prst="roundRect">
            <a:avLst>
              <a:gd name="adj" fmla="val 2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7ED32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1651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12000" y="15875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代码实战：数数1到10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4000" y="2159000"/>
            <a:ext cx="4572000" cy="1905000"/>
          </a:xfrm>
          <a:prstGeom prst="roundRect">
            <a:avLst>
              <a:gd name="adj" fmla="val 3333"/>
            </a:avLst>
          </a:pr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731000" y="2286000"/>
            <a:ext cx="431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int i = 1;</a:t>
            </a:r>
            <a:r>
              <a:rPr lang="en-US" sz="1400" b="0" i="0" u="none" strike="noStrike">
                <a:solidFill>
                  <a:srgbClr val="95A5A6"/>
                </a:solidFill>
                <a:latin typeface="Noto Sans SC"/>
                <a:ea typeface="Noto Sans SC"/>
                <a:cs typeface="Noto Sans SC"/>
                <a:sym typeface="Noto Sans SC"/>
              </a:rPr>
              <a:t>// 初始化计数器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while</a:t>
            </a:r>
            <a:r>
              <a:rPr lang="en-US" sz="1600" b="0" i="0" u="none" strike="noStrike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(i &lt;= 10) {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498DB"/>
                </a:solidFill>
                <a:latin typeface="Noto Sans SC"/>
                <a:ea typeface="Noto Sans SC"/>
                <a:cs typeface="Noto Sans SC"/>
                <a:sym typeface="Noto Sans SC"/>
              </a:rPr>
              <a:t>输出</a:t>
            </a:r>
            <a:r>
              <a:rPr lang="en-US" sz="1600" b="0" i="0" u="none" strike="noStrike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(i);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i++;</a:t>
            </a:r>
            <a:r>
              <a:rPr lang="en-US" sz="1400" b="0" i="0" u="none" strike="noStrike">
                <a:solidFill>
                  <a:srgbClr val="95A5A6"/>
                </a:solidFill>
                <a:latin typeface="Noto Sans SC"/>
                <a:ea typeface="Noto Sans SC"/>
                <a:cs typeface="Noto Sans SC"/>
                <a:sym typeface="Noto Sans SC"/>
              </a:rPr>
              <a:t>// 改变条件，否则死循环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604000" y="4191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运行结果：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4572000"/>
            <a:ext cx="4572000" cy="762000"/>
          </a:xfrm>
          <a:prstGeom prst="roundRect">
            <a:avLst>
              <a:gd name="adj" fmla="val 8333"/>
            </a:avLst>
          </a:prstGeom>
          <a:solidFill>
            <a:srgbClr val="F0FAF0">
              <a:alpha val="100000"/>
            </a:srgbClr>
          </a:solidFill>
          <a:ln w="127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731000" y="4699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2E8B57"/>
                </a:solidFill>
                <a:latin typeface="Noto Sans SC"/>
                <a:ea typeface="Noto Sans SC"/>
                <a:cs typeface="Noto Sans SC"/>
                <a:sym typeface="Noto Sans SC"/>
              </a:rPr>
              <a:t>1 2 3 4 5 6 7 8 9 10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508000"/>
            <a:ext cx="949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趣味小例子：数数游戏（while）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4A90E2">
              <a:alpha val="1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587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549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代码逻辑 (C++)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0320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int i = 1;</a:t>
            </a:r>
            <a:r>
              <a:rPr lang="en-US" sz="1800" b="0" i="0" u="none" strike="noStrike">
                <a:solidFill>
                  <a:srgbClr val="9B9B9B"/>
                </a:solidFill>
                <a:latin typeface="Noto Sans SC"/>
                <a:ea typeface="Noto Sans SC"/>
                <a:cs typeface="Noto Sans SC"/>
                <a:sym typeface="Noto Sans SC"/>
              </a:rPr>
              <a:t>// 从1开始数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2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while (i &lt;= 10) {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2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输出(i);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2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i++;</a:t>
            </a:r>
            <a:r>
              <a:rPr lang="en-US" sz="1800" b="0" i="0" u="none" strike="noStrike">
                <a:solidFill>
                  <a:srgbClr val="9B9B9B"/>
                </a:solidFill>
                <a:latin typeface="Noto Sans SC"/>
                <a:ea typeface="Noto Sans SC"/>
                <a:cs typeface="Noto Sans SC"/>
                <a:sym typeface="Noto Sans SC"/>
              </a:rPr>
              <a:t>// 数字加1</a:t>
            </a:r>
          </a:p>
          <a:p>
            <a:pPr indent="0" algn="l">
              <a:lnSpc>
                <a:spcPct val="108333"/>
              </a:lnSpc>
            </a:pPr>
            <a:r>
              <a:rPr lang="en-US" sz="2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</p:txBody>
      </p:sp>
      <p:sp>
        <p:nvSpPr>
          <p:cNvPr id="9" name="AutoShape 9"/>
          <p:cNvSpPr/>
          <p:nvPr/>
        </p:nvSpPr>
        <p:spPr>
          <a:xfrm>
            <a:off x="6350000" y="1397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5A623">
              <a:alpha val="1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1587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048500" y="1549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执行过程解析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032000"/>
            <a:ext cx="4572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i=1，满足条件，输出1，i变2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i=2，满足条件，输出2，i变3</a:t>
            </a:r>
          </a:p>
          <a:p>
            <a:pPr indent="0" algn="l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...</a:t>
            </a: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以此类推，一直数到10</a:t>
            </a:r>
          </a:p>
          <a:p>
            <a:pPr indent="0" algn="l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4.</a:t>
            </a: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i=10，满足条件，输出10，i变11</a:t>
            </a:r>
          </a:p>
          <a:p>
            <a:pPr indent="0" algn="l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EB5757"/>
                </a:solidFill>
                <a:latin typeface="Noto Sans SC"/>
                <a:ea typeface="Noto Sans SC"/>
                <a:cs typeface="Noto Sans SC"/>
                <a:sym typeface="Noto Sans SC"/>
              </a:rPr>
              <a:t>5.</a:t>
            </a: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i=11，条件不成立，循环结束！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7ED32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2578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5207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50A02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核心知识点：while循环会先判断条件，满足才执行，直到条件不满足退出。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更高效的循环：for循环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556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587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524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968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for循环将初始化、条件判断和更新操作集中在一起，结构紧凑高效。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3556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7ED32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492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429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优势对比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873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将变量初始化、条件和自增操作写在同一行，逻辑更清晰，不易出错。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1397000"/>
            <a:ext cx="6731000" cy="1651000"/>
          </a:xfrm>
          <a:prstGeom prst="roundRect">
            <a:avLst>
              <a:gd name="adj" fmla="val 7692"/>
            </a:avLst>
          </a:pr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953000" y="1524000"/>
            <a:ext cx="622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语法格式 Syntax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953000" y="1905000"/>
            <a:ext cx="622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 (</a:t>
            </a:r>
            <a:r>
              <a:rPr lang="en-US" sz="1800" b="0" i="0" u="none" strike="noStrike">
                <a:solidFill>
                  <a:srgbClr val="7ED3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初始化表达式</a:t>
            </a:r>
            <a:r>
              <a:rPr lang="en-US" sz="18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r>
              <a:rPr lang="en-US" sz="1800" b="0" i="0" u="none" strike="noStrike">
                <a:solidFill>
                  <a:srgbClr val="4A90E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条件表达式</a:t>
            </a:r>
            <a:r>
              <a:rPr lang="en-US" sz="18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r>
              <a:rPr lang="en-US" sz="1800" b="0" i="0" u="none" strike="noStrike">
                <a:solidFill>
                  <a:srgbClr val="F5A62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更新表达式</a:t>
            </a:r>
            <a:r>
              <a:rPr lang="en-US" sz="18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 {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BDC3C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循环体：要重复执行的代码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699000" y="3302000"/>
            <a:ext cx="6731000" cy="1651000"/>
          </a:xfrm>
          <a:prstGeom prst="roundRect">
            <a:avLst>
              <a:gd name="adj" fmla="val 7692"/>
            </a:avLst>
          </a:pr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953000" y="3429000"/>
            <a:ext cx="622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代码示例 (从1数到10)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953000" y="3810000"/>
            <a:ext cx="622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 (</a:t>
            </a:r>
            <a:r>
              <a:rPr lang="en-US" sz="1800" b="0" i="0" u="none" strike="noStrike">
                <a:solidFill>
                  <a:srgbClr val="7ED3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 i = 1</a:t>
            </a:r>
            <a:r>
              <a:rPr lang="en-US" sz="18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r>
              <a:rPr lang="en-US" sz="1800" b="0" i="0" u="none" strike="noStrike">
                <a:solidFill>
                  <a:srgbClr val="4A90E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 &lt;= 10</a:t>
            </a:r>
            <a:r>
              <a:rPr lang="en-US" sz="18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r>
              <a:rPr lang="en-US" sz="1800" b="0" i="0" u="none" strike="noStrike">
                <a:solidFill>
                  <a:srgbClr val="F5A62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i++</a:t>
            </a:r>
            <a:r>
              <a:rPr lang="en-US" sz="18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 {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BDC3C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输出(i); // 重复执行的动作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5334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524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54610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Tips:</a:t>
            </a:r>
            <a:r>
              <a:rPr lang="en-US" sz="18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相比于 while 循环，for 循环将控制循环的三个要素（初始、条件、更新）集中管理，非常适合已知循环次数的场景。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508000"/>
            <a:ext cx="10058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趣味小例子：打印</a:t>
            </a:r>
            <a:r>
              <a:rPr lang="zh-CN" altLang="en-US" sz="4000" b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金字塔</a:t>
            </a: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（for）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6999"/>
            <a:ext cx="5080000" cy="3133165"/>
          </a:xfrm>
          <a:prstGeom prst="roundRect">
            <a:avLst>
              <a:gd name="adj" fmla="val 4545"/>
            </a:avLst>
          </a:prstGeom>
          <a:solidFill>
            <a:srgbClr val="EBF8FF">
              <a:alpha val="100000"/>
            </a:srgbClr>
          </a:solidFill>
          <a:ln w="381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587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1549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C++ 代码逻辑 (循环嵌套)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499" y="2031999"/>
            <a:ext cx="4802841" cy="23547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800" b="0">
                <a:solidFill>
                  <a:srgbClr val="000000"/>
                </a:solidFill>
                <a:effectLst/>
                <a:latin typeface="ui-sans-serif"/>
              </a:rPr>
              <a:t> for (int i = 1; i &lt;= 3; i++) {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800" b="0">
                <a:solidFill>
                  <a:srgbClr val="000000"/>
                </a:solidFill>
                <a:effectLst/>
                <a:latin typeface="ui-sans-serif"/>
              </a:rPr>
              <a:t>        for (int j = 1; j &lt;= 6 - i; j++) {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800" b="0">
                <a:solidFill>
                  <a:srgbClr val="000000"/>
                </a:solidFill>
                <a:effectLst/>
                <a:latin typeface="ui-sans-serif"/>
              </a:rPr>
              <a:t>            cout &lt;&lt; " ";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800" b="0">
                <a:solidFill>
                  <a:srgbClr val="000000"/>
                </a:solidFill>
                <a:effectLst/>
                <a:latin typeface="ui-sans-serif"/>
              </a:rPr>
              <a:t>        }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800" b="0">
                <a:solidFill>
                  <a:srgbClr val="000000"/>
                </a:solidFill>
                <a:effectLst/>
                <a:latin typeface="ui-sans-serif"/>
              </a:rPr>
              <a:t>        for (int k = 1; k &lt;= 2 * i - 1; k++){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800" b="0">
                <a:solidFill>
                  <a:srgbClr val="000000"/>
                </a:solidFill>
                <a:effectLst/>
                <a:latin typeface="ui-sans-serif"/>
              </a:rPr>
              <a:t>            cout &lt;&lt; "*"; 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800" b="0">
                <a:solidFill>
                  <a:srgbClr val="000000"/>
                </a:solidFill>
                <a:effectLst/>
                <a:latin typeface="ui-sans-serif"/>
              </a:rPr>
              <a:t>        }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800" b="0">
                <a:solidFill>
                  <a:srgbClr val="000000"/>
                </a:solidFill>
                <a:effectLst/>
                <a:latin typeface="ui-sans-serif"/>
              </a:rPr>
              <a:t>        cout &lt;&lt; endl;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800" b="0">
                <a:solidFill>
                  <a:srgbClr val="000000"/>
                </a:solidFill>
                <a:effectLst/>
                <a:latin typeface="ui-sans-serif"/>
              </a:rPr>
              <a:t>    }</a:t>
            </a:r>
            <a:endParaRPr lang="en-US" sz="18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397000"/>
            <a:ext cx="5080000" cy="3133164"/>
          </a:xfrm>
          <a:prstGeom prst="roundRect">
            <a:avLst>
              <a:gd name="adj" fmla="val 4545"/>
            </a:avLst>
          </a:prstGeom>
          <a:solidFill>
            <a:srgbClr val="FFFCEB">
              <a:alpha val="100000"/>
            </a:srgbClr>
          </a:solidFill>
          <a:ln w="38100" cap="flat" cmpd="sng">
            <a:solidFill>
              <a:srgbClr val="F5A62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1587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21500" y="1549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控制台输出效果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40500" y="20320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endParaRPr lang="en-US" sz="1100"/>
          </a:p>
          <a:p>
            <a:pPr indent="0" algn="ctr">
              <a:lnSpc>
                <a:spcPct val="108333"/>
              </a:lnSpc>
            </a:pPr>
            <a:endParaRPr lang="en-US" sz="1100"/>
          </a:p>
          <a:p>
            <a:pPr indent="0" algn="ctr">
              <a:lnSpc>
                <a:spcPct val="108333"/>
              </a:lnSpc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*</a:t>
            </a:r>
          </a:p>
          <a:p>
            <a:pPr indent="0" algn="ctr">
              <a:lnSpc>
                <a:spcPct val="108333"/>
              </a:lnSpc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***</a:t>
            </a:r>
          </a:p>
          <a:p>
            <a:pPr indent="0" algn="ctr">
              <a:lnSpc>
                <a:spcPct val="108333"/>
              </a:lnSpc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*****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4953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0FAF0">
              <a:alpha val="10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2578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5080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核心思路：</a:t>
            </a:r>
            <a:r>
              <a:rPr lang="en-US" sz="2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外层循环决定“行数”，内层循环决定每行打印的“星号个数”。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76000" y="508000"/>
            <a:ext cx="508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4470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循环的进阶技巧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556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968500" y="1905000"/>
            <a:ext cx="889000" cy="8890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59000" y="2095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循环嵌套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429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2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一个循环里面还有另一个循环，就像我们打印星星图案那样。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3556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F5A623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651500" y="1905000"/>
            <a:ext cx="889000" cy="889000"/>
          </a:xfrm>
          <a:prstGeom prst="ellipse">
            <a:avLst/>
          </a:prstGeom>
          <a:solidFill>
            <a:srgbClr val="F5A62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2000" y="2095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572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break 跳出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429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2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用来立即跳出当前的循环，不再执行后面的循环体。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3556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7ED32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334500" y="1905000"/>
            <a:ext cx="889000" cy="889000"/>
          </a:xfrm>
          <a:prstGeom prst="ellipse">
            <a:avLst/>
          </a:prstGeom>
          <a:solidFill>
            <a:srgbClr val="7ED32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0" y="20955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255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continue 跳过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3429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2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用来跳过本次循环的剩余部分，直接进入下一次循环的条件判断。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842000"/>
            <a:ext cx="10668000" cy="76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50000">
                <a:srgbClr val="F5A623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趣味小例子：九九乘法表（循环嵌套）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0F8FF">
              <a:alpha val="100000"/>
            </a:srgbClr>
          </a:solidFill>
          <a:ln w="381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127000" dist="1016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41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803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核心代码逻辑 (C++风格)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28600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for (int i = 1; i &lt;= 9; i++) {</a:t>
            </a:r>
            <a:r>
              <a:rPr lang="en-US" sz="1800" b="0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// 控制行数</a:t>
            </a:r>
            <a:endParaRPr lang="en-US" sz="1100"/>
          </a:p>
          <a:p>
            <a:pPr marL="254000" indent="0" algn="l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for (int j = 1; j &lt;= i; j++) {</a:t>
            </a:r>
            <a:r>
              <a:rPr lang="en-US" sz="1800" b="0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// 控制列数</a:t>
            </a:r>
          </a:p>
          <a:p>
            <a:pPr marL="508000" indent="0" algn="l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输出(j, "x", i, "=", i*j, " ");</a:t>
            </a:r>
          </a:p>
          <a:p>
            <a:pPr marL="254000" indent="0" algn="l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  <a:p>
            <a:pPr indent="0" algn="l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输出换行();</a:t>
            </a:r>
          </a:p>
          <a:p>
            <a:pPr indent="0" algn="l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</p:txBody>
      </p:sp>
      <p:sp>
        <p:nvSpPr>
          <p:cNvPr id="9" name="AutoShape 9"/>
          <p:cNvSpPr/>
          <p:nvPr/>
        </p:nvSpPr>
        <p:spPr>
          <a:xfrm>
            <a:off x="6350000" y="1651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CEB">
              <a:alpha val="100000"/>
            </a:srgbClr>
          </a:solidFill>
          <a:ln w="38100" cap="flat" cmpd="sng">
            <a:solidFill>
              <a:srgbClr val="F5A623">
                <a:alpha val="100000"/>
              </a:srgbClr>
            </a:solidFill>
            <a:prstDash val="solid"/>
            <a:round/>
          </a:ln>
          <a:effectLst>
            <a:outerShdw blurRad="127000" dist="101600" dir="5400000" algn="tl" rotWithShape="0">
              <a:srgbClr val="F5A623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1841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048500" y="1803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逻辑拆解小课堂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40500" y="228600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79400" indent="-279400" algn="l">
              <a:lnSpc>
                <a:spcPct val="108333"/>
              </a:lnSpc>
              <a:buClr>
                <a:srgbClr val="333333"/>
              </a:buClr>
              <a:buChar char="•"/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外层循环 (i)：</a:t>
            </a:r>
            <a:r>
              <a:rPr lang="en-US" sz="2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从 1 到 9，决定了乘法表的“行数”。</a:t>
            </a:r>
            <a:endParaRPr lang="en-US" sz="1100"/>
          </a:p>
          <a:p>
            <a:pPr marL="279400" indent="-279400" algn="l">
              <a:lnSpc>
                <a:spcPct val="108333"/>
              </a:lnSpc>
              <a:buClr>
                <a:srgbClr val="333333"/>
              </a:buClr>
              <a:buChar char="•"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内层循环 (j)：</a:t>
            </a:r>
            <a:r>
              <a:rPr lang="en-US" sz="2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从 1 到 i，决定了每行有几个“乘法式子”。</a:t>
            </a:r>
          </a:p>
          <a:p>
            <a:pPr marL="279400" indent="-279400" algn="l">
              <a:lnSpc>
                <a:spcPct val="108333"/>
              </a:lnSpc>
              <a:buClr>
                <a:srgbClr val="333333"/>
              </a:buClr>
              <a:buChar char="•"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核心魔法：</a:t>
            </a:r>
            <a:r>
              <a:rPr lang="en-US" sz="2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j &lt;= i 的限制，完美实现左对齐的三角形格式！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10668000" cy="762000"/>
          </a:xfrm>
          <a:prstGeom prst="roundRect">
            <a:avLst>
              <a:gd name="adj" fmla="val 33333"/>
            </a:avLst>
          </a:prstGeom>
          <a:solidFill>
            <a:srgbClr val="7ED32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2578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5207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 小贴士：只要掌握了这种“嵌套”思维，你也能让计算机帮你做更多重复计算哦！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46200" y="635000"/>
            <a:ext cx="949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趣味小例子：寻找宝藏（break）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1778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在一排房间里寻找宝藏，一旦找到就停止寻找。这就是</a:t>
            </a:r>
            <a:r>
              <a:rPr lang="en-US" sz="2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break</a:t>
            </a: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的作用！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651000"/>
            <a:ext cx="5080000" cy="2667000"/>
          </a:xfrm>
          <a:prstGeom prst="roundRect">
            <a:avLst>
              <a:gd name="adj" fmla="val 4761"/>
            </a:avLst>
          </a:prstGeom>
          <a:solidFill>
            <a:srgbClr val="F0F8FF">
              <a:alpha val="95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77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代码逻辑演示：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159000"/>
            <a:ext cx="482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for (int 房间号 = 1; 房间号 &lt;= 10; 房间号++) {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if (房间号 == 5) {</a:t>
            </a:r>
            <a:r>
              <a:rPr lang="en-US" sz="1600" b="0" i="0" u="none" strike="noStrike">
                <a:solidFill>
                  <a:srgbClr val="7ED321"/>
                </a:solidFill>
                <a:latin typeface="Consolas"/>
                <a:ea typeface="Consolas"/>
                <a:cs typeface="Consolas"/>
                <a:sym typeface="Consolas"/>
              </a:rPr>
              <a:t>// 假设宝藏在5号房间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输出("找到宝藏啦！在", 房间号, "号房间！");</a:t>
            </a:r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break;</a:t>
            </a:r>
            <a:r>
              <a:rPr lang="en-US" sz="1600" b="0" i="0" u="none" strike="noStrike">
                <a:solidFill>
                  <a:srgbClr val="7ED321"/>
                </a:solidFill>
                <a:latin typeface="Consolas"/>
                <a:ea typeface="Consolas"/>
                <a:cs typeface="Consolas"/>
                <a:sym typeface="Consolas"/>
              </a:rPr>
              <a:t>// 找到宝藏，跳出循环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输出("检查", 房间号, "号房间，没有宝藏。");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826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5080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49530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效果：程序会从1号检查到5号，发现宝藏后执行</a:t>
            </a:r>
            <a:r>
              <a:rPr lang="en-US" sz="22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break</a:t>
            </a:r>
            <a:r>
              <a:rPr lang="en-US" sz="2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，立即结束循环，不再检查6-10号房间！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223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课程总结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3302000"/>
          </a:xfrm>
          <a:prstGeom prst="roundRect">
            <a:avLst>
              <a:gd name="adj" fmla="val 5769"/>
            </a:avLst>
          </a:prstGeom>
          <a:solidFill>
            <a:srgbClr val="FFFFFF">
              <a:alpha val="100000"/>
            </a:srgbClr>
          </a:solidFill>
          <a:ln w="381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127000" dist="1016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034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分支结构：做选择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3495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54000" indent="-254000" algn="l">
              <a:lnSpc>
                <a:spcPct val="108333"/>
              </a:lnSpc>
              <a:buClr>
                <a:srgbClr val="333333"/>
              </a:buClr>
              <a:buChar char="•"/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if：</a:t>
            </a:r>
            <a:r>
              <a:rPr lang="en-US" sz="20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单一条件选择</a:t>
            </a:r>
            <a:endParaRPr lang="en-US" sz="1100"/>
          </a:p>
          <a:p>
            <a:pPr marL="254000" indent="-254000" algn="l">
              <a:lnSpc>
                <a:spcPct val="108333"/>
              </a:lnSpc>
              <a:buClr>
                <a:srgbClr val="333333"/>
              </a:buClr>
              <a:buChar char="•"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if-else：</a:t>
            </a:r>
            <a:r>
              <a:rPr lang="en-US" sz="20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二选一的双向选择</a:t>
            </a:r>
          </a:p>
          <a:p>
            <a:pPr marL="254000" indent="-254000" algn="l">
              <a:lnSpc>
                <a:spcPct val="108333"/>
              </a:lnSpc>
              <a:buClr>
                <a:srgbClr val="333333"/>
              </a:buClr>
              <a:buChar char="•"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if-else if-else：</a:t>
            </a:r>
            <a:r>
              <a:rPr lang="en-US" sz="20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多重条件判断</a:t>
            </a:r>
          </a:p>
          <a:p>
            <a:pPr marL="254000" indent="-254000" algn="l">
              <a:lnSpc>
                <a:spcPct val="108333"/>
              </a:lnSpc>
              <a:buClr>
                <a:srgbClr val="333333"/>
              </a:buClr>
              <a:buChar char="•"/>
            </a:pPr>
            <a:r>
              <a:rPr lang="en-US" altLang="zh-CN" sz="2000" b="1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switch-case</a:t>
            </a:r>
            <a:r>
              <a:rPr lang="zh-CN" altLang="en-US" sz="2000" b="1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：</a:t>
            </a:r>
            <a:r>
              <a:rPr lang="zh-CN" altLang="en-US" sz="2000">
                <a:solidFill>
                  <a:srgbClr val="555555"/>
                </a:solidFill>
                <a:latin typeface="Noto Sans SC"/>
                <a:ea typeface="Noto Sans SC"/>
                <a:sym typeface="Noto Sans SC"/>
              </a:rPr>
              <a:t>等值判断</a:t>
            </a:r>
            <a:endParaRPr lang="en-US" sz="2000">
              <a:solidFill>
                <a:srgbClr val="555555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651000"/>
            <a:ext cx="5080000" cy="3302000"/>
          </a:xfrm>
          <a:prstGeom prst="roundRect">
            <a:avLst>
              <a:gd name="adj" fmla="val 5769"/>
            </a:avLst>
          </a:prstGeom>
          <a:solidFill>
            <a:srgbClr val="FFFFFF">
              <a:alpha val="100000"/>
            </a:srgbClr>
          </a:solidFill>
          <a:ln w="38100" cap="flat" cmpd="sng">
            <a:solidFill>
              <a:srgbClr val="7ED321">
                <a:alpha val="100000"/>
              </a:srgbClr>
            </a:solidFill>
            <a:prstDash val="solid"/>
            <a:round/>
          </a:ln>
          <a:effectLst>
            <a:outerShdw blurRad="127000" dist="101600" dir="5400000" algn="tl" rotWithShape="0">
              <a:srgbClr val="7ED32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1841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8034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循环结构：重复做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3495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54000" indent="-254000" algn="l">
              <a:lnSpc>
                <a:spcPct val="108333"/>
              </a:lnSpc>
              <a:buClr>
                <a:srgbClr val="333333"/>
              </a:buClr>
              <a:buChar char="•"/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while：</a:t>
            </a:r>
            <a:r>
              <a:rPr lang="en-US" sz="20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先判断条件，满足再执行</a:t>
            </a:r>
            <a:endParaRPr lang="en-US" sz="1100"/>
          </a:p>
          <a:p>
            <a:pPr marL="254000" indent="-254000" algn="l">
              <a:lnSpc>
                <a:spcPct val="108333"/>
              </a:lnSpc>
              <a:buClr>
                <a:srgbClr val="333333"/>
              </a:buClr>
              <a:buChar char="•"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for：</a:t>
            </a:r>
            <a:r>
              <a:rPr lang="en-US" sz="20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高效计数循环，集中管理</a:t>
            </a:r>
          </a:p>
          <a:p>
            <a:pPr marL="254000" indent="-254000" algn="l">
              <a:lnSpc>
                <a:spcPct val="108333"/>
              </a:lnSpc>
              <a:buClr>
                <a:srgbClr val="333333"/>
              </a:buClr>
              <a:buChar char="•"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break/continue：</a:t>
            </a:r>
            <a:r>
              <a:rPr lang="en-US" sz="20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跳出循环或跳过本次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50000"/>
            </a:avLst>
          </a:prstGeom>
          <a:solidFill>
            <a:srgbClr val="F5A623">
              <a:alpha val="1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5372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54864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掌握逻辑控制，让程序像大脑一样聪明地思考与行动！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2022</Words>
  <Application>Microsoft Office PowerPoint</Application>
  <PresentationFormat>宽屏</PresentationFormat>
  <Paragraphs>307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Noto Sans SC</vt:lpstr>
      <vt:lpstr>ui-sans-serif</vt:lpstr>
      <vt:lpstr>Arial</vt:lpstr>
      <vt:lpstr>Consolas</vt:lpstr>
      <vt:lpstr>Source Code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H. Schwarz</cp:lastModifiedBy>
  <cp:revision>2</cp:revision>
  <dcterms:modified xsi:type="dcterms:W3CDTF">2026-03-23T07:04:21Z</dcterms:modified>
</cp:coreProperties>
</file>