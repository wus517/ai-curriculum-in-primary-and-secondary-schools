
<file path=[Content_Types].xml><?xml version="1.0" encoding="utf-8"?>
<Types xmlns="http://schemas.openxmlformats.org/package/2006/content-types">
  <Default Extension="gif" ContentType="image/gi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50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6B6D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EC4899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731520"/>
            <a:ext cx="1645920" cy="1645920"/>
          </a:xfrm>
          <a:prstGeom prst="ellipse">
            <a:avLst/>
          </a:prstGeom>
          <a:solidFill>
            <a:srgbClr val="FBBF2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118872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编程课 · 算法篇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kern="0" spc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排序算法入门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让一堆数字乖乖排好队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402336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402336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4023360"/>
            <a:ext cx="169164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什么是排序？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把一堆数字按照大小顺序重新排列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366010"/>
            <a:ext cx="320040" cy="7429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2826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99032" y="2811780"/>
            <a:ext cx="320040" cy="2971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399032" y="25740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92224" y="1920240"/>
            <a:ext cx="320040" cy="1188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/>
          <p:nvPr/>
        </p:nvSpPr>
        <p:spPr>
          <a:xfrm>
            <a:off x="1792224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85416" y="2960370"/>
            <a:ext cx="320040" cy="14859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1"/>
          <p:cNvSpPr/>
          <p:nvPr/>
        </p:nvSpPr>
        <p:spPr>
          <a:xfrm>
            <a:off x="2185416" y="272262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78608" y="2514600"/>
            <a:ext cx="320040" cy="5943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2578608" y="2276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71800" y="2068830"/>
            <a:ext cx="320040" cy="104013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183108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64992" y="2663190"/>
            <a:ext cx="320040" cy="44577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242544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2377440"/>
            <a:ext cx="640080" cy="548640"/>
          </a:xfrm>
          <a:prstGeom prst="rtTriangl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0" y="2960370"/>
            <a:ext cx="320040" cy="14859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272262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79592" y="2811780"/>
            <a:ext cx="320040" cy="2971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879592" y="25740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2784" y="2663190"/>
            <a:ext cx="320040" cy="44577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272784" y="242544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65976" y="2514600"/>
            <a:ext cx="32004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665976" y="2276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59168" y="2366010"/>
            <a:ext cx="320040" cy="7429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059168" y="212826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52360" y="2068830"/>
            <a:ext cx="320040" cy="104013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183108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845552" y="1920240"/>
            <a:ext cx="32004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845552" y="16824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374904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生活中的排序：</a:t>
            </a: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按身高排队、按分数排名、按字母查字典、游戏排位赛……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2336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为什么学排序？</a:t>
            </a: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它是最基础的算法，学会了它，你就迈进了"算法思维"的大门！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今天的四位主角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四种不同的排序方法，各有各的"性格"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527048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27048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泡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05740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5740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两两比较，大的往后挪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像气泡慢慢冒到水面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3752" y="1527048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527048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每次挑出最小的放前面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像考试挑第一名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06324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3264408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264408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20574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5740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像抓扑克牌一张张插进去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4233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像整理手上的扑克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63240"/>
            <a:ext cx="3794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73752" y="3264408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873752" y="3264408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61264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2648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标准库排序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一行代码搞定，超快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4233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C++ 自带的排序神器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 · 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相邻两个数比较，大的往后换 — 大数像气泡一样浮到末尾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01168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未排序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正在比较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18872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已排好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核心规则：</a:t>
            </a: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每一轮从头走到尾，相邻两个比较，如果前面比后面大就交换。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9926EBAC-E65F-BFE8-365C-B7AC157C0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42" y="2026191"/>
            <a:ext cx="6601361" cy="31173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 · 跟着走一遍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以数组 [4, 2, 1, 3] 为例，看清每一次比较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201168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未排序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14300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正在比较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14300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14300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097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已排好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69164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轮 · 第 1 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" y="2286000"/>
            <a:ext cx="1828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2103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2478024"/>
            <a:ext cx="182880" cy="192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295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88136" y="257403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136" y="23911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07592" y="2382012"/>
            <a:ext cx="182880" cy="2880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1307592" y="21991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17904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39112" y="2478024"/>
            <a:ext cx="182880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6" name="Text 24"/>
          <p:cNvSpPr/>
          <p:nvPr/>
        </p:nvSpPr>
        <p:spPr>
          <a:xfrm>
            <a:off x="2039112" y="2295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58568" y="2286000"/>
            <a:ext cx="182880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2258568" y="2103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78024" y="257403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2478024" y="23911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97480" y="2382012"/>
            <a:ext cx="182880" cy="2880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21991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2651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&gt; 2，交换 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0" y="169164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轮 · 第 2 次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29584" y="2478024"/>
            <a:ext cx="182880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3529584" y="2295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49040" y="2286000"/>
            <a:ext cx="1828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2103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68496" y="2574036"/>
            <a:ext cx="182880" cy="960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3968496" y="23911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87952" y="2382012"/>
            <a:ext cx="182880" cy="2880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4" name="Text 42"/>
          <p:cNvSpPr/>
          <p:nvPr/>
        </p:nvSpPr>
        <p:spPr>
          <a:xfrm>
            <a:off x="4187952" y="21991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98264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19472" y="2478024"/>
            <a:ext cx="182880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7" name="Text 45"/>
          <p:cNvSpPr/>
          <p:nvPr/>
        </p:nvSpPr>
        <p:spPr>
          <a:xfrm>
            <a:off x="4919472" y="2295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38928" y="257403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9" name="Text 47"/>
          <p:cNvSpPr/>
          <p:nvPr/>
        </p:nvSpPr>
        <p:spPr>
          <a:xfrm>
            <a:off x="5138928" y="23911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58384" y="2286000"/>
            <a:ext cx="182880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1" name="Text 49"/>
          <p:cNvSpPr/>
          <p:nvPr/>
        </p:nvSpPr>
        <p:spPr>
          <a:xfrm>
            <a:off x="5358384" y="2103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77840" y="2382012"/>
            <a:ext cx="182880" cy="2880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3" name="Text 51"/>
          <p:cNvSpPr/>
          <p:nvPr/>
        </p:nvSpPr>
        <p:spPr>
          <a:xfrm>
            <a:off x="5577840" y="21991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83280" y="2651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&gt; 1，交换 ✔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220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63640" y="169164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</p:sp>
      <p:sp>
        <p:nvSpPr>
          <p:cNvPr id="57" name="Text 55"/>
          <p:cNvSpPr/>
          <p:nvPr/>
        </p:nvSpPr>
        <p:spPr>
          <a:xfrm>
            <a:off x="626364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轮 · 第 3 次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9944" y="2478024"/>
            <a:ext cx="182880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9" name="Text 57"/>
          <p:cNvSpPr/>
          <p:nvPr/>
        </p:nvSpPr>
        <p:spPr>
          <a:xfrm>
            <a:off x="6409944" y="2295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629400" y="257403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1" name="Text 59"/>
          <p:cNvSpPr/>
          <p:nvPr/>
        </p:nvSpPr>
        <p:spPr>
          <a:xfrm>
            <a:off x="6629400" y="23911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48856" y="2286000"/>
            <a:ext cx="1828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6848856" y="2103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68312" y="2382012"/>
            <a:ext cx="182880" cy="2880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7068312" y="21991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78624" y="2286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799832" y="2478024"/>
            <a:ext cx="182880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8" name="Text 66"/>
          <p:cNvSpPr/>
          <p:nvPr/>
        </p:nvSpPr>
        <p:spPr>
          <a:xfrm>
            <a:off x="7799832" y="229514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19288" y="257403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0" name="Text 68"/>
          <p:cNvSpPr/>
          <p:nvPr/>
        </p:nvSpPr>
        <p:spPr>
          <a:xfrm>
            <a:off x="8019288" y="23911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238744" y="2382012"/>
            <a:ext cx="182880" cy="2880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2" name="Text 70"/>
          <p:cNvSpPr/>
          <p:nvPr/>
        </p:nvSpPr>
        <p:spPr>
          <a:xfrm>
            <a:off x="8238744" y="21991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458200" y="2286000"/>
            <a:ext cx="1828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4" name="Text 72"/>
          <p:cNvSpPr/>
          <p:nvPr/>
        </p:nvSpPr>
        <p:spPr>
          <a:xfrm>
            <a:off x="8458200" y="210312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63640" y="2651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&gt; 3，交换（4 冒到终点！）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11480" y="31546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2920" y="324612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78" name="Text 76"/>
          <p:cNvSpPr/>
          <p:nvPr/>
        </p:nvSpPr>
        <p:spPr>
          <a:xfrm>
            <a:off x="50292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轮 · 第 1 次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49224" y="4032504"/>
            <a:ext cx="182880" cy="192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649224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68680" y="4128516"/>
            <a:ext cx="182880" cy="960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2" name="Text 80"/>
          <p:cNvSpPr/>
          <p:nvPr/>
        </p:nvSpPr>
        <p:spPr>
          <a:xfrm>
            <a:off x="868680" y="39456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088136" y="3936492"/>
            <a:ext cx="182880" cy="2880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4" name="Text 82"/>
          <p:cNvSpPr/>
          <p:nvPr/>
        </p:nvSpPr>
        <p:spPr>
          <a:xfrm>
            <a:off x="1088136" y="37536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307592" y="3840480"/>
            <a:ext cx="1828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6" name="Text 84"/>
          <p:cNvSpPr/>
          <p:nvPr/>
        </p:nvSpPr>
        <p:spPr>
          <a:xfrm>
            <a:off x="1307592" y="36576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517904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2039112" y="412851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9" name="Text 87"/>
          <p:cNvSpPr/>
          <p:nvPr/>
        </p:nvSpPr>
        <p:spPr>
          <a:xfrm>
            <a:off x="2039112" y="39456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258568" y="4032504"/>
            <a:ext cx="182880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1" name="Text 89"/>
          <p:cNvSpPr/>
          <p:nvPr/>
        </p:nvSpPr>
        <p:spPr>
          <a:xfrm>
            <a:off x="2258568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478024" y="3936492"/>
            <a:ext cx="182880" cy="2880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3" name="Text 91"/>
          <p:cNvSpPr/>
          <p:nvPr/>
        </p:nvSpPr>
        <p:spPr>
          <a:xfrm>
            <a:off x="2478024" y="37536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697480" y="3840480"/>
            <a:ext cx="1828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5" name="Text 93"/>
          <p:cNvSpPr/>
          <p:nvPr/>
        </p:nvSpPr>
        <p:spPr>
          <a:xfrm>
            <a:off x="2697480" y="36576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502920" y="42062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&gt; 1，交换 ✔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291840" y="31546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83280" y="324612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/>
        </p:spPr>
      </p:sp>
      <p:sp>
        <p:nvSpPr>
          <p:cNvPr id="99" name="Text 97"/>
          <p:cNvSpPr/>
          <p:nvPr/>
        </p:nvSpPr>
        <p:spPr>
          <a:xfrm>
            <a:off x="338328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轮 · 第 2 次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529584" y="412851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1" name="Text 99"/>
          <p:cNvSpPr/>
          <p:nvPr/>
        </p:nvSpPr>
        <p:spPr>
          <a:xfrm>
            <a:off x="3529584" y="39456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749040" y="4032504"/>
            <a:ext cx="182880" cy="192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3" name="Text 101"/>
          <p:cNvSpPr/>
          <p:nvPr/>
        </p:nvSpPr>
        <p:spPr>
          <a:xfrm>
            <a:off x="3749040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3968496" y="3936492"/>
            <a:ext cx="182880" cy="2880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5" name="Text 103"/>
          <p:cNvSpPr/>
          <p:nvPr/>
        </p:nvSpPr>
        <p:spPr>
          <a:xfrm>
            <a:off x="3968496" y="37536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187952" y="3840480"/>
            <a:ext cx="1828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7" name="Text 105"/>
          <p:cNvSpPr/>
          <p:nvPr/>
        </p:nvSpPr>
        <p:spPr>
          <a:xfrm>
            <a:off x="4187952" y="36576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4398264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4919472" y="4128516"/>
            <a:ext cx="182880" cy="960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0" name="Text 108"/>
          <p:cNvSpPr/>
          <p:nvPr/>
        </p:nvSpPr>
        <p:spPr>
          <a:xfrm>
            <a:off x="4919472" y="39456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38928" y="4032504"/>
            <a:ext cx="182880" cy="19202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2" name="Text 110"/>
          <p:cNvSpPr/>
          <p:nvPr/>
        </p:nvSpPr>
        <p:spPr>
          <a:xfrm>
            <a:off x="5138928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5358384" y="3936492"/>
            <a:ext cx="182880" cy="2880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4" name="Text 112"/>
          <p:cNvSpPr/>
          <p:nvPr/>
        </p:nvSpPr>
        <p:spPr>
          <a:xfrm>
            <a:off x="5358384" y="37536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5577840" y="3840480"/>
            <a:ext cx="1828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6" name="Text 114"/>
          <p:cNvSpPr/>
          <p:nvPr/>
        </p:nvSpPr>
        <p:spPr>
          <a:xfrm>
            <a:off x="5577840" y="36576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3383280" y="42062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&lt; 3，不换（3 归位）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6172200" y="31546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63640" y="324612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20" name="Text 118"/>
          <p:cNvSpPr/>
          <p:nvPr/>
        </p:nvSpPr>
        <p:spPr>
          <a:xfrm>
            <a:off x="62636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轮 · 第 1 次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6409944" y="4128516"/>
            <a:ext cx="182880" cy="960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2" name="Text 120"/>
          <p:cNvSpPr/>
          <p:nvPr/>
        </p:nvSpPr>
        <p:spPr>
          <a:xfrm>
            <a:off x="6409944" y="39456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629400" y="4032504"/>
            <a:ext cx="182880" cy="1920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4" name="Text 122"/>
          <p:cNvSpPr/>
          <p:nvPr/>
        </p:nvSpPr>
        <p:spPr>
          <a:xfrm>
            <a:off x="6629400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848856" y="3936492"/>
            <a:ext cx="182880" cy="2880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6" name="Text 124"/>
          <p:cNvSpPr/>
          <p:nvPr/>
        </p:nvSpPr>
        <p:spPr>
          <a:xfrm>
            <a:off x="6848856" y="37536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068312" y="3840480"/>
            <a:ext cx="1828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8" name="Text 126"/>
          <p:cNvSpPr/>
          <p:nvPr/>
        </p:nvSpPr>
        <p:spPr>
          <a:xfrm>
            <a:off x="7068312" y="36576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7278624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0" name="Shape 128"/>
          <p:cNvSpPr/>
          <p:nvPr/>
        </p:nvSpPr>
        <p:spPr>
          <a:xfrm>
            <a:off x="7799832" y="4128516"/>
            <a:ext cx="182880" cy="960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1" name="Text 129"/>
          <p:cNvSpPr/>
          <p:nvPr/>
        </p:nvSpPr>
        <p:spPr>
          <a:xfrm>
            <a:off x="7799832" y="394563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8019288" y="4032504"/>
            <a:ext cx="182880" cy="1920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3" name="Text 131"/>
          <p:cNvSpPr/>
          <p:nvPr/>
        </p:nvSpPr>
        <p:spPr>
          <a:xfrm>
            <a:off x="8019288" y="38496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8238744" y="3936492"/>
            <a:ext cx="182880" cy="2880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5" name="Text 133"/>
          <p:cNvSpPr/>
          <p:nvPr/>
        </p:nvSpPr>
        <p:spPr>
          <a:xfrm>
            <a:off x="8238744" y="37536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8458200" y="3840480"/>
            <a:ext cx="1828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7" name="Text 135"/>
          <p:cNvSpPr/>
          <p:nvPr/>
        </p:nvSpPr>
        <p:spPr>
          <a:xfrm>
            <a:off x="8458200" y="36576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38" name="Text 136"/>
          <p:cNvSpPr/>
          <p:nvPr/>
        </p:nvSpPr>
        <p:spPr>
          <a:xfrm>
            <a:off x="6263640" y="42062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&lt; 2，不换（完成！）</a:t>
            </a:r>
            <a:endParaRPr lang="en-US" sz="1100" dirty="0"/>
          </a:p>
        </p:txBody>
      </p:sp>
      <p:sp>
        <p:nvSpPr>
          <p:cNvPr id="139" name="Text 13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📏 4 个数一共比了 6 次（3 + 2 + 1），每轮比较次数都会减 1</a:t>
            </a:r>
            <a:endParaRPr lang="en-US" sz="1200" dirty="0"/>
          </a:p>
        </p:txBody>
      </p:sp>
      <p:sp>
        <p:nvSpPr>
          <p:cNvPr id="140" name="Text 13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 · 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两层循环就能实现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0759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07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307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冒泡排序 —— 从小到大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n -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 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 &lt; n -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i; j++)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如果前面的比后面的大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(a[j] &gt; a[j+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交换它们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= a[j];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a[j] = a[j+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a[j+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t;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两层循环怎么理解？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925312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5312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控制"排序的轮数"，一共要走 n-1 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33172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925312" y="2313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 j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25312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每一轮从头到尾两两比较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01752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 判断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25312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前面比后面大就交换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70332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3685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交换三步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25312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借助临时变量 t，像两杯水互换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随机数种子 · 让每次运行不一样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动手写完整程序前，先搞懂 rand() 和 srand()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1691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只用 rand()：每次结果相同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是"伪随机"——它查一张固定的数字表。
不设种子，每次都从第 1 行开始查，
所以每次运行结果都一样：
</a:t>
            </a: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41  18467  6334  26500 ...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17520"/>
            <a:ext cx="91440" cy="1691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加上 srand(time(0))：每次都不一样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srand(x)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告诉 rand：从表的第 x 行开始查。
</a:t>
            </a: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time(0)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1970 年到现在的秒数，
每秒都在变 → 种子每秒都不同
</a:t>
            </a: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每次运行抽到的数也不同 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2C3E8C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solidFill>
            <a:srgbClr val="2C3E8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标准模板（建议背下来）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190195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5166360" y="19019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9240" y="19019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194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&lt;cstdlib&gt;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&lt;ctime&gt;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用时间洗牌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= 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抽张 0~99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🔢 rand() % N 速查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100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3611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 ~ 99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100 + 1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 ~ 100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251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6 + 1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 ~ 6  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随机数种子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 · 动手练习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照着敲一遍，生成 10 个随机数并排序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1615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161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2161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&lt;cstdlib&gt;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rand()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&lt;ctime&gt;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time()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随机种子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a[n];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a[i] = 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====== 冒泡排序 ======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i&lt;n-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j&lt;n-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-i; j++)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(a[j] &gt; a[j+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t=a[j]; a[j]=a[j+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a[j+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]=t;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cout &lt;&lt; a[i] &lt;&lt;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18872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2C3E8C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动手任务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照着代码敲一遍
② 改成 </a:t>
            </a: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个随机数
③ 改成 </a:t>
            </a: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从大到小</a:t>
            </a: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排序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🔎 小提示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rand() % 100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会得到 0~99 的整数
</a:t>
            </a: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srand(time(0))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让每次运行结果不同
想从大到小？把 </a:t>
            </a: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改成 </a:t>
            </a: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冒泡排序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 · 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每一轮挑出剩下数里最小的，放到前面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01168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未排序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正在比较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18872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已排好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核心规则：</a:t>
            </a: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在还没排好的部分里找最小值，把它和当前位置交换。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48640" y="4846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和冒泡不同：选择排序每一轮只交换"一次"，动作少得多！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A5216BE4-F918-92A4-32A4-99091026B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66" y="2011680"/>
            <a:ext cx="6138667" cy="2898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 · 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每轮记下最小值的位置，走完再交换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0759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07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307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选择排序 —— 从小到大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n -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minIdx = i;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假设 i 就是最小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 = i+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 &lt; n; j++)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(a[j] &lt; a[minIdx])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minIdx = j;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发现更小的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把真正的最小值换到 i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= a[i];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a[i] = a[minIdx];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a[minIdx] = t;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关键：记录"位置"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73152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5925312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minIdx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5312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用一个变量记"目前最小值的位置"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331720"/>
            <a:ext cx="73152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5925312" y="2313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内层循环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25312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扫一遍剩下的，发现更小就更新 minIdx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017520"/>
            <a:ext cx="73152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走完再换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25312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整轮只交换 1 次，比冒泡省事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703320"/>
            <a:ext cx="73152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3685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对比冒泡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25312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冒泡是"不停换"，选择是"看准再换"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 · 动手练习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把上节课的随机数生成框架套过来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1615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161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2161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&lt;cstdlib&gt;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&lt;ctime&gt;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a[n];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a[i] = </a:t>
            </a: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====== 选择排序 ======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i&lt;n-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minIdx = i;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j=i+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j&lt;n; j++)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(a[j] &lt; a[minIdx]) minIdx = j;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t=a[i]; a[i]=a[minIdx]; a[minIdx]=t;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cout &lt;&lt; a[i] &lt;&lt; </a:t>
            </a: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188720"/>
            <a:ext cx="2286000" cy="1463040"/>
          </a:xfrm>
          <a:prstGeom prst="roundRect">
            <a:avLst>
              <a:gd name="adj" fmla="val 6250"/>
            </a:avLst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动手任务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16459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照着敲一遍，运行
② 加一行输出：
   每轮打印出 </a:t>
            </a: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minIdx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挑战：改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找最大值</a:t>
            </a: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的写法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83464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想一想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 </a:t>
            </a: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1, 4, 1, 5]</a:t>
            </a:r>
            <a:r>
              <a:rPr lang="en-US" sz="1100" dirty="0">
                <a:solidFill>
                  <a:srgbClr val="000000"/>
                </a:solidFill>
              </a:rPr>
              <a:t>
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用选择排序一共交换几次？
</a:t>
            </a:r>
            <a:r>
              <a:rPr lang="en-US" sz="11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</a:t>
            </a: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次（n-1 次）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（即便某次已到位也会自己换自己）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选择排序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 · 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像整理扑克牌 — 一张一张插进已经排好的牌里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01168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未排序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正在比较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118872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已排好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804672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核心规则：</a:t>
            </a: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把当前这张"牌"往前比较，比它大的都往后挪一格，直到找到自己的位置。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48640" y="48234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小秘密：如果数组已经差不多是排好的，插入排序会非常快！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59FD88B6-78B5-B25F-B7EB-8D96878AB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363" y="1980576"/>
            <a:ext cx="6068634" cy="2865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 · 代码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"暂存一张牌，往前找位置"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0759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07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307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插入排序 —— 从小到大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n; i++)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 = a[i];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暂存当前牌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 = i -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把比 key 大的都往后挪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 &gt;=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a[j] &gt; key)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a[j+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a[j];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j--;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找到位置，把牌放下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a[j+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key;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想象抓扑克牌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73152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5925312" y="1627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5312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你手上刚抽到的那张牌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331720"/>
            <a:ext cx="73152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5925312" y="2313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25312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从已排好的最右边开始往左看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017520"/>
            <a:ext cx="73152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5925312" y="29992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while 循环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25312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 key 大的牌都往右让一格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703320"/>
            <a:ext cx="73152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3685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a[j+1]=key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25312" y="3931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腾出位置后，把牌插进去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 · 动手练习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注意外循环从 i=1 开始哦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852160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1615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161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2161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&lt;cstdlib&gt;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&lt;ctime&gt;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a[n];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a[i] = </a:t>
            </a: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% 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====== 插入排序 ======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 = a[i], j = i-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(j &gt;= 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a[j] &gt; key)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a[j+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a[j];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j--;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a[j+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key;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cout &lt;&lt; a[i] &lt;&lt; </a:t>
            </a: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188720"/>
            <a:ext cx="2286000" cy="1737360"/>
          </a:xfrm>
          <a:prstGeom prst="roundRect">
            <a:avLst>
              <a:gd name="adj" fmla="val 5263"/>
            </a:avLst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动手任务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16459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敲完运行一遍
② 试试已经</a:t>
            </a: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</a:t>
            </a: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的数组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{1,2,3,4,5}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观察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根本不转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3063240"/>
            <a:ext cx="228600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对比练习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4747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在同一份随机数组上
分别用三种排序跑一次
看看结果是不是
</a:t>
            </a: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完全一样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 · 一行搞定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标准库自带的排序，又快又好用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🤯 一行抵得上十几行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7190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71907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5486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&lt;algorithm&gt;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← sort 在这里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&lt;cstdlib&gt;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&lt;ctime&gt;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a[n];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a[i]=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()%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a + n);   </a:t>
            </a: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就这一行！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i=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i&lt;n; i++) cout &lt;&lt; a[i] &lt;&lt; </a:t>
            </a: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188720"/>
            <a:ext cx="2286000" cy="3566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22860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sort 用法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737360"/>
            <a:ext cx="2057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写法：
</a:t>
            </a: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sort(起点, 结束)
</a:t>
            </a: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对整个 a[n]：
</a:t>
            </a: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sort(a, a + n)
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终点是</a:t>
            </a: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"最后一个的下一个"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所以是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a+n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不是 </a:t>
            </a: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a+n-1</a:t>
            </a: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想从大到小？
</a:t>
            </a: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sort(a, a+n, greater&lt;int&gt;())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四种排序大对比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选谁？什么时候用？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07640"/>
              </p:ext>
            </p:extLst>
          </p:nvPr>
        </p:nvGraphicFramePr>
        <p:xfrm>
          <a:off x="457200" y="1234440"/>
          <a:ext cx="822960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核心思想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代码难度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C3E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冒泡排序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相邻比较、不停交换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 最简单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🐢 较慢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理解排序思想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C3E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每轮选最小值放前面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 简单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🐢 较慢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en-US" sz="1200" kern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元素很大 </a:t>
                      </a:r>
                      <a:r>
                        <a:rPr lang="en-US" altLang="zh-CN" sz="1200" kern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/ </a:t>
                      </a:r>
                      <a:r>
                        <a:rPr lang="zh-CN" altLang="en-US" sz="1200" kern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</a:rPr>
                        <a:t>交换贵时</a:t>
                      </a:r>
                      <a:endParaRPr lang="en-US" sz="1200" kern="1200" dirty="0">
                        <a:solidFill>
                          <a:srgbClr val="1E293B"/>
                        </a:solidFill>
                        <a:latin typeface="Microsoft YaHei" pitchFamily="34" charset="0"/>
                        <a:ea typeface="Microsoft YaHei" pitchFamily="34" charset="-122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C3E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像整理扑克牌一张张插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⭐⭐ 简单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🚶 一般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数据近乎有序时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C3E8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std::sort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组合拳（快排+堆+插入）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⭐ 最简单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🚀 非常快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实战／打比赛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2C3E8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老师的建议：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理解前三种让你懂"算法"，</a:t>
            </a: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实战用 std::sort</a:t>
            </a: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。竞赛中 95% 都在用它 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 到底是什么排序？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（小彩蛋）给想打竞赛的同学看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 不是一种排序，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它是"三种排序的组合拳"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57400"/>
            <a:ext cx="137160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30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快速排序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Quicksort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主力：大部分时候用它，非常快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926080"/>
            <a:ext cx="137160" cy="7315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992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堆排序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Heapsort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保底：快排递归太深时换它上，防最坏情况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794760"/>
            <a:ext cx="137160" cy="7315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867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插入排序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Insertion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收尾：数组很小时用它，常数小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专业名字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60720" y="1600200"/>
            <a:ext cx="3017520" cy="640080"/>
          </a:xfrm>
          <a:prstGeom prst="roundRect">
            <a:avLst>
              <a:gd name="adj" fmla="val 11429"/>
            </a:avLst>
          </a:prstGeom>
          <a:solidFill>
            <a:srgbClr val="2C3E8C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Introsort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（内省排序）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42316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常见误解
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语言有个 </a:t>
            </a: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qsort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函数，但 </a:t>
            </a: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std::sort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不是它！
</a:t>
            </a: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std::sort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通常</a:t>
            </a: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 qsort 更快</a:t>
            </a: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（编译器能把比较函数内联优化）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std::sort · 彩蛋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09728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课后挑战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选你感兴趣的题目做做看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34440"/>
            <a:ext cx="137160" cy="1600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基础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三种排序都写一遍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67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在同一个随机数组上跑三次，输出结果必须完全一样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137160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🟡 进阶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统计交换次数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1671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分别数冒泡、选择、插入各交换了多少次，谁更少？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017520"/>
            <a:ext cx="137160" cy="1600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🟠 挑战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排序学生成绩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输入5个同学的名字和分数，按分数从高到低输出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137160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高手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自己动手写"二分查找"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39502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在排好序的数组里快速找一个数 — 和排序的关系很密切哦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1930</Words>
  <Application>Microsoft Macintosh PowerPoint</Application>
  <PresentationFormat>全屏显示(16:9)</PresentationFormat>
  <Paragraphs>447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排序算法入门 - 五年级 C++ 课</dc:title>
  <dc:subject>PptxGenJS Presentation</dc:subject>
  <dc:creator>杨帆</dc:creator>
  <cp:lastModifiedBy>杨帆</cp:lastModifiedBy>
  <cp:revision>4</cp:revision>
  <dcterms:created xsi:type="dcterms:W3CDTF">2026-04-21T02:21:23Z</dcterms:created>
  <dcterms:modified xsi:type="dcterms:W3CDTF">2026-04-21T04:14:22Z</dcterms:modified>
</cp:coreProperties>
</file>