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2"/>
  </p:notesMasterIdLst>
  <p:sldIdLst>
    <p:sldId id="256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231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14.04.2026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今天的编程课。上节课我们成功让贪吃蛇动了起来，但它只能朝一个方向走。今天，我们将学习如何让小蛇听从我们的指挥，通过键盘输入来改变它的移动方向。这节课的核心是C++的键盘IO输入和方向控制逻辑，让我们一起把贪吃蛇变得更有趣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课程我们将分为四个部分。首先，我们会学习C++中如何检测键盘输入，特别是游戏开发中常用的无阻塞输入方式。接着，我们会探讨如何用方向向量来控制蛇的移动方向。然后，我们会将这两者结合，实现贪吃蛇的方向切换功能。最后，我们会解决一个常见的BUG，让游戏体验更加完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我们来看第一部分：键盘IO。为什么需要它？因为我们要让程序能实时响应我们的操作。C++中有两种常见的输入方式。`cin`就像写信，你必须写完并按下回车，程序才能收到信息，这在需要快速反应的游戏里显然不合适。而`getch()`则像对讲机，你一说话对方立刻就能听到，非常适合游戏的实时交互。我们今天就会使用`getch()`来实现键盘控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第二部分，方向控制。还记得上节课我们用dx和dy这两个变量来控制蛇的移动方向吗？它们就像是蛇的方向盘。按上键，我们就把dx设为-1，dy设为0；按下键，dx设为1。我们需要建立一个按键和方向的映射表，比如按下W键，就对应向上移动。这里的关键是，我们只修改dx和dy的值，蛇的实际移动逻辑完全复用上次的代码，这样实现起来非常高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理论讲完了，我们进入实战环节。如何把方向控制整合到游戏中呢？其实很简单，只需要三步。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第一步，在游戏的主循环里，加入一个按键检测。这一步是为了获取用户的实时输入。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第二步，根据检测到的按键，修改我们的方向向量dx和dy。比如按W键，就让蛇向上移动，也就是dy等于0，dx等于-1。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第三步，剩下的移动逻辑，比如计算新蛇头、身体跟随，全部复用我们上节课写好的代码。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整个流程就是：按下按键，修改方向，然后蛇按照新方向移动。这种设计也体现了“逻辑解耦”的思想，输入控制和执行移动是分开的。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实现了基本控制后，我们发现一个致命的BUG：如果蛇正在向右走，我们突然按左，它会直接反向移动，撞到自己的身体，游戏就结束了。这显然不合理。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所以我们需要做一个关键优化：禁止180度转向。我们修改代码，在切换方向前加一个判断，比如向右走的时候，就不能直接切换到向左。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这样就像开车不能瞬间倒车一样，保证了游戏的合理性，让玩家有更好的体验。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了，我们来总结一下今天课程的核心知识点。首先，我们学习了使用`_kbhit()`和`_getch()`进行无阻塞键盘输入，这是游戏交互的基础。其次，我们掌握了通过修改方向向量`dx/dy`来控制移动方向，并复用了之前的移动逻辑。然后，我们通过增加判断条件，修复了反向移动的BUG。最后，我们看到了新知识是如何与旧知识无缝衔接，一步步构建出完整功能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通过今天的学习，我们已经成功解锁了贪吃蛇游戏的核心交互功能——方向控制。现在，你可以自由地操控小蛇在屏幕上移动了。这为我们后续实现吃食物、变长等更复杂的功能打下了坚实的基础。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今天的课程就到这里。感谢大家的观看！希望通过贪吃蛇这个有趣的项目，你能感受到编程的魅力。愿你在编程的世界里继续探索，发现更多的乐趣。我们下节课再见！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2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jpe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2.jpe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13.svg"/><Relationship Id="rId4" Type="http://schemas.openxmlformats.org/officeDocument/2006/relationships/image" Target="../media/image18.jpe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.jpe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11" Type="http://schemas.openxmlformats.org/officeDocument/2006/relationships/image" Target="../media/image28.svg"/><Relationship Id="rId5" Type="http://schemas.openxmlformats.org/officeDocument/2006/relationships/image" Target="../media/image4.svg"/><Relationship Id="rId10" Type="http://schemas.openxmlformats.org/officeDocument/2006/relationships/image" Target="../media/image27.png"/><Relationship Id="rId4" Type="http://schemas.openxmlformats.org/officeDocument/2006/relationships/image" Target="../media/image3.png"/><Relationship Id="rId9" Type="http://schemas.openxmlformats.org/officeDocument/2006/relationships/image" Target="../media/image2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.jpe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3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286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用贪吃蛇学C++：键盘IO与方向控制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0" y="3429000"/>
            <a:ext cx="2032000" cy="76200"/>
          </a:xfrm>
          <a:prstGeom prst="roundRect">
            <a:avLst>
              <a:gd name="adj" fmla="val 0"/>
            </a:avLst>
          </a:prstGeom>
          <a:solidFill>
            <a:srgbClr val="7ED32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3937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项目拆解式编程课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4699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让蛇听从键盘指令自由转向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5461000"/>
            <a:ext cx="1219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7ED321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C++ GAME DEVELOPMENT COURSE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课程导航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1E1E1E">
              <a:alpha val="85000"/>
            </a:srgbClr>
          </a:solidFill>
          <a:ln w="25400" cap="flat" cmpd="sng">
            <a:solidFill>
              <a:srgbClr val="7ED321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778000"/>
            <a:ext cx="889000" cy="889000"/>
          </a:xfrm>
          <a:prstGeom prst="ellipse">
            <a:avLst/>
          </a:prstGeom>
          <a:solidFill>
            <a:srgbClr val="7ED32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6500" y="19685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159000" y="1778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Part 01 / C++键盘IO输入基础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159000" y="2286000"/>
            <a:ext cx="3302000" cy="25400"/>
          </a:xfrm>
          <a:prstGeom prst="roundRect">
            <a:avLst>
              <a:gd name="adj" fmla="val 0"/>
            </a:avLst>
          </a:prstGeom>
          <a:solidFill>
            <a:srgbClr val="7ED321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2159000" y="24765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DCDCDC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控制台无阻塞按键检测与实现</a:t>
            </a:r>
            <a:br>
              <a:rPr lang="en-US" sz="1200" b="0" i="0" u="none" strike="noStrike">
                <a:solidFill>
                  <a:srgbClr val="DCDCDC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DCDCDC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cin 与 getch() 函数的输入原理区别</a:t>
            </a:r>
            <a:br>
              <a:rPr lang="en-US" sz="1200" b="0" i="0" u="none" strike="noStrike">
                <a:solidFill>
                  <a:srgbClr val="DCDCDC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DCDCDC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构建游戏实时交互响应的核心逻辑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3937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1E1E1E">
              <a:alpha val="85000"/>
            </a:srgbClr>
          </a:solidFill>
          <a:ln w="25400" cap="flat" cmpd="sng">
            <a:solidFill>
              <a:srgbClr val="7ED321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16000" y="4191000"/>
            <a:ext cx="889000" cy="889000"/>
          </a:xfrm>
          <a:prstGeom prst="ellipse">
            <a:avLst/>
          </a:prstGeom>
          <a:solidFill>
            <a:srgbClr val="7ED32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06500" y="43815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2159000" y="4191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Part 02 / 方向控制核心逻辑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159000" y="4699000"/>
            <a:ext cx="3302000" cy="25400"/>
          </a:xfrm>
          <a:prstGeom prst="roundRect">
            <a:avLst>
              <a:gd name="adj" fmla="val 0"/>
            </a:avLst>
          </a:prstGeom>
          <a:solidFill>
            <a:srgbClr val="7ED321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2159000" y="48895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DCDCDC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定义上下左右移动的基础方向向量</a:t>
            </a:r>
            <a:br>
              <a:rPr lang="en-US" sz="1200" b="0" i="0" u="none" strike="noStrike">
                <a:solidFill>
                  <a:srgbClr val="DCDCDC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DCDCDC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制定方向状态的切换与更新规则</a:t>
            </a:r>
            <a:br>
              <a:rPr lang="en-US" sz="1200" b="0" i="0" u="none" strike="noStrike">
                <a:solidFill>
                  <a:srgbClr val="DCDCDC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DCDCDC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无缝衔接上节课的蛇身移动代码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1524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1E1E1E">
              <a:alpha val="85000"/>
            </a:srgbClr>
          </a:solidFill>
          <a:ln w="25400" cap="flat" cmpd="sng">
            <a:solidFill>
              <a:srgbClr val="7ED321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477000" y="1778000"/>
            <a:ext cx="889000" cy="889000"/>
          </a:xfrm>
          <a:prstGeom prst="ellipse">
            <a:avLst/>
          </a:prstGeom>
          <a:solidFill>
            <a:srgbClr val="7ED32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67500" y="1968500"/>
            <a:ext cx="508000" cy="508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620000" y="1778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Part 03 / 贪吃蛇方向切换实现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0" y="2286000"/>
            <a:ext cx="3302000" cy="25400"/>
          </a:xfrm>
          <a:prstGeom prst="roundRect">
            <a:avLst>
              <a:gd name="adj" fmla="val 0"/>
            </a:avLst>
          </a:prstGeom>
          <a:solidFill>
            <a:srgbClr val="7ED321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7620000" y="24765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DCDCDC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将键盘按键事件精准映射到移动方向</a:t>
            </a:r>
            <a:br>
              <a:rPr lang="en-US" sz="1200" b="0" i="0" u="none" strike="noStrike">
                <a:solidFill>
                  <a:srgbClr val="DCDCDC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DCDCDC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在游戏循环中实时更新蛇的移动向量</a:t>
            </a:r>
            <a:br>
              <a:rPr lang="en-US" sz="1200" b="0" i="0" u="none" strike="noStrike">
                <a:solidFill>
                  <a:srgbClr val="DCDCDC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DCDCDC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整合输入检测与核心逻辑的完整流程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223000" y="3937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1E1E1E">
              <a:alpha val="85000"/>
            </a:srgbClr>
          </a:solidFill>
          <a:ln w="25400" cap="flat" cmpd="sng">
            <a:solidFill>
              <a:srgbClr val="7ED321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477000" y="4191000"/>
            <a:ext cx="889000" cy="889000"/>
          </a:xfrm>
          <a:prstGeom prst="ellipse">
            <a:avLst/>
          </a:prstGeom>
          <a:solidFill>
            <a:srgbClr val="7ED32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67500" y="4381500"/>
            <a:ext cx="508000" cy="508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620000" y="4191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Part 04 / 方向控制 BUG 优化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620000" y="4699000"/>
            <a:ext cx="3302000" cy="25400"/>
          </a:xfrm>
          <a:prstGeom prst="roundRect">
            <a:avLst>
              <a:gd name="adj" fmla="val 0"/>
            </a:avLst>
          </a:prstGeom>
          <a:solidFill>
            <a:srgbClr val="7ED321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7620000" y="48895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DCDCDC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逻辑限制：禁止直接反向移动（防穿墙）</a:t>
            </a:r>
            <a:br>
              <a:rPr lang="en-US" sz="1200" b="0" i="0" u="none" strike="noStrike">
                <a:solidFill>
                  <a:srgbClr val="DCDCDC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DCDCDC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输入防抖：解决高频按键导致的指令混乱</a:t>
            </a:r>
            <a:br>
              <a:rPr lang="en-US" sz="1200" b="0" i="0" u="none" strike="noStrike">
                <a:solidFill>
                  <a:srgbClr val="DCDCDC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DCDCDC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循环兼容：确保优化逻辑不影响帧率稳定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Part 1 键盘IO：让程序听懂你的指令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l="21114" r="21114"/>
          <a:stretch>
            <a:fillRect/>
          </a:stretch>
        </p:blipFill>
        <p:spPr>
          <a:xfrm>
            <a:off x="762000" y="1524000"/>
            <a:ext cx="4826000" cy="4699000"/>
          </a:xfrm>
          <a:prstGeom prst="roundRect">
            <a:avLst>
              <a:gd name="adj" fmla="val 3243"/>
            </a:avLst>
          </a:prstGeom>
          <a:noFill/>
          <a:ln w="25400" cap="flat" cmpd="sng">
            <a:solidFill>
              <a:srgbClr val="7ED321">
                <a:alpha val="100000"/>
              </a:srgbClr>
            </a:solidFill>
            <a:prstDash val="solid"/>
            <a:round/>
          </a:ln>
          <a:effectLst>
            <a:outerShdw blurRad="190500" dist="762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5842000" y="1524000"/>
            <a:ext cx="5588000" cy="1397000"/>
          </a:xfrm>
          <a:prstGeom prst="roundRect">
            <a:avLst>
              <a:gd name="adj" fmla="val 9090"/>
            </a:avLst>
          </a:prstGeom>
          <a:solidFill>
            <a:srgbClr val="2D2D2D">
              <a:alpha val="92000"/>
            </a:srgbClr>
          </a:solidFill>
          <a:ln w="12700" cap="flat" cmpd="sng">
            <a:solidFill>
              <a:srgbClr val="7ED321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0" y="17145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6731000" y="1714500"/>
            <a:ext cx="444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为什么需要键盘 IO？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731000" y="21336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EBEBEB"/>
                </a:solidFill>
                <a:latin typeface="Noto Sans SC"/>
                <a:ea typeface="Noto Sans SC"/>
                <a:cs typeface="Noto Sans SC"/>
                <a:sym typeface="Noto Sans SC"/>
              </a:rPr>
              <a:t>上节课小蛇只能固定移动，</a:t>
            </a:r>
            <a:r>
              <a:rPr lang="en-US" sz="12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键盘IO</a:t>
            </a:r>
            <a:r>
              <a:rPr lang="en-US" sz="1200" b="0" i="0" u="none" strike="noStrike">
                <a:solidFill>
                  <a:srgbClr val="EBEBEB"/>
                </a:solidFill>
                <a:latin typeface="Noto Sans SC"/>
                <a:ea typeface="Noto Sans SC"/>
                <a:cs typeface="Noto Sans SC"/>
                <a:sym typeface="Noto Sans SC"/>
              </a:rPr>
              <a:t>是程序接收用户按键的通道，让我们能手动控制方向，实现真正的人机交互！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842000" y="3175000"/>
            <a:ext cx="5588000" cy="1524000"/>
          </a:xfrm>
          <a:prstGeom prst="roundRect">
            <a:avLst>
              <a:gd name="adj" fmla="val 8333"/>
            </a:avLst>
          </a:prstGeom>
          <a:solidFill>
            <a:srgbClr val="2D2D2D">
              <a:alpha val="92000"/>
            </a:srgbClr>
          </a:solidFill>
          <a:ln w="12700" cap="flat" cmpd="sng">
            <a:solidFill>
              <a:srgbClr val="7ED321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96000" y="33655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731000" y="3365500"/>
            <a:ext cx="444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两种输入方式大比拼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731000" y="3784600"/>
            <a:ext cx="444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• cin：有阻塞，必须按回车生效 →</a:t>
            </a:r>
            <a:r>
              <a:rPr lang="en-US" sz="1100" b="1" i="0" u="none" strike="noStrike">
                <a:solidFill>
                  <a:srgbClr val="FF6B6B"/>
                </a:solidFill>
                <a:latin typeface="Noto Sans SC"/>
                <a:ea typeface="Noto Sans SC"/>
                <a:cs typeface="Noto Sans SC"/>
                <a:sym typeface="Noto Sans SC"/>
              </a:rPr>
              <a:t>不适合游戏实时控制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1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• getch()：按键立即响应，无需回车 →</a:t>
            </a:r>
            <a:r>
              <a:rPr lang="en-US" sz="11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贪吃蛇专属输入方式</a:t>
            </a:r>
          </a:p>
        </p:txBody>
      </p:sp>
      <p:sp>
        <p:nvSpPr>
          <p:cNvPr id="13" name="AutoShape 13"/>
          <p:cNvSpPr/>
          <p:nvPr/>
        </p:nvSpPr>
        <p:spPr>
          <a:xfrm>
            <a:off x="5842000" y="4953000"/>
            <a:ext cx="5588000" cy="1270000"/>
          </a:xfrm>
          <a:prstGeom prst="roundRect">
            <a:avLst>
              <a:gd name="adj" fmla="val 10000"/>
            </a:avLst>
          </a:prstGeom>
          <a:solidFill>
            <a:srgbClr val="2D2D2D">
              <a:alpha val="92000"/>
            </a:srgbClr>
          </a:solidFill>
          <a:ln w="12700" cap="flat" cmpd="sng">
            <a:solidFill>
              <a:srgbClr val="7ED321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96000" y="514350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731000" y="5143500"/>
            <a:ext cx="444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通俗类比理解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731000" y="55626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cin = 写信 (写完寄出才收到) | getch =</a:t>
            </a:r>
            <a:r>
              <a:rPr lang="en-US" sz="11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对讲机 (说话立刻听到)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Part 2 方向控制：小蛇的方向盘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556000" cy="4699000"/>
          </a:xfrm>
          <a:prstGeom prst="roundRect">
            <a:avLst>
              <a:gd name="adj" fmla="val 5714"/>
            </a:avLst>
          </a:prstGeom>
          <a:solidFill>
            <a:srgbClr val="1E1E1E">
              <a:alpha val="90000"/>
            </a:srgbClr>
          </a:solidFill>
          <a:ln w="25400" cap="flat" cmpd="sng">
            <a:solidFill>
              <a:srgbClr val="7ED321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l="3846" r="3846"/>
          <a:stretch>
            <a:fillRect/>
          </a:stretch>
        </p:blipFill>
        <p:spPr>
          <a:xfrm>
            <a:off x="1016000" y="1778000"/>
            <a:ext cx="3048000" cy="3302000"/>
          </a:xfrm>
          <a:prstGeom prst="roundRect">
            <a:avLst>
              <a:gd name="adj" fmla="val 50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1016000" y="5207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WASD / 方向键 控制示意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572000" y="1524000"/>
            <a:ext cx="6858000" cy="1397000"/>
          </a:xfrm>
          <a:prstGeom prst="roundRect">
            <a:avLst>
              <a:gd name="adj" fmla="val 10909"/>
            </a:avLst>
          </a:prstGeom>
          <a:solidFill>
            <a:srgbClr val="1E1E1E">
              <a:alpha val="90000"/>
            </a:srgbClr>
          </a:solidFill>
          <a:ln w="12700" cap="flat" cmpd="sng">
            <a:solidFill>
              <a:srgbClr val="7ED32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4762500" y="1651000"/>
            <a:ext cx="635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💡 方向向量 (dx/dy) 核心概念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762500" y="2032000"/>
            <a:ext cx="254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dx 和 dy 是小蛇的“隐形方向盘”，只需要修改这两个值，就能改变移动方向。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493000" y="2032000"/>
            <a:ext cx="3556000" cy="762000"/>
          </a:xfrm>
          <a:prstGeom prst="roundRect">
            <a:avLst>
              <a:gd name="adj" fmla="val 13333"/>
            </a:avLst>
          </a:prstGeom>
          <a:solidFill>
            <a:srgbClr val="000000">
              <a:alpha val="60000"/>
            </a:srgbClr>
          </a:solidFill>
          <a:ln w="12700" cap="flat" cmpd="sng">
            <a:solidFill>
              <a:srgbClr val="7ED32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7620000" y="2095500"/>
            <a:ext cx="330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A0E66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dx=0, dy=1; // 右 dx=0, dy=-1; // 左</a:t>
            </a:r>
            <a:br>
              <a:rPr lang="en-US" sz="1000" b="0" i="0" u="none" strike="noStrike">
                <a:solidFill>
                  <a:srgbClr val="A0E664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000" b="0" i="0" u="none" strike="noStrike">
                <a:solidFill>
                  <a:srgbClr val="A0E66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dx=-1, dy=0; // 上 dx=1, dy=0; // 下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72000" y="3175000"/>
            <a:ext cx="6858000" cy="1524000"/>
          </a:xfrm>
          <a:prstGeom prst="roundRect">
            <a:avLst>
              <a:gd name="adj" fmla="val 10000"/>
            </a:avLst>
          </a:prstGeom>
          <a:solidFill>
            <a:srgbClr val="1E1E1E">
              <a:alpha val="90000"/>
            </a:srgbClr>
          </a:solidFill>
          <a:ln w="12700" cap="flat" cmpd="sng">
            <a:solidFill>
              <a:srgbClr val="7ED32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762500" y="3302000"/>
            <a:ext cx="635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🎮 按键与方向映射表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762500" y="3746500"/>
            <a:ext cx="1524000" cy="76200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4826000" y="3810000"/>
            <a:ext cx="139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W / ↑ 向上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000" b="0" i="0" u="none" strike="noStrike">
                <a:solidFill>
                  <a:srgbClr val="B4B4B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dx=-1 | dy=0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413500" y="3746500"/>
            <a:ext cx="1524000" cy="76200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477000" y="3810000"/>
            <a:ext cx="139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S / ↓ 向下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000" b="0" i="0" u="none" strike="noStrike">
                <a:solidFill>
                  <a:srgbClr val="B4B4B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dx=1 | dy=0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064500" y="3746500"/>
            <a:ext cx="1524000" cy="76200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128000" y="3810000"/>
            <a:ext cx="139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A / ← 向左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000" b="0" i="0" u="none" strike="noStrike">
                <a:solidFill>
                  <a:srgbClr val="B4B4B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dx=0 | dy=-1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715500" y="3746500"/>
            <a:ext cx="1524000" cy="76200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9779000" y="3810000"/>
            <a:ext cx="139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D / → 向右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000" b="0" i="0" u="none" strike="noStrike">
                <a:solidFill>
                  <a:srgbClr val="B4B4B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dx=0 | dy=1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572000" y="4953000"/>
            <a:ext cx="6858000" cy="1270000"/>
          </a:xfrm>
          <a:prstGeom prst="roundRect">
            <a:avLst>
              <a:gd name="adj" fmla="val 12000"/>
            </a:avLst>
          </a:prstGeom>
          <a:solidFill>
            <a:srgbClr val="1E1E1E">
              <a:alpha val="90000"/>
            </a:srgbClr>
          </a:solidFill>
          <a:ln w="12700" cap="flat" cmpd="sng">
            <a:solidFill>
              <a:srgbClr val="7ED32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4762500" y="5080000"/>
            <a:ext cx="635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✨ 核心实现 Tips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762500" y="5524500"/>
            <a:ext cx="2032000" cy="635000"/>
          </a:xfrm>
          <a:prstGeom prst="roundRect">
            <a:avLst>
              <a:gd name="adj" fmla="val 16000"/>
            </a:avLst>
          </a:prstGeom>
          <a:solidFill>
            <a:srgbClr val="7ED32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89500" y="56515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5270500" y="5613400"/>
            <a:ext cx="152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0F0F0"/>
                </a:solidFill>
                <a:latin typeface="Noto Sans SC"/>
                <a:ea typeface="Noto Sans SC"/>
                <a:cs typeface="Noto Sans SC"/>
                <a:sym typeface="Noto Sans SC"/>
              </a:rPr>
              <a:t>仅修改 dx/dy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9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不直接操作坐标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921500" y="5524500"/>
            <a:ext cx="2032000" cy="635000"/>
          </a:xfrm>
          <a:prstGeom prst="roundRect">
            <a:avLst>
              <a:gd name="adj" fmla="val 16000"/>
            </a:avLst>
          </a:prstGeom>
          <a:solidFill>
            <a:srgbClr val="7ED32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48500" y="5651500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7429500" y="5613400"/>
            <a:ext cx="152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0F0F0"/>
                </a:solidFill>
                <a:latin typeface="Noto Sans SC"/>
                <a:ea typeface="Noto Sans SC"/>
                <a:cs typeface="Noto Sans SC"/>
                <a:sym typeface="Noto Sans SC"/>
              </a:rPr>
              <a:t>逻辑完全复用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9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零改动上节代码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9080500" y="5524500"/>
            <a:ext cx="2032000" cy="635000"/>
          </a:xfrm>
          <a:prstGeom prst="roundRect">
            <a:avLst>
              <a:gd name="adj" fmla="val 16000"/>
            </a:avLst>
          </a:prstGeom>
          <a:solidFill>
            <a:srgbClr val="7ED32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07500" y="5651500"/>
            <a:ext cx="304800" cy="3048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9588500" y="5613400"/>
            <a:ext cx="152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0F0F0"/>
                </a:solidFill>
                <a:latin typeface="Noto Sans SC"/>
                <a:ea typeface="Noto Sans SC"/>
                <a:cs typeface="Noto Sans SC"/>
                <a:sym typeface="Noto Sans SC"/>
              </a:rPr>
              <a:t>按键即切换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9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一次按键换一次向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Part 3 实战：整合方向控制到游戏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302000" cy="3048000"/>
          </a:xfrm>
          <a:prstGeom prst="roundRect">
            <a:avLst>
              <a:gd name="adj" fmla="val 3333"/>
            </a:avLst>
          </a:prstGeom>
          <a:solidFill>
            <a:srgbClr val="232323">
              <a:alpha val="95000"/>
            </a:srgbClr>
          </a:solidFill>
          <a:ln w="25400" cap="flat" cmpd="sng">
            <a:solidFill>
              <a:srgbClr val="7ED32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7780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18034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01. 循环内检测按键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413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在 while(true) 主循环内，优先检测键盘输入事件，获取用户操作。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175000"/>
            <a:ext cx="2794000" cy="1016000"/>
          </a:xfrm>
          <a:prstGeom prst="roundRect">
            <a:avLst>
              <a:gd name="adj" fmla="val 5000"/>
            </a:avLst>
          </a:prstGeom>
          <a:solidFill>
            <a:srgbClr val="0F0F0F">
              <a:alpha val="100000"/>
            </a:srgbClr>
          </a:solidFill>
          <a:ln w="12700" cap="flat" cmpd="sng">
            <a:solidFill>
              <a:srgbClr val="50505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143000" y="33020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C8C8C8"/>
                </a:solidFill>
                <a:latin typeface="Roboto Mono"/>
                <a:ea typeface="Roboto Mono"/>
                <a:cs typeface="Roboto Mono"/>
                <a:sym typeface="Roboto Mono"/>
              </a:rPr>
              <a:t>if(_kbhit()) {</a:t>
            </a:r>
            <a:br>
              <a:rPr lang="en-US" sz="1000" b="0" i="0" u="none" strike="noStrike">
                <a:solidFill>
                  <a:srgbClr val="C8C8C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000" b="0" i="0" u="none" strike="noStrike">
                <a:solidFill>
                  <a:srgbClr val="C8C8C8"/>
                </a:solidFill>
                <a:latin typeface="Roboto Mono"/>
                <a:ea typeface="Roboto Mono"/>
                <a:cs typeface="Roboto Mono"/>
                <a:sym typeface="Roboto Mono"/>
              </a:rPr>
              <a:t>char key = _getch();</a:t>
            </a:r>
            <a:br>
              <a:rPr lang="en-US" sz="1000" b="0" i="0" u="none" strike="noStrike">
                <a:solidFill>
                  <a:srgbClr val="C8C8C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000" b="0" i="0" u="none" strike="noStrike">
                <a:solidFill>
                  <a:srgbClr val="C8C8C8"/>
                </a:solidFill>
                <a:latin typeface="Roboto Mono"/>
                <a:ea typeface="Roboto Mono"/>
                <a:cs typeface="Roboto Mono"/>
                <a:sym typeface="Roboto Mono"/>
              </a:rPr>
              <a:t>// 判断按键并修改方向</a:t>
            </a:r>
            <a:br>
              <a:rPr lang="en-US" sz="1000" b="0" i="0" u="none" strike="noStrike">
                <a:solidFill>
                  <a:srgbClr val="C8C8C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000" b="0" i="0" u="none" strike="noStrike">
                <a:solidFill>
                  <a:srgbClr val="C8C8C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45000" y="1524000"/>
            <a:ext cx="3302000" cy="3048000"/>
          </a:xfrm>
          <a:prstGeom prst="roundRect">
            <a:avLst>
              <a:gd name="adj" fmla="val 3333"/>
            </a:avLst>
          </a:prstGeom>
          <a:solidFill>
            <a:srgbClr val="232323">
              <a:alpha val="95000"/>
            </a:srgbClr>
          </a:solidFill>
          <a:ln w="25400" cap="flat" cmpd="sng">
            <a:solidFill>
              <a:srgbClr val="7ED32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99000" y="17780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334000" y="18034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02. 按键切换方向向量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99000" y="2413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根据按下的 WASD 键，动态修改全局变量 dx 和 dy 的值。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99000" y="3175000"/>
            <a:ext cx="2794000" cy="1016000"/>
          </a:xfrm>
          <a:prstGeom prst="roundRect">
            <a:avLst>
              <a:gd name="adj" fmla="val 5000"/>
            </a:avLst>
          </a:prstGeom>
          <a:solidFill>
            <a:srgbClr val="0F0F0F">
              <a:alpha val="100000"/>
            </a:srgbClr>
          </a:solidFill>
          <a:ln w="12700" cap="flat" cmpd="sng">
            <a:solidFill>
              <a:srgbClr val="50505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4826000" y="33020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C8C8C8"/>
                </a:solidFill>
                <a:latin typeface="Roboto Mono"/>
                <a:ea typeface="Roboto Mono"/>
                <a:cs typeface="Roboto Mono"/>
                <a:sym typeface="Roboto Mono"/>
              </a:rPr>
              <a:t>switch(key){</a:t>
            </a:r>
            <a:br>
              <a:rPr lang="en-US" sz="1000" b="0" i="0" u="none" strike="noStrike">
                <a:solidFill>
                  <a:srgbClr val="C8C8C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000" b="0" i="0" u="none" strike="noStrike">
                <a:solidFill>
                  <a:srgbClr val="C8C8C8"/>
                </a:solidFill>
                <a:latin typeface="Roboto Mono"/>
                <a:ea typeface="Roboto Mono"/>
                <a:cs typeface="Roboto Mono"/>
                <a:sym typeface="Roboto Mono"/>
              </a:rPr>
              <a:t>case 'w': dx=-1; dy=0; break;</a:t>
            </a:r>
            <a:br>
              <a:rPr lang="en-US" sz="1000" b="0" i="0" u="none" strike="noStrike">
                <a:solidFill>
                  <a:srgbClr val="C8C8C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000" b="0" i="0" u="none" strike="noStrike">
                <a:solidFill>
                  <a:srgbClr val="C8C8C8"/>
                </a:solidFill>
                <a:latin typeface="Roboto Mono"/>
                <a:ea typeface="Roboto Mono"/>
                <a:cs typeface="Roboto Mono"/>
                <a:sym typeface="Roboto Mono"/>
              </a:rPr>
              <a:t>case 's': dx=1; dy=0; break;</a:t>
            </a:r>
            <a:br>
              <a:rPr lang="en-US" sz="1000" b="0" i="0" u="none" strike="noStrike">
                <a:solidFill>
                  <a:srgbClr val="C8C8C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000" b="0" i="0" u="none" strike="noStrike">
                <a:solidFill>
                  <a:srgbClr val="C8C8C8"/>
                </a:solidFill>
                <a:latin typeface="Roboto Mono"/>
                <a:ea typeface="Roboto Mono"/>
                <a:cs typeface="Roboto Mono"/>
                <a:sym typeface="Roboto Mono"/>
              </a:rPr>
              <a:t>case 'a': dy=-1; break; case 'd': dy=1;</a:t>
            </a:r>
            <a:br>
              <a:rPr lang="en-US" sz="1000" b="0" i="0" u="none" strike="noStrike">
                <a:solidFill>
                  <a:srgbClr val="C8C8C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000" b="0" i="0" u="none" strike="noStrike">
                <a:solidFill>
                  <a:srgbClr val="C8C8C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128000" y="1524000"/>
            <a:ext cx="3302000" cy="3048000"/>
          </a:xfrm>
          <a:prstGeom prst="roundRect">
            <a:avLst>
              <a:gd name="adj" fmla="val 3333"/>
            </a:avLst>
          </a:prstGeom>
          <a:solidFill>
            <a:srgbClr val="232323">
              <a:alpha val="95000"/>
            </a:srgbClr>
          </a:solidFill>
          <a:ln w="25400" cap="flat" cmpd="sng">
            <a:solidFill>
              <a:srgbClr val="7ED32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82000" y="1778000"/>
            <a:ext cx="457200" cy="4572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017000" y="18034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03. 复用原有移动逻辑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382000" y="2413000"/>
            <a:ext cx="279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方向确定后，后续的新位置计算、撞墙判断、身体移动逻辑完全复用，无需修改！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382000" y="3302000"/>
            <a:ext cx="2794000" cy="762000"/>
          </a:xfrm>
          <a:prstGeom prst="roundRect">
            <a:avLst>
              <a:gd name="adj" fmla="val 6666"/>
            </a:avLst>
          </a:prstGeom>
          <a:solidFill>
            <a:srgbClr val="7ED321">
              <a:alpha val="15000"/>
            </a:srgbClr>
          </a:solidFill>
          <a:ln w="12700" cap="flat" cmpd="sng">
            <a:solidFill>
              <a:srgbClr val="7ED321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509000" y="34290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B4E66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核心思想：逻辑解耦</a:t>
            </a:r>
            <a:br>
              <a:rPr lang="en-US" sz="1200" b="1" i="0" u="none" strike="noStrike">
                <a:solidFill>
                  <a:srgbClr val="B4E664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1" i="0" u="none" strike="noStrike">
                <a:solidFill>
                  <a:srgbClr val="B4E664"/>
                </a:solidFill>
                <a:latin typeface="Noto Sans SC"/>
                <a:ea typeface="Noto Sans SC"/>
                <a:cs typeface="Noto Sans SC"/>
                <a:sym typeface="Noto Sans SC"/>
              </a:rPr>
              <a:t>输入层 → 控制层 → 执行层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4953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2D2D2D">
              <a:alpha val="90000"/>
            </a:srgbClr>
          </a:solidFill>
          <a:ln w="12700" cap="flat" cmpd="sng">
            <a:solidFill>
              <a:srgbClr val="7ED321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1016000" y="5270500"/>
            <a:ext cx="1524000" cy="762000"/>
          </a:xfrm>
          <a:prstGeom prst="roundRect">
            <a:avLst>
              <a:gd name="adj" fmla="val 13333"/>
            </a:avLst>
          </a:prstGeom>
          <a:solidFill>
            <a:srgbClr val="3C3C3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1016000" y="5397500"/>
            <a:ext cx="152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按键按下</a:t>
            </a:r>
            <a:endParaRPr lang="en-US" sz="1100"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667000" y="5461000"/>
            <a:ext cx="381000" cy="3810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3175000" y="5270500"/>
            <a:ext cx="1524000" cy="762000"/>
          </a:xfrm>
          <a:prstGeom prst="roundRect">
            <a:avLst>
              <a:gd name="adj" fmla="val 13333"/>
            </a:avLst>
          </a:prstGeom>
          <a:solidFill>
            <a:srgbClr val="3C3C3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3175000" y="5397500"/>
            <a:ext cx="152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修改 dx/dy</a:t>
            </a:r>
            <a:endParaRPr lang="en-US" sz="1100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826000" y="5461000"/>
            <a:ext cx="381000" cy="3810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5334000" y="5270500"/>
            <a:ext cx="1524000" cy="762000"/>
          </a:xfrm>
          <a:prstGeom prst="roundRect">
            <a:avLst>
              <a:gd name="adj" fmla="val 13333"/>
            </a:avLst>
          </a:prstGeom>
          <a:solidFill>
            <a:srgbClr val="3C3C3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5334000" y="5397500"/>
            <a:ext cx="152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计算新蛇头</a:t>
            </a:r>
            <a:endParaRPr lang="en-US" sz="1100"/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985000" y="5461000"/>
            <a:ext cx="381000" cy="3810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7493000" y="5270500"/>
            <a:ext cx="1524000" cy="762000"/>
          </a:xfrm>
          <a:prstGeom prst="roundRect">
            <a:avLst>
              <a:gd name="adj" fmla="val 13333"/>
            </a:avLst>
          </a:prstGeom>
          <a:solidFill>
            <a:srgbClr val="3C3C3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7493000" y="5397500"/>
            <a:ext cx="152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身体整体前移</a:t>
            </a:r>
            <a:endParaRPr lang="en-US" sz="1100"/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44000" y="5461000"/>
            <a:ext cx="381000" cy="3810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9652000" y="5270500"/>
            <a:ext cx="1397000" cy="762000"/>
          </a:xfrm>
          <a:prstGeom prst="roundRect">
            <a:avLst>
              <a:gd name="adj" fmla="val 13333"/>
            </a:avLst>
          </a:prstGeom>
          <a:solidFill>
            <a:srgbClr val="7ED321">
              <a:alpha val="20000"/>
            </a:srgbClr>
          </a:solidFill>
          <a:ln w="12700" cap="flat" cmpd="sng">
            <a:solidFill>
              <a:srgbClr val="7ED32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AutoShape 36"/>
          <p:cNvSpPr/>
          <p:nvPr/>
        </p:nvSpPr>
        <p:spPr>
          <a:xfrm>
            <a:off x="9652000" y="5397500"/>
            <a:ext cx="139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完成转向移动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Part 4 关键优化：禁止反向移动BUG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080000" cy="4699000"/>
          </a:xfrm>
          <a:prstGeom prst="roundRect">
            <a:avLst>
              <a:gd name="adj" fmla="val 3243"/>
            </a:avLst>
          </a:prstGeom>
          <a:solidFill>
            <a:srgbClr val="191919">
              <a:alpha val="90000"/>
            </a:srgbClr>
          </a:solidFill>
          <a:ln w="12700" cap="flat" cmpd="sng">
            <a:solidFill>
              <a:srgbClr val="7ED32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l="6640" r="6640"/>
          <a:stretch>
            <a:fillRect/>
          </a:stretch>
        </p:blipFill>
        <p:spPr>
          <a:xfrm>
            <a:off x="952500" y="1778000"/>
            <a:ext cx="4699000" cy="3048000"/>
          </a:xfrm>
          <a:prstGeom prst="roundRect">
            <a:avLst>
              <a:gd name="adj" fmla="val 333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952500" y="50165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BUG修复对比：</a:t>
            </a:r>
            <a:br>
              <a:rPr lang="en-US" sz="13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左图为禁止的反向移动，右图为允许的正常转向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096000" y="1524000"/>
            <a:ext cx="5334000" cy="1206500"/>
          </a:xfrm>
          <a:prstGeom prst="roundRect">
            <a:avLst>
              <a:gd name="adj" fmla="val 12631"/>
            </a:avLst>
          </a:prstGeom>
          <a:solidFill>
            <a:srgbClr val="191919">
              <a:alpha val="90000"/>
            </a:srgbClr>
          </a:solidFill>
          <a:ln w="12700" cap="flat" cmpd="sng">
            <a:solidFill>
              <a:srgbClr val="7ED32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286500" y="1651000"/>
            <a:ext cx="495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致命BUG说明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86500" y="2032000"/>
            <a:ext cx="495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蛇向右移动时，若直接按下左方向键，会</a:t>
            </a:r>
            <a:r>
              <a:rPr lang="en-US" sz="1200" b="1" i="0" u="none" strike="noStrike">
                <a:solidFill>
                  <a:srgbClr val="F06292"/>
                </a:solidFill>
                <a:latin typeface="Noto Sans SC"/>
                <a:ea typeface="Noto Sans SC"/>
                <a:cs typeface="Noto Sans SC"/>
                <a:sym typeface="Noto Sans SC"/>
              </a:rPr>
              <a:t>瞬间撞向自身身体</a:t>
            </a:r>
            <a:r>
              <a:rPr lang="en-US" sz="12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导致游戏结束，这与贪吃蛇的核心规则相违背。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096000" y="2921000"/>
            <a:ext cx="5334000" cy="1270000"/>
          </a:xfrm>
          <a:prstGeom prst="roundRect">
            <a:avLst>
              <a:gd name="adj" fmla="val 12000"/>
            </a:avLst>
          </a:prstGeom>
          <a:solidFill>
            <a:srgbClr val="191919">
              <a:alpha val="90000"/>
            </a:srgbClr>
          </a:solidFill>
          <a:ln w="12700" cap="flat" cmpd="sng">
            <a:solidFill>
              <a:srgbClr val="7ED32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286500" y="3048000"/>
            <a:ext cx="495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🛡️ 核心规则：禁止180° 掉头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86500" y="3429000"/>
            <a:ext cx="241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➡️ 向右 ➜ 禁止按左 (A)</a:t>
            </a:r>
            <a:br>
              <a:rPr lang="en-US" sz="11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⬅️ 向左 ➜ 禁止按右 (D)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763000" y="3429000"/>
            <a:ext cx="241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⬆️ 向上 ➜ 禁止按下 (S)</a:t>
            </a:r>
            <a:br>
              <a:rPr lang="en-US" sz="11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⬇️ 向下 ➜ 禁止按上 (W)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096000" y="4381500"/>
            <a:ext cx="5334000" cy="1841500"/>
          </a:xfrm>
          <a:prstGeom prst="roundRect">
            <a:avLst>
              <a:gd name="adj" fmla="val 8275"/>
            </a:avLst>
          </a:prstGeom>
          <a:solidFill>
            <a:srgbClr val="191919">
              <a:alpha val="90000"/>
            </a:srgbClr>
          </a:solidFill>
          <a:ln w="12700" cap="flat" cmpd="sng">
            <a:solidFill>
              <a:srgbClr val="7ED32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286500" y="4508500"/>
            <a:ext cx="495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💻 核心控制代码逻辑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86500" y="4889500"/>
            <a:ext cx="4953000" cy="698500"/>
          </a:xfrm>
          <a:prstGeom prst="roundRect">
            <a:avLst>
              <a:gd name="adj" fmla="val 10909"/>
            </a:avLst>
          </a:prstGeom>
          <a:solidFill>
            <a:srgbClr val="2828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413500" y="4953000"/>
            <a:ext cx="469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C0E860"/>
                </a:solidFill>
                <a:latin typeface="Roboto Mono"/>
                <a:ea typeface="Roboto Mono"/>
                <a:cs typeface="Roboto Mono"/>
                <a:sym typeface="Roboto Mono"/>
              </a:rPr>
              <a:t>if(key=='a'&amp;&amp;dy!=1){dx=0;dy=-1;} // 右走禁左</a:t>
            </a:r>
            <a:br>
              <a:rPr lang="en-US" sz="1000" b="0" i="0" u="none" strike="noStrike">
                <a:solidFill>
                  <a:srgbClr val="C0E860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000" b="0" i="0" u="none" strike="noStrike">
                <a:solidFill>
                  <a:srgbClr val="C0E860"/>
                </a:solidFill>
                <a:latin typeface="Roboto Mono"/>
                <a:ea typeface="Roboto Mono"/>
                <a:cs typeface="Roboto Mono"/>
                <a:sym typeface="Roboto Mono"/>
              </a:rPr>
              <a:t>if(key=='d'&amp;&amp;dy!=-1){dx=0;dy=1;} // 左走禁右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86500" y="57150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💡 通俗理解：就像开车不能瞬间倒车，小蛇只能“转弯”不能“回头”。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课程总结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232323">
              <a:alpha val="90000"/>
            </a:srgbClr>
          </a:solidFill>
          <a:ln w="12700" cap="flat" cmpd="sng">
            <a:solidFill>
              <a:srgbClr val="7ED321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889000" cy="889000"/>
          </a:xfrm>
          <a:prstGeom prst="roundRect">
            <a:avLst>
              <a:gd name="adj" fmla="val 22857"/>
            </a:avLst>
          </a:prstGeom>
          <a:solidFill>
            <a:srgbClr val="7ED32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6500" y="22225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159000" y="19050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01 / 键盘IO核心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159000" y="241300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DCDCDC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`_kbhit()` 检测按键 + `_getch()` 无阻塞读取，实现游戏的实时交互响应，是核心输入基础。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1524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232323">
              <a:alpha val="90000"/>
            </a:srgbClr>
          </a:solidFill>
          <a:ln w="12700" cap="flat" cmpd="sng">
            <a:solidFill>
              <a:srgbClr val="7ED321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477000" y="2032000"/>
            <a:ext cx="889000" cy="889000"/>
          </a:xfrm>
          <a:prstGeom prst="roundRect">
            <a:avLst>
              <a:gd name="adj" fmla="val 22857"/>
            </a:avLst>
          </a:prstGeom>
          <a:solidFill>
            <a:srgbClr val="7ED32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67500" y="22225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620000" y="19050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02 / 方向控制核心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0" y="241300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DCDCDC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仅需修改 `dx/dy` 方向向量，即可复用统一的移动逻辑，实现低耦合、易扩展的方向控制系统。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3810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232323">
              <a:alpha val="90000"/>
            </a:srgbClr>
          </a:solidFill>
          <a:ln w="12700" cap="flat" cmpd="sng">
            <a:solidFill>
              <a:srgbClr val="7ED321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016000" y="4318000"/>
            <a:ext cx="889000" cy="889000"/>
          </a:xfrm>
          <a:prstGeom prst="roundRect">
            <a:avLst>
              <a:gd name="adj" fmla="val 22857"/>
            </a:avLst>
          </a:prstGeom>
          <a:solidFill>
            <a:srgbClr val="7ED32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06500" y="45085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2159000" y="41910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03 / 交互优化核心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2159000" y="469900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DCDCDC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增加逻辑判断禁止180°反向移动，解决“自杀”BUG，使操作反馈更加符合玩家的直觉与游戏规则。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23000" y="3810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232323">
              <a:alpha val="90000"/>
            </a:srgbClr>
          </a:solidFill>
          <a:ln w="12700" cap="flat" cmpd="sng">
            <a:solidFill>
              <a:srgbClr val="7ED321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477000" y="4318000"/>
            <a:ext cx="889000" cy="889000"/>
          </a:xfrm>
          <a:prstGeom prst="roundRect">
            <a:avLst>
              <a:gd name="adj" fmla="val 22857"/>
            </a:avLst>
          </a:prstGeom>
          <a:solidFill>
            <a:srgbClr val="7ED32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67500" y="4508500"/>
            <a:ext cx="508000" cy="508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620000" y="41910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04 / 知识点衔接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0" y="469900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DCDCDC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无缝对接上节课的**二维数组**与**蛇移动原理**，通过循序渐进的功能升级，完成整体游戏逻辑的构建。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3175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自由控制小蛇方向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064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解锁完整贪吃蛇交互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4953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GAME INTERACTION UNLOCKED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3175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谢谢观看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191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愿你在编程世界里继续探索，发现更多乐趣！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4953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SEE YOU NEXT CLASS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930</Words>
  <Application>Microsoft Office PowerPoint</Application>
  <PresentationFormat>宽屏</PresentationFormat>
  <Paragraphs>108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Noto Sans SC</vt:lpstr>
      <vt:lpstr>Arial</vt:lpstr>
      <vt:lpstr>Roboto Mono</vt:lpstr>
      <vt:lpstr>Source Code Pro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H. Schwarz</cp:lastModifiedBy>
  <cp:revision>1</cp:revision>
  <dcterms:modified xsi:type="dcterms:W3CDTF">2026-04-13T16:23:52Z</dcterms:modified>
</cp:coreProperties>
</file>