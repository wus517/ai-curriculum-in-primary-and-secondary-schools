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31"/>
  </p:notesMasterIdLst>
  <p:sldIdLst>
    <p:sldId id="276" r:id="rId3"/>
    <p:sldId id="257" r:id="rId4"/>
    <p:sldId id="277" r:id="rId5"/>
    <p:sldId id="278" r:id="rId6"/>
    <p:sldId id="279" r:id="rId7"/>
    <p:sldId id="280" r:id="rId8"/>
    <p:sldId id="261" r:id="rId9"/>
    <p:sldId id="296" r:id="rId10"/>
    <p:sldId id="262" r:id="rId11"/>
    <p:sldId id="294" r:id="rId12"/>
    <p:sldId id="263" r:id="rId13"/>
    <p:sldId id="295" r:id="rId14"/>
    <p:sldId id="281" r:id="rId15"/>
    <p:sldId id="282" r:id="rId16"/>
    <p:sldId id="283" r:id="rId17"/>
    <p:sldId id="284" r:id="rId18"/>
    <p:sldId id="267" r:id="rId19"/>
    <p:sldId id="293" r:id="rId20"/>
    <p:sldId id="285" r:id="rId21"/>
    <p:sldId id="270" r:id="rId22"/>
    <p:sldId id="290" r:id="rId23"/>
    <p:sldId id="286" r:id="rId24"/>
    <p:sldId id="287" r:id="rId25"/>
    <p:sldId id="288" r:id="rId26"/>
    <p:sldId id="292" r:id="rId27"/>
    <p:sldId id="289" r:id="rId28"/>
    <p:sldId id="291" r:id="rId29"/>
    <p:sldId id="275" r:id="rId30"/>
  </p:sldIdLst>
  <p:sldSz cx="12192000" cy="6858000"/>
  <p:notesSz cx="6858000" cy="9144000"/>
  <p:embeddedFontLst>
    <p:embeddedFont>
      <p:font typeface="Noto Sans SC" panose="020B0200000000000000" pitchFamily="34" charset="-122"/>
      <p:regular r:id="rId32"/>
      <p:bold r:id="rId33"/>
    </p:embeddedFont>
    <p:embeddedFont>
      <p:font typeface="黑体" panose="02010609060101010101" pitchFamily="49" charset="-122"/>
      <p:regular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Source Code Pro" panose="020B0509030403020204" pitchFamily="49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7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大家好，欢迎来到今天的C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++编程课堂。今天我们将一起探索“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数组与字符串的奇妙世界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”，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学习如何在C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++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中高效地组织和处理数据。这是我们编程学习中非常重要的一部分，掌握了它们，你就能让程序处理更复杂的信息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本次课程我们将分为三个部分。首先是一维数组，我们会学习它的定义、使用和一些基本操作。接着是二维数组，了解它如何表示更复杂的数据结构。最后，我们将学习字符与字符串，掌握处理文本信息的基础。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现在，让我们进入第一部分：神奇的一维数组。想象一下，如果你有很多相同类型的物品，比如一排储物柜，每个柜子都有编号，你可以通过编号快速找到你想要的东西。一维数组就是这样一种数据结构，它能让我们的数据像排队一样整齐有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那么，到底什么是一维数组呢？简单来说，它就是一组相同类型数据的有序集合。我们给这一组数据起一个统一的名字，然后通过编号来访问其中的每一个数据。这就像我们生活中的一排储物柜，每个柜子都有编号，我们可以通过编号快速找到里面的东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在C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++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中，我们这样定义一个一维数组：首先指定数据类型，然后是数组名，最后用方括号括起数组的长度。比如，int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 scores[5];就定义了一个名为scores的数组，可以存放5个整数。我们也可以在定义的同时给数组赋值，也就是初始化，像这样int scores[5] = {90, 85, 95, 88, 92};。如果只给部分元素赋值，剩下的会自动初始化为0。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定义好数组后，我们如何访问里面的元素呢？我们使用数组名加上方括号，里面是元素的下标。这里要特别注意，数组的下标是从0开始的，也就是说，第一个元素的下标是0，第二个是1，依此类推。为了查看数组里所有的元素，我们通常会使用循环来遍历它，就像这段代码展示的这样，用一个for循环就能轻松地把所有分数都打印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了解了如何访问数组元素，我们就可以进行输入和输出操作了。输入时，我们通过循环，让用户依次输入每个元素的值。输出时，同样通过循环，把数组里的每个元素都打印出来。这样，我们就能和数组进行数据交互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学完了基础操作，我们来做个有趣的练习：找出数组中的最大值。思路很简单，我们先假设第一个数是最大的，然后拿着这个“冠军”去和后面的每个数比较，如果发现更大的，就把冠军宝座让给它。最后剩下的那个就是我们要找的最大值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接下来，我们计算数组的总和与平均值。这就像计算班级的总分和平均分一样。我们先准备一个“累加器”，初始值为0，然后把每个同学的成绩都加进去，得到总分。最后用总分除以总人数，就能得到平均分了。注意，为了得到小数结果，我们要用浮点数来计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一维数组像一条线，那么二维数组就像一个面，一个表格或者一个矩阵。它非常适合用来表示有行和列结构的数据，比如一个班级的成绩表、一个棋盘等等。接下来，我们就来学习如何使用这个强大的工具。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二维数组，顾名思义，就是有两个维度的数组。我们可以把它想象成一个Excel表格，有行和列。要确定一个单元格的位置，我们需要知道它在第几行、第几列。同样，在二维数组中，我们需要两个下标来访问一个元素，第一个下标代表行，第二个下标代表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定义二维数组和一维数组类似，只是需要指定行数和列数。比如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 int matrix[3][4]; 就定义了一个3行4列的二维数组。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初始化时，我们可以用大括号嵌套的方式，外层大括号代表行，内层大括号代表每行的元素。我们也可以省略行数，让编译器根据初始化的数据自动推断。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遍历二维数组稍微复杂一点，需要用到嵌套循环。我们用一个外层循环来控制行数，每循环一次，就处理一行数据。然后在这个外层循环里面，再用一个内层循环来控制该行的列数，逐个输出元素。这样，我们就能把整个二维数组像表格一样打印出来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让我们用一个简单的例子来巩固一下。这里我们定义了一个3x3的矩阵，并通过嵌套循环将其按行输出。注意，在内层循环结束后，我们需要输出一个换行符，这样才能让矩阵的每一行都显示在正确的位置上。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数据不只是数字，还有文字。在编程中，我们如何处理文本信息呢？这就需要用到字符和字符串。接下来，我们将学习如何在C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++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中表示和操作字符与字符串，这是处理文本数据的基础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在计算机中，所有数据都是以数字形式存储的。字符也不例外，每个字符都有一个对应的数字编码，这就是ASCII码。例如，大写字母A对应的是数字65。我们可以把char类型的变量看作是存储这些数字的容器。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D670-8235-2689-1D64-B26BA880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DAACC2-6060-DAF2-8362-8FE6AE1017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DEBF9-573D-DD33-B0E2-BDF1BE682D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9653C9A-47B8-9064-970F-38A1EE9DE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5F5ADA4-67B6-4D73-0B7F-3E441D22F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在计算机中，所有数据都是以数字形式存储的。字符也不例外，每个字符都有一个对应的数字编码，这就是ASCII码。例如，大写字母A对应的是数字65。我们可以把char类型的变量看作是存储这些数字的容器。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F2CF9-76AC-1679-F126-22CB588431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6B471-E63A-AE6B-13BF-B91A3F1E4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57399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当我们需要处理多个字符，也就是一串文字时，就可以使用字符数组，这也被称为C风格字符串。我们可以像定义普通数组一样定义它，比如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 char greeting[] = "Hello, C++";。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这里有一个非常重要的规则：C风格字符串的末尾必须有一个特殊的结束符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'\0'，它标志着字符串的结束。幸运的是，当我们用双引号初始化字符串时，编译器会自动帮我们加上这个结束符。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输入字符串时，我们有两种常用的方法。第一种是使用cin，但它有个缺点，就是遇到空格就会停止输入。比如你输入“Zhang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 San”，它只会读取“Zhang”。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第二种方法是使用cin.getline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()，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它可以读取整行输入，包括空格，直到按下回车键为止。这在需要输入完整句子或包含空格的信息时非常有用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我们来写一个小程序，计算一个字符串的长度。思路很简单：我们从字符串的第一个字符开始，逐个向后数，直到遇到结束符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'\0'为止。数过的字符个数就是字符串的长度。这个例子帮助我们理解字符串结束符的作用，以及如何手动遍历字符串。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最后一个例子，我们来学习如何将两个字符串拼接在一起。首先，我们找到第一个字符串的结束符位置，然后从这个位置开始，把第二个字符串的每个字符依次复制过来，最后别忘了在新字符串的末尾加上结束符'\0'。这样，两个字符串就成功地合并成一个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非常好！今天我们学习了一维数组、二维数组以及字符与字符串的基础知识和常用操作。这些都是C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++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编程中非常重要的工具，希望大家能够理解并熟练运用。课后请多做练习，巩固今天所学的内容。我们下次课再见</a:t>
            </a:r>
            <a:r>
              <a:rPr lang="en-US" sz="1400" b="0" i="0" u="none" strike="noStrike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Songti SC"/>
                <a:sym typeface="Songti SC"/>
              </a:rPr>
              <a:t>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jpeg"/><Relationship Id="rId4" Type="http://schemas.openxmlformats.org/officeDocument/2006/relationships/image" Target="../media/image2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svg"/><Relationship Id="rId5" Type="http://schemas.openxmlformats.org/officeDocument/2006/relationships/image" Target="../media/image8.svg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1651000"/>
            <a:ext cx="10160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70000" y="2032000"/>
            <a:ext cx="965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数组与字符串的奇妙世界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8594">
            <a:off x="3556008" y="29146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2286000" y="3175000"/>
            <a:ext cx="762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7ED3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探索C</a:t>
            </a:r>
            <a:r>
              <a:rPr lang="en-US" sz="2400" b="0" i="0" u="none" strike="noStrike" dirty="0">
                <a:solidFill>
                  <a:srgbClr val="7ED3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++</a:t>
            </a:r>
            <a:r>
              <a:rPr lang="en-US" sz="2400" b="0" i="0" u="none" strike="noStrike" dirty="0" err="1">
                <a:solidFill>
                  <a:srgbClr val="7ED3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/>
                <a:sym typeface="Noto Sans SC"/>
              </a:rPr>
              <a:t>中的数据组织艺术</a:t>
            </a:r>
            <a:endParaRPr 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70000" y="4699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842000" y="4699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414000" y="4699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2235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课程导航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97000"/>
            <a:ext cx="1016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8288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7999" y="1524000"/>
            <a:ext cx="9496641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一维数组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数组的定义与初始化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数组元素的访问与遍历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数组的输入与输出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求最大值、最小值、求和、求平均</a:t>
            </a:r>
            <a:endParaRPr lang="en-US" sz="16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2857500"/>
            <a:ext cx="1016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F5A62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32893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984500"/>
            <a:ext cx="889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二维数组的定义与使用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行列遍历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简单应用（如矩阵输出、棋盘问题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1016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749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4445000"/>
            <a:ext cx="889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字符与字符串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char类型与ASCII码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字符数组（C风格字符串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cin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cin.getline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) · 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遍历与操作（长度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比较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拼接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032000" y="2032000"/>
            <a:ext cx="8128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3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91200" y="2286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327400" y="2984500"/>
            <a:ext cx="5537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第一部分：神奇的一维数组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84700" y="36830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让数据排排站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6000" y="2286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601200" y="42672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74330"/>
            <a:ext cx="44704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什么是一维数组？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12272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101600" dir="27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66272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40872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926672"/>
            <a:ext cx="4479636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数组是一组</a:t>
            </a:r>
            <a:r>
              <a:rPr lang="en-US" sz="2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相同类型数据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的有序集合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它使用统一的名字（数组名）和不同的</a:t>
            </a:r>
            <a:r>
              <a:rPr lang="en-US" sz="2000" b="1" i="0" u="none" strike="noStrike" dirty="0" err="1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编号（下标）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来访问每个数据项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2012272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27000" dist="101600" dir="27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266272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2240872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生活中的例子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926672"/>
            <a:ext cx="4572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</a:t>
            </a:r>
            <a:r>
              <a:rPr lang="en-US" sz="2000" b="1" i="0" u="none" strike="noStrike" dirty="0" err="1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一排储物柜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柜子编号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→</a:t>
            </a:r>
            <a:r>
              <a:rPr lang="en-US" sz="20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数组下标</a:t>
            </a:r>
            <a:endParaRPr lang="en-US" sz="2000" b="0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柜子物品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→</a:t>
            </a:r>
            <a:r>
              <a:rPr lang="en-US" sz="2000" b="0" i="0" u="none" strike="noStrike" dirty="0" err="1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数组元素</a:t>
            </a:r>
            <a:endParaRPr lang="en-US" sz="2000" b="0" i="0" u="none" strike="noStrike" dirty="0">
              <a:solidFill>
                <a:srgbClr val="7ED3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一维数组的定义与初始化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524000"/>
            <a:ext cx="939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数组是一组相同类型数据的集合</a:t>
            </a:r>
            <a:r>
              <a:rPr lang="en-US" sz="20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在C</a:t>
            </a:r>
            <a:r>
              <a:rPr lang="en-US" sz="20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++</a:t>
            </a:r>
            <a:r>
              <a:rPr lang="en-US" sz="20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中，数组长度必须是固定的，且存储在连续的内存空间中</a:t>
            </a:r>
            <a:r>
              <a:rPr lang="en-US" sz="20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📖 语法格式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238500"/>
            <a:ext cx="4699000" cy="952500"/>
          </a:xfrm>
          <a:prstGeom prst="roundRect">
            <a:avLst>
              <a:gd name="adj" fmla="val 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302000"/>
            <a:ext cx="4445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4A90E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数据类型</a:t>
            </a:r>
            <a:r>
              <a:rPr lang="en-US" sz="1800" b="1" i="0" u="none" strike="noStrike" dirty="0">
                <a:solidFill>
                  <a:srgbClr val="4A90E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sz="1800" b="0" i="0" u="none" strike="noStrike" dirty="0" err="1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数组名</a:t>
            </a:r>
            <a:r>
              <a:rPr lang="en-US" sz="1800" b="0" i="0" u="none" strike="noStrike" dirty="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[</a:t>
            </a:r>
            <a:r>
              <a:rPr lang="en-US" sz="1800" b="0" i="0" u="none" strike="noStrike" dirty="0" err="1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数组长度</a:t>
            </a:r>
            <a:r>
              <a:rPr lang="en-US" sz="1800" b="0" i="0" u="none" strike="noStrike" dirty="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];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4646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400" b="0" i="0" u="none" strike="noStrike" dirty="0" err="1">
                <a:solidFill>
                  <a:srgbClr val="64646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例如：int</a:t>
            </a:r>
            <a:r>
              <a:rPr lang="en-US" sz="1400" b="0" i="0" u="none" strike="noStrike" dirty="0">
                <a:solidFill>
                  <a:srgbClr val="64646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sz="1400" b="0" i="0" u="none" strike="noStrike" dirty="0" err="1">
                <a:solidFill>
                  <a:srgbClr val="64646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arr</a:t>
            </a:r>
            <a:r>
              <a:rPr lang="en-US" sz="1400" b="0" i="0" u="none" strike="noStrike" dirty="0">
                <a:solidFill>
                  <a:srgbClr val="64646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[5];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2667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💡 初始化规则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302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3238500"/>
            <a:ext cx="406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若只初始化部分元素，未赋值的元素会自动填充为 0。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💻 代码示例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207000"/>
            <a:ext cx="10160000" cy="889000"/>
          </a:xfrm>
          <a:prstGeom prst="roundRect">
            <a:avLst>
              <a:gd name="adj" fmla="val 8333"/>
            </a:avLst>
          </a:prstGeom>
          <a:solidFill>
            <a:srgbClr val="7ED32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43000" y="5334000"/>
            <a:ext cx="990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</a:t>
            </a:r>
            <a:r>
              <a:rPr lang="en-US" altLang="zh-CN" sz="1800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arr</a:t>
            </a:r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[3]; //</a:t>
            </a:r>
            <a:r>
              <a:rPr lang="zh-CN" altLang="en-US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默认全为</a:t>
            </a:r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</a:p>
          <a:p>
            <a:pPr>
              <a:defRPr/>
            </a:pPr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</a:t>
            </a:r>
            <a:r>
              <a:rPr lang="en-US" altLang="zh-CN" sz="1800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nums</a:t>
            </a:r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[5] = {1, 2}; // 部分初始化，其余为0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scores[5] = {90, 85, 95, 88, 92}; //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完全初始化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9408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数组元素的访问与遍历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524000" y="152400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457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通过“数组名[下标]”访问元素，下标从0开始。遍历数组通常使用循环语句逐个访问元素。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3238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524000" y="317500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遍历逻辑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457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1. 初始化循环变量 i = 0（对应第一个元素）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2. 条件 i &lt; 数组长度（避免下标越界）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3. 每次循环 i++，访问数组第 i 个元素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1524000" y="508000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5245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数组下标从0开始，长度为n的数组，最后一个元素下标是n-1。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397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77000" y="1587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1524000"/>
            <a:ext cx="419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代码实战：遍历数组并输出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032000"/>
            <a:ext cx="4699000" cy="2794000"/>
          </a:xfrm>
          <a:prstGeom prst="roundRect">
            <a:avLst>
              <a:gd name="adj" fmla="val 4545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04000" y="2159000"/>
            <a:ext cx="44450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int scores[5] = {90, 85, 95, 88, 92};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for(int i = 0; i &lt; 5; i++) {</a:t>
            </a:r>
          </a:p>
          <a:p>
            <a:pPr marL="254000"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cout &lt;&lt; "第" &lt;&lt; i+1 &lt;&lt; "个分数：" &lt;&lt; scores[i] &lt;&lt; endl;</a:t>
            </a:r>
          </a:p>
          <a:p>
            <a:pPr indent="0" algn="l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477000" y="5080000"/>
            <a:ext cx="4699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604000" y="5270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6985000" y="5207000"/>
            <a:ext cx="3937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循环变量 i 既是计数器也是下标，i+1 用于展示直观的序号，scores[i] 才是真正访问数组。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数组的输入与输出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637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524000"/>
            <a:ext cx="8890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</a:t>
            </a: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cin 和循环结合，逐个输入元素的值。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cout 和循环结合，逐个输出元素的值。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📖 核心逻辑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65500"/>
            <a:ext cx="4699000" cy="889000"/>
          </a:xfrm>
          <a:prstGeom prst="roundRect">
            <a:avLst>
              <a:gd name="adj" fmla="val 7142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4290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利用循环变量作为数组下标，遍历数组的每一个元素进行读写操作。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794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921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📊 原理图解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77000" y="3302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7620000" y="3302000"/>
            <a:ext cx="3429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数据流向：输入框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数组存储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输出框展示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💻 代码示例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270500"/>
            <a:ext cx="10160000" cy="1079500"/>
          </a:xfrm>
          <a:prstGeom prst="roundRect">
            <a:avLst>
              <a:gd name="adj" fmla="val 5882"/>
            </a:avLst>
          </a:prstGeom>
          <a:solidFill>
            <a:srgbClr val="7ED32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43000" y="5334000"/>
            <a:ext cx="990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arr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[3]; 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for(int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=0;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&lt;3;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++)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cin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&gt;&gt;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arr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];</a:t>
            </a:r>
            <a:r>
              <a:rPr lang="zh-CN" alt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altLang="zh-CN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zh-CN" alt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输入</a:t>
            </a:r>
            <a:r>
              <a:rPr lang="en-US" altLang="zh-CN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lang="en-US" sz="1100" dirty="0"/>
          </a:p>
          <a:p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for(int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=0;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&lt;3;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++)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cout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&lt;&lt;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arr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 &lt;&lt; " ";</a:t>
            </a:r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// </a:t>
            </a:r>
            <a:r>
              <a:rPr lang="en-US" altLang="zh-CN" sz="1800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输出</a:t>
            </a:r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lang="en-US" sz="1800" b="0" i="0" u="none" strike="noStrike" dirty="0">
              <a:solidFill>
                <a:srgbClr val="32323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8908DD6-83F1-BD72-44DA-109B2026B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60" y="484379"/>
            <a:ext cx="9750567" cy="56603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4362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趣味小例子：求数组最大值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711200"/>
          </a:xfrm>
          <a:prstGeom prst="roundRect">
            <a:avLst>
              <a:gd name="adj" fmla="val 14285"/>
            </a:avLst>
          </a:prstGeom>
          <a:solidFill>
            <a:srgbClr val="7ED321">
              <a:alpha val="15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1573567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524000" y="1500819"/>
            <a:ext cx="889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问题：找出一个成绩数组中的最高分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2279341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5A623">
              <a:alpha val="15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2647641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524000" y="2406341"/>
            <a:ext cx="8890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代码逻辑：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假设首元素为最大值；2. 遍历数组逐一比较；3. 发现更大值则更新。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588059"/>
            <a:ext cx="10668000" cy="2152341"/>
          </a:xfrm>
          <a:prstGeom prst="roundRect">
            <a:avLst>
              <a:gd name="adj" fmla="val 8333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4368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524000" y="3405696"/>
            <a:ext cx="8890000" cy="246441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</a:t>
            </a: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int scores[] = {90, 85, 95, 88, 92}; 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int max = scores[0];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for(int </a:t>
            </a:r>
            <a:r>
              <a:rPr lang="en-US" sz="1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=1; </a:t>
            </a:r>
            <a:r>
              <a:rPr lang="en-US" sz="1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&lt;5; </a:t>
            </a:r>
            <a:r>
              <a:rPr lang="en-US" sz="1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++) { 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if(scores[</a:t>
            </a:r>
            <a:r>
              <a:rPr lang="en-US" sz="1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]&gt;max) </a:t>
            </a:r>
          </a:p>
          <a:p>
            <a:pPr indent="0" algn="l">
              <a:lnSpc>
                <a:spcPct val="125000"/>
              </a:lnSpc>
            </a:pPr>
            <a:r>
              <a:rPr lang="en-US" sz="16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 </a:t>
            </a: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max=scores[</a:t>
            </a:r>
            <a:r>
              <a:rPr lang="en-US" sz="1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]; 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8674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7ED321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60579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简单的</a:t>
            </a:r>
            <a:r>
              <a:rPr lang="en-US" sz="2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遍历与比较</a:t>
            </a:r>
            <a:r>
              <a:rPr lang="en-US" sz="20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，让程序找到数组中的“冠军</a:t>
            </a:r>
            <a:r>
              <a:rPr lang="en-US" sz="20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”！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FF0E39D-8DFE-7FCC-E4E5-AE038A2DC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855" y="590743"/>
            <a:ext cx="9858653" cy="5637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9835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趣味小例子：数组求和与平均值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7ED321">
              <a:alpha val="15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16383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524000" y="1587500"/>
            <a:ext cx="889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问题：计算一个成绩数组的总分和平均分。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5A623">
              <a:alpha val="15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2717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524000" y="2667000"/>
            <a:ext cx="889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逻辑：1. 初始化总和为0；2. 遍历数组累加元素；3. 平均分 = 总和 / 元素个数。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5999"/>
            <a:ext cx="10668000" cy="2128175"/>
          </a:xfrm>
          <a:prstGeom prst="roundRect">
            <a:avLst>
              <a:gd name="adj" fmla="val 7692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41783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524000" y="3448975"/>
            <a:ext cx="8890000" cy="2235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</a:t>
            </a: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int scores[] = {90, 85, 95, 88, 92}; 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int sum = 0;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for(int </a:t>
            </a:r>
            <a:r>
              <a:rPr lang="en-US" sz="18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8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= 0; </a:t>
            </a:r>
            <a:r>
              <a:rPr lang="en-US" sz="18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8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&lt; 5; </a:t>
            </a:r>
            <a:r>
              <a:rPr lang="en-US" sz="18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8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++) { sum += scores[</a:t>
            </a:r>
            <a:r>
              <a:rPr lang="en-US" sz="18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8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]; }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double average = sum / 5.0; 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cout</a:t>
            </a:r>
            <a:r>
              <a:rPr lang="en-US" sz="18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&lt;&lt; "</a:t>
            </a:r>
            <a:r>
              <a:rPr lang="en-US" sz="18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总分</a:t>
            </a:r>
            <a:r>
              <a:rPr lang="en-US" sz="18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：" &lt;&lt; sum &lt;&lt; " </a:t>
            </a:r>
            <a:r>
              <a:rPr lang="en-US" sz="18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平均分</a:t>
            </a:r>
            <a:r>
              <a:rPr lang="en-US" sz="18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：" &lt;&lt; average;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79083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7ED321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604483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简单的</a:t>
            </a: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循环与累加</a:t>
            </a:r>
            <a:r>
              <a:rPr lang="en-US" sz="2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，让程序轻松算出平均分！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34ED83-CE53-7A04-AB36-4D5BF65C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71" y="593329"/>
            <a:ext cx="9802334" cy="54657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2946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032000" y="2032000"/>
            <a:ext cx="8128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3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91200" y="2286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578100" y="2984500"/>
            <a:ext cx="70358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第二部分：强大的二维数组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84700" y="36830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数据的二维矩阵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6000" y="2286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601200" y="42672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31983"/>
            <a:ext cx="44704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什么是二维数组</a:t>
            </a:r>
            <a:r>
              <a:rPr lang="en-US" sz="4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893455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101600" dir="27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47455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122055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2870200"/>
            <a:ext cx="4572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二维数组可以看作是</a:t>
            </a:r>
            <a:r>
              <a:rPr lang="en-US" sz="2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“数组的数组</a:t>
            </a:r>
            <a:r>
              <a:rPr lang="en-US" sz="2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它包含</a:t>
            </a:r>
            <a:r>
              <a:rPr lang="en-US" sz="2000" b="1" i="0" u="none" strike="noStrike" dirty="0" err="1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行和列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两个维度，专门用于表示表格或矩阵形式的数据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893455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27000" dist="101600" dir="27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147455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604000" y="2109355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生活中的例子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604000" y="2655455"/>
            <a:ext cx="4572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</a:t>
            </a:r>
            <a:r>
              <a:rPr lang="en-US" sz="2000" b="1" i="0" u="none" strike="noStrike" dirty="0" err="1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表格</a:t>
            </a:r>
            <a:r>
              <a:rPr lang="zh-CN" altLang="en-US" sz="2000" b="1" i="0" u="none" strike="noStrike" dirty="0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、棋盘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表格有行（Row）和列（Column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定位单元格需行列号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二维数组同理：第一个下标表示</a:t>
            </a:r>
            <a:r>
              <a:rPr lang="en-US" sz="20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行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，第二个下标表示</a:t>
            </a:r>
            <a:r>
              <a:rPr lang="en-US" sz="2000" b="0" i="0" u="none" strike="noStrike" dirty="0" err="1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列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596D19-4EFC-E3B3-F86F-302D166EED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56200" y="159905"/>
            <a:ext cx="1651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二维数组的定义与初始化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002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524000"/>
            <a:ext cx="939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二维数组可以看作是一个表格，由行和列组成</a:t>
            </a:r>
            <a:r>
              <a:rPr lang="en-US" sz="20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定义时需要指定行数和列数，用于存储表格化的数据</a:t>
            </a:r>
            <a:r>
              <a:rPr lang="en-US" sz="20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📖 语法格式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238500"/>
            <a:ext cx="4699000" cy="952500"/>
          </a:xfrm>
          <a:prstGeom prst="roundRect">
            <a:avLst>
              <a:gd name="adj" fmla="val 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302000"/>
            <a:ext cx="4445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数据类型 数组名[行数][列数];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667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💡 初始化规则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302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3238500"/>
            <a:ext cx="406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内层大括号代表行，元素用逗号分隔。行数可省略，由初始化列表自动推断。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10668000" cy="1778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💻 </a:t>
            </a:r>
            <a:r>
              <a:rPr lang="en-US" sz="2200" b="1" i="0" u="none" strike="noStrike" dirty="0" err="1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925945" y="5238750"/>
            <a:ext cx="10160000" cy="1111250"/>
          </a:xfrm>
          <a:prstGeom prst="roundRect">
            <a:avLst>
              <a:gd name="adj" fmla="val 8333"/>
            </a:avLst>
          </a:prstGeom>
          <a:solidFill>
            <a:srgbClr val="7ED32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26836" y="5060373"/>
            <a:ext cx="9906000" cy="149224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matrix[2][3] = {{1,2,3}, {4,5,6}}; //</a:t>
            </a:r>
            <a:r>
              <a:rPr lang="zh-CN" altLang="en-US" sz="1800" dirty="0"/>
              <a:t>标准分行初始化</a:t>
            </a:r>
            <a:endParaRPr lang="en-US" sz="1800" b="0" i="0" u="none" strike="noStrike" dirty="0">
              <a:solidFill>
                <a:srgbClr val="32323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>
              <a:lnSpc>
                <a:spcPct val="125000"/>
              </a:lnSpc>
            </a:pPr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matrix[2][3] = {1,2,3,4,5,6}; //</a:t>
            </a:r>
            <a:r>
              <a:rPr lang="zh-CN" altLang="en-US" sz="1800" dirty="0"/>
              <a:t>直接写所有元素，编译器自动按列数分割行</a:t>
            </a:r>
            <a:endParaRPr lang="en-US" altLang="zh-CN" sz="1800" dirty="0">
              <a:solidFill>
                <a:srgbClr val="32323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</a:t>
            </a:r>
            <a:r>
              <a:rPr lang="en-US" sz="1800" b="0" i="0" u="none" strike="noStrike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arr</a:t>
            </a:r>
            <a:r>
              <a:rPr lang="en-US" sz="1800" b="0" i="0" u="none" strike="noStrike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[][4] = {1,2,3,4,5,6,7,8};//</a:t>
            </a:r>
            <a:r>
              <a:rPr lang="zh-CN" altLang="en-US" sz="1800" dirty="0"/>
              <a:t>列数</a:t>
            </a:r>
            <a:r>
              <a:rPr lang="en-US" altLang="zh-CN" sz="1800" dirty="0"/>
              <a:t>=4</a:t>
            </a:r>
            <a:r>
              <a:rPr lang="zh-CN" altLang="en-US" sz="1800" dirty="0"/>
              <a:t>，初始化了</a:t>
            </a:r>
            <a:r>
              <a:rPr lang="en-US" altLang="zh-CN" sz="1800" dirty="0"/>
              <a:t>8</a:t>
            </a:r>
            <a:r>
              <a:rPr lang="zh-CN" altLang="en-US" sz="1800" dirty="0"/>
              <a:t>个元素 → 行数</a:t>
            </a:r>
            <a:r>
              <a:rPr lang="en-US" altLang="zh-CN" sz="1800" dirty="0"/>
              <a:t>=2</a:t>
            </a:r>
            <a:endParaRPr lang="en-US" sz="1800" b="0" i="0" u="none" strike="noStrike" dirty="0">
              <a:solidFill>
                <a:srgbClr val="32323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61468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二维数组的行列遍历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524000" y="152400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457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遍历二维数组需要使用嵌套循环，外层循环控制行，内层循环控制列，逐行逐列访问元素。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3238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524000" y="317500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遍历逻辑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457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外层循环(i)：每循环一次，锁定一行。</a:t>
            </a:r>
            <a:b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内层循环(j)：遍历当前行的所有列元素。</a:t>
            </a:r>
            <a:b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换行操作：每行遍历结束后进行换行输出。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1524000" y="508000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524500"/>
            <a:ext cx="4673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外层控制行数，内层控制列数，注意数组索引越界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6223000" y="1397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77000" y="1587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1524000"/>
            <a:ext cx="419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代码实战：遍历3x3矩阵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032000"/>
            <a:ext cx="4699000" cy="2794000"/>
          </a:xfrm>
          <a:prstGeom prst="roundRect">
            <a:avLst>
              <a:gd name="adj" fmla="val 4545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04000" y="2159000"/>
            <a:ext cx="44450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int matrix[3][3] = {{1,2,3}, {4,5,6}, {7,8,9}};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for(int i = 0; i &lt; 3; i++) {</a:t>
            </a:r>
            <a:r>
              <a:rPr lang="en-US" sz="16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// 外层：行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for(int j = 0; j &lt; 3; j++) {</a:t>
            </a:r>
            <a:r>
              <a:rPr lang="en-US" sz="16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// 内层：列</a:t>
            </a:r>
          </a:p>
          <a:p>
            <a:pPr marL="50800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cout &lt;&lt; matrix[i][j] &lt;&lt; " ";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cout &lt;&lt; endl;</a:t>
            </a:r>
            <a:r>
              <a:rPr lang="en-US" sz="16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// 换行</a:t>
            </a:r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477000" y="5080000"/>
            <a:ext cx="4699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604000" y="5270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6985000" y="5207000"/>
            <a:ext cx="3937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外层循环执行一次，内层循环执行一轮（遍历完一行所有元素</a:t>
            </a:r>
            <a:r>
              <a:rPr lang="en-US" sz="14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</a:t>
            </a:r>
            <a:r>
              <a:rPr lang="en-US" altLang="zh-CN" sz="4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2 </a:t>
            </a:r>
            <a:r>
              <a:rPr lang="zh-CN" altLang="en-US" sz="4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阶矩阵加法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7ED321">
              <a:alpha val="15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16383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524000" y="1587500"/>
            <a:ext cx="889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两个 </a:t>
            </a:r>
            <a:r>
              <a:rPr lang="en-US" altLang="zh-CN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2×2 </a:t>
            </a:r>
            <a:r>
              <a:rPr lang="zh-CN" alt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小矩阵，对应位置相加，输出结果矩阵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10668000" cy="4118264"/>
          </a:xfrm>
          <a:prstGeom prst="roundRect">
            <a:avLst>
              <a:gd name="adj" fmla="val 7692"/>
            </a:avLst>
          </a:prstGeom>
          <a:solidFill>
            <a:srgbClr val="F5A623">
              <a:alpha val="15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3098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524000" y="2363355"/>
            <a:ext cx="3297382" cy="423140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</a:t>
            </a:r>
            <a:r>
              <a:rPr lang="en-US" sz="2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int a[2][2] = {{1,2},{3,4}};   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int b[2][2] = {{5,6},{7,8}};    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int res[2][2]; // </a:t>
            </a:r>
            <a:r>
              <a:rPr lang="zh-CN" alt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存放结果</a:t>
            </a:r>
            <a:endParaRPr lang="en-US" altLang="zh-CN" sz="1800" b="1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zh-CN" alt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endParaRPr lang="en-US" altLang="zh-CN" sz="1800" b="1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altLang="zh-CN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// </a:t>
            </a:r>
            <a:r>
              <a:rPr lang="zh-CN" alt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矩阵相加   </a:t>
            </a:r>
            <a:endParaRPr lang="en-US" altLang="zh-CN" sz="1800" b="1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for(int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= 0;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&lt; 2;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++)</a:t>
            </a:r>
            <a:r>
              <a:rPr lang="en-US" altLang="zh-CN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{</a:t>
            </a: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for(int j = 0; j &lt; 2; </a:t>
            </a:r>
            <a:r>
              <a:rPr lang="en-US" altLang="zh-CN" sz="1800" b="1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j++</a:t>
            </a:r>
            <a:r>
              <a:rPr lang="en-US" altLang="zh-CN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){</a:t>
            </a: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res[</a:t>
            </a:r>
            <a:r>
              <a:rPr lang="en-US" altLang="zh-CN" sz="1800" b="1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altLang="zh-CN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][j] = a[</a:t>
            </a:r>
            <a:r>
              <a:rPr lang="en-US" altLang="zh-CN" sz="1800" b="1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altLang="zh-CN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][j] + b[</a:t>
            </a:r>
            <a:r>
              <a:rPr lang="en-US" altLang="zh-CN" sz="1800" b="1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altLang="zh-CN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][j];</a:t>
            </a: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}</a:t>
            </a:r>
            <a:endParaRPr lang="en-US" altLang="zh-CN" sz="1800" b="1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altLang="zh-CN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endParaRPr lang="en-US" sz="2000" b="1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id="{A858F1C6-E21D-76FA-76A8-B228AAB6475E}"/>
              </a:ext>
            </a:extLst>
          </p:cNvPr>
          <p:cNvSpPr/>
          <p:nvPr/>
        </p:nvSpPr>
        <p:spPr>
          <a:xfrm>
            <a:off x="5823528" y="2745509"/>
            <a:ext cx="4752109" cy="308840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</a:pPr>
            <a:r>
              <a:rPr lang="en-US" altLang="zh-CN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// </a:t>
            </a:r>
            <a:r>
              <a:rPr lang="zh-CN" alt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输出结果矩阵   </a:t>
            </a:r>
            <a:endParaRPr lang="en-US" altLang="zh-CN" sz="1800" b="1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cout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&lt;&lt; "</a:t>
            </a:r>
            <a:r>
              <a:rPr lang="zh-CN" alt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矩阵相加结果：</a:t>
            </a:r>
            <a:r>
              <a:rPr lang="en-US" altLang="zh-CN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" &lt;&lt;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endl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;    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for(int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= 0;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&lt; 2;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++)  {        </a:t>
            </a:r>
          </a:p>
          <a:p>
            <a:pPr indent="0" algn="l">
              <a:lnSpc>
                <a:spcPct val="125000"/>
              </a:lnSpc>
            </a:pPr>
            <a:r>
              <a:rPr lang="en-US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for(int j = 0; j &lt; 2;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j++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altLang="zh-CN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{</a:t>
            </a: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altLang="zh-CN" sz="1800" b="1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cout</a:t>
            </a:r>
            <a:r>
              <a:rPr lang="en-US" altLang="zh-CN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&lt;&lt; res[</a:t>
            </a:r>
            <a:r>
              <a:rPr lang="en-US" altLang="zh-CN" sz="1800" b="1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altLang="zh-CN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][j] &lt;&lt; " ";</a:t>
            </a:r>
            <a:endParaRPr lang="en-US" altLang="zh-CN" sz="1800" b="1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altLang="zh-CN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}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  <a:p>
            <a:pPr indent="0" algn="l">
              <a:lnSpc>
                <a:spcPct val="125000"/>
              </a:lnSpc>
            </a:pPr>
            <a:r>
              <a:rPr lang="en-US" sz="18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cout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&lt;&lt;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endl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;   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endParaRPr lang="en-US" sz="2000" b="1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B36AD0-1DED-DCBC-B02E-3AD7CD95B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397" y="111529"/>
            <a:ext cx="7874548" cy="66349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2966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032000" y="2032000"/>
            <a:ext cx="8128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3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91200" y="2286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327400" y="2984500"/>
            <a:ext cx="5537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第三部分：字符与字符串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84700" y="36830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处理文本的基础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6000" y="2286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601200" y="42672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901700"/>
            <a:ext cx="72644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char类型与ASCII码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2068945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101600" dir="27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22945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97545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基本概念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830945"/>
            <a:ext cx="46736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char类型：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用于存储单个字符，如字母、数字、符号等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ASCII码：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是字符的数字表示，每个字符都对应一个唯一的整数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2068945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27000" dist="101600" dir="27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04000" y="2322945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112000" y="2297545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典型示例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830945"/>
            <a:ext cx="4826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键盘上的每一个按键（如</a:t>
            </a:r>
            <a:r>
              <a:rPr lang="en-US" altLang="zh-CN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'A'</a:t>
            </a: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'5'</a:t>
            </a: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'#'</a:t>
            </a: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），在计算机中都对应一个唯一的</a:t>
            </a:r>
            <a:r>
              <a:rPr lang="en-US" altLang="zh-CN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ASCII</a:t>
            </a: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码值。</a:t>
            </a:r>
            <a:endParaRPr lang="en-US" sz="20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defRPr/>
            </a:pP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字符</a:t>
            </a:r>
            <a:r>
              <a:rPr lang="en-US" sz="2000" b="1" i="0" u="none" strike="noStrike" dirty="0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'A'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的ASCII码是</a:t>
            </a:r>
            <a:r>
              <a:rPr lang="en-US" sz="2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65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字符</a:t>
            </a:r>
            <a:r>
              <a:rPr lang="en-US" sz="2000" b="1" i="0" u="none" strike="noStrike" dirty="0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'a'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的ASCII码是</a:t>
            </a:r>
            <a:r>
              <a:rPr lang="en-US" sz="2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97</a:t>
            </a:r>
          </a:p>
          <a:p>
            <a:pPr indent="0" algn="l">
              <a:lnSpc>
                <a:spcPct val="108333"/>
              </a:lnSpc>
            </a:pP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字符</a:t>
            </a:r>
            <a:r>
              <a:rPr lang="en-US" sz="2000" b="1" i="0" u="none" strike="noStrike" dirty="0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'0'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的ASCII码是</a:t>
            </a:r>
            <a:r>
              <a:rPr lang="en-US" sz="2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48</a:t>
            </a:r>
          </a:p>
        </p:txBody>
      </p:sp>
      <p:sp>
        <p:nvSpPr>
          <p:cNvPr id="11" name="AutoShape 11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DAD95-390C-4128-953E-38468C159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11">
            <a:extLst>
              <a:ext uri="{FF2B5EF4-FFF2-40B4-BE49-F238E27FC236}">
                <a16:creationId xmlns:a16="http://schemas.microsoft.com/office/drawing/2014/main" id="{00F21BE4-FBEF-1595-8143-D66A20704574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7D878F-E58F-397F-18DF-86E96D526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915" y="166025"/>
            <a:ext cx="5352854" cy="627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136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字符数组（C风格字符串）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002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524000"/>
            <a:ext cx="939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200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字符数组是存储字符串的字符序列</a:t>
            </a:r>
            <a:r>
              <a:rPr lang="en-US" altLang="zh-CN" sz="200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200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必须以特殊字符</a:t>
            </a:r>
            <a:r>
              <a:rPr lang="en-US" altLang="zh-CN" sz="2000" b="1" dirty="0">
                <a:solidFill>
                  <a:srgbClr val="F5A62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'\0'</a:t>
            </a:r>
            <a:r>
              <a:rPr lang="en-US" altLang="zh-CN" sz="200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（空字符）结尾，标志字符串结束。</a:t>
            </a:r>
            <a:endParaRPr lang="en-US" altLang="zh-CN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📖 语法格式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238500"/>
            <a:ext cx="4699000" cy="952500"/>
          </a:xfrm>
          <a:prstGeom prst="roundRect">
            <a:avLst>
              <a:gd name="adj" fmla="val 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302000"/>
            <a:ext cx="4445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char 字符串名[长度];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667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💡 重要提示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302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3238500"/>
            <a:ext cx="406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必须以 '\0' (空字符) 结束。双引号初始化时编译器会自动添加。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💻 代码示例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270500"/>
            <a:ext cx="10160000" cy="762000"/>
          </a:xfrm>
          <a:prstGeom prst="roundRect">
            <a:avLst>
              <a:gd name="adj" fmla="val 8333"/>
            </a:avLst>
          </a:prstGeom>
          <a:solidFill>
            <a:srgbClr val="7ED32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43000" y="5334000"/>
            <a:ext cx="990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char str[] = "Hello"; // </a:t>
            </a:r>
            <a:r>
              <a:rPr lang="en-US" altLang="zh-CN" sz="1800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自动加</a:t>
            </a:r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'\0'</a:t>
            </a:r>
            <a:endParaRPr lang="en-US" altLang="zh-CN" sz="1100" dirty="0"/>
          </a:p>
          <a:p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char str[6] = {'</a:t>
            </a:r>
            <a:r>
              <a:rPr lang="en-US" altLang="zh-CN" sz="1800" dirty="0" err="1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H','e','l','l','o</a:t>
            </a:r>
            <a:r>
              <a:rPr lang="en-US" altLang="zh-CN" sz="1800" dirty="0">
                <a:solidFill>
                  <a:srgbClr val="32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','\0'};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3528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字符串的输入</a:t>
            </a:r>
            <a:r>
              <a:rPr lang="zh-CN" altLang="en-US" sz="4000" b="1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与输出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149225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5999" y="1968500"/>
            <a:ext cx="4692073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C++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提供两种常用输入方式：cin遇空格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换行停止，cin.getline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()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可读取含空格的整行文本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080000" cy="14224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238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16000" y="323850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cin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输入（遇空格停止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457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char name[20];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cin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&gt;&gt; name;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限制：输入"Zhang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San"仅读取"Zhang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"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724400"/>
            <a:ext cx="5080000" cy="13716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016000" y="4850245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7ED32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cin.getline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7ED32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()（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7ED32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整行读取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7ED32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536575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0"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cin.getline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(address, 50);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可读取含空格的整行文本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输入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Zhang San”</a:t>
            </a:r>
            <a:r>
              <a:rPr lang="zh-CN" altLang="en-US" sz="150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可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读取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"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Zhang </a:t>
            </a:r>
            <a:r>
              <a:rPr lang="en-US" altLang="zh-CN" sz="150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San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"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397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587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477000" y="1511878"/>
            <a:ext cx="419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4A90E2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代码实战：两种输入方式对比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477000" y="2032000"/>
            <a:ext cx="4699000" cy="2794000"/>
          </a:xfrm>
          <a:prstGeom prst="roundRect">
            <a:avLst>
              <a:gd name="adj" fmla="val 4545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0" y="2159000"/>
            <a:ext cx="44450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// 1.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cin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输入（截断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char name[20];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cin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&gt;&gt; name;</a:t>
            </a: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CN" sz="150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cout</a:t>
            </a:r>
            <a:r>
              <a:rPr lang="en-US" altLang="zh-CN" sz="150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&lt;&lt;name&lt;&lt;end;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7ED32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//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7ED32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输入"Zhang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7ED32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San" -&gt; "Zhang"</a:t>
            </a: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7ED32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// 2.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cin.getline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() </a:t>
            </a:r>
            <a:r>
              <a:rPr kumimoji="0" lang="en-US" sz="15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输入（完整</a:t>
            </a: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char name[20];</a:t>
            </a: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cin.getline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(name, 20);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7ED32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//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7ED32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读取整行直到换行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7ED32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altLang="zh-CN" sz="150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cout</a:t>
            </a:r>
            <a:r>
              <a:rPr lang="en-US" altLang="zh-CN" sz="150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&lt;&lt;name&lt;&lt;end;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7ED32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altLang="zh-CN" sz="1500" dirty="0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// </a:t>
            </a:r>
            <a:r>
              <a:rPr lang="en-US" altLang="zh-CN" sz="1500" dirty="0" err="1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输入"Zhang</a:t>
            </a:r>
            <a:r>
              <a:rPr lang="en-US" altLang="zh-CN" sz="1500" dirty="0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 San" -&gt; "Zhang San"</a:t>
            </a: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7ED321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4992255"/>
            <a:ext cx="4699000" cy="99897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5270500"/>
            <a:ext cx="304800" cy="304800"/>
          </a:xfrm>
          <a:prstGeom prst="rect">
            <a:avLst/>
          </a:prstGeom>
        </p:spPr>
      </p:pic>
      <p:sp>
        <p:nvSpPr>
          <p:cNvPr id="25" name="AutoShape 9">
            <a:extLst>
              <a:ext uri="{FF2B5EF4-FFF2-40B4-BE49-F238E27FC236}">
                <a16:creationId xmlns:a16="http://schemas.microsoft.com/office/drawing/2014/main" id="{51D59EEA-E5AB-9E9A-F043-BE4DF34D3417}"/>
              </a:ext>
            </a:extLst>
          </p:cNvPr>
          <p:cNvSpPr/>
          <p:nvPr/>
        </p:nvSpPr>
        <p:spPr>
          <a:xfrm>
            <a:off x="6680200" y="4992255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CN" sz="2000" b="1" dirty="0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out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输出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2C098E1B-56AD-06B6-2E4C-2BC1CCDD9A90}"/>
              </a:ext>
            </a:extLst>
          </p:cNvPr>
          <p:cNvSpPr/>
          <p:nvPr/>
        </p:nvSpPr>
        <p:spPr>
          <a:xfrm>
            <a:off x="6680200" y="5285509"/>
            <a:ext cx="4572000" cy="742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500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cout</a:t>
            </a:r>
            <a:r>
              <a:rPr lang="en-US" sz="1500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&gt;&gt; 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数组名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cout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&lt;&lt;name&lt;&lt;end;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趣味小例子：求字符串长度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751607"/>
          </a:xfrm>
          <a:prstGeom prst="roundRect">
            <a:avLst>
              <a:gd name="adj" fmla="val 14285"/>
            </a:avLst>
          </a:prstGeom>
          <a:solidFill>
            <a:srgbClr val="7ED321">
              <a:alpha val="15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1564409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524000" y="1490516"/>
            <a:ext cx="889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我们来写一个小程序，计算一个字符串包含多少个字符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2344305"/>
            <a:ext cx="10668000" cy="751607"/>
          </a:xfrm>
          <a:prstGeom prst="roundRect">
            <a:avLst>
              <a:gd name="adj" fmla="val 14285"/>
            </a:avLst>
          </a:prstGeom>
          <a:solidFill>
            <a:srgbClr val="F5A623">
              <a:alpha val="15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2585605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524000" y="2466108"/>
            <a:ext cx="889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规则：从第一个字符开始数，直到遇到结束符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'\0'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为止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" y="3337213"/>
            <a:ext cx="10668000" cy="2832678"/>
          </a:xfrm>
          <a:prstGeom prst="roundRect">
            <a:avLst>
              <a:gd name="adj" fmla="val 7692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41783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676400" y="3144979"/>
            <a:ext cx="8890000" cy="31957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代码逻辑</a:t>
            </a:r>
            <a:r>
              <a:rPr lang="en-US" sz="2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char str[] = "Hello";     </a:t>
            </a:r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int </a:t>
            </a:r>
            <a:r>
              <a:rPr lang="en-US" sz="20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len</a:t>
            </a:r>
            <a:r>
              <a:rPr lang="en-US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= 0; </a:t>
            </a:r>
            <a:endParaRPr lang="en-US" altLang="zh-CN" sz="2000" b="0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while (str[</a:t>
            </a:r>
            <a:r>
              <a:rPr lang="en-US" sz="20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len</a:t>
            </a:r>
            <a:r>
              <a:rPr lang="en-US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] != '\0') {        </a:t>
            </a:r>
          </a:p>
          <a:p>
            <a:pPr indent="0" algn="l">
              <a:lnSpc>
                <a:spcPct val="125000"/>
              </a:lnSpc>
            </a:pPr>
            <a:r>
              <a:rPr lang="en-US" sz="2000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  </a:t>
            </a:r>
            <a:r>
              <a:rPr lang="en-US" sz="20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len</a:t>
            </a:r>
            <a:r>
              <a:rPr lang="en-US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++; </a:t>
            </a:r>
            <a:endParaRPr lang="en-US" altLang="zh-CN" sz="2000" b="0" i="0" u="none" strike="noStrike" dirty="0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altLang="zh-CN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cout</a:t>
            </a:r>
            <a:r>
              <a:rPr lang="en-US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&lt;&lt; "</a:t>
            </a:r>
            <a:r>
              <a:rPr lang="zh-CN" altLang="en-US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字符串的长度是</a:t>
            </a:r>
            <a:r>
              <a:rPr lang="en-US" altLang="zh-CN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: " &lt;&lt; </a:t>
            </a:r>
            <a:r>
              <a:rPr lang="en-US" sz="20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len</a:t>
            </a:r>
            <a:r>
              <a:rPr lang="en-US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&lt;&lt; </a:t>
            </a:r>
            <a:r>
              <a:rPr lang="en-US" sz="20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endl</a:t>
            </a:r>
            <a:r>
              <a:rPr lang="en-US" sz="20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B5BB8D7-F209-343C-A945-B4F87EA7E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2" y="698790"/>
            <a:ext cx="9240055" cy="5439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7693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2644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趣味小例子：字符串拼接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647700"/>
          </a:xfrm>
          <a:prstGeom prst="roundRect">
            <a:avLst>
              <a:gd name="adj" fmla="val 14285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383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460500"/>
            <a:ext cx="965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我们来写一个程序，将两个字符串拼接成一个新的字符串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2209800"/>
            <a:ext cx="10668000" cy="977900"/>
          </a:xfrm>
          <a:prstGeom prst="roundRect">
            <a:avLst>
              <a:gd name="adj" fmla="val 12500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146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298700"/>
            <a:ext cx="965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找到第一个字符串的结束符，将第二个字符串从该位置开始依次复制，最后添加结束符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" y="3352800"/>
            <a:ext cx="10668000" cy="3124200"/>
          </a:xfrm>
          <a:prstGeom prst="roundRect">
            <a:avLst>
              <a:gd name="adj" fmla="val 6666"/>
            </a:avLst>
          </a:prstGeom>
          <a:solidFill>
            <a:srgbClr val="7ED321">
              <a:alpha val="1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941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441700"/>
            <a:ext cx="965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代码逻辑</a:t>
            </a:r>
            <a:r>
              <a:rPr lang="en-US" sz="2400" b="1" i="0" u="none" strike="noStrike" dirty="0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422400" y="3802496"/>
            <a:ext cx="9753600" cy="2661804"/>
          </a:xfrm>
          <a:prstGeom prst="roundRect">
            <a:avLst>
              <a:gd name="adj" fmla="val 625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76400" y="3936423"/>
            <a:ext cx="3689927" cy="26606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char str1[] = "Hello,";   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char str2[] = "C++</a:t>
            </a:r>
            <a:r>
              <a:rPr lang="zh-CN" alt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课堂</a:t>
            </a:r>
            <a:r>
              <a:rPr lang="en-US" altLang="zh-CN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";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char result[30];   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1800" b="0" i="0" u="none" strike="noStrike" dirty="0" err="1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 = 0, j = 0;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while (str1[</a:t>
            </a:r>
            <a:r>
              <a:rPr lang="en-US" sz="1800" b="0" i="0" u="none" strike="noStrike" dirty="0" err="1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] != '\0') {       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result[</a:t>
            </a:r>
            <a:r>
              <a:rPr lang="en-US" sz="1800" b="0" i="0" u="none" strike="noStrike" dirty="0" err="1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] = str1[</a:t>
            </a:r>
            <a:r>
              <a:rPr lang="en-US" sz="1800" b="0" i="0" u="none" strike="noStrike" dirty="0" err="1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];       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 b="0" i="0" u="none" strike="noStrike" dirty="0" err="1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++;   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800" b="0" i="0" u="none" strike="noStrike" dirty="0">
              <a:solidFill>
                <a:srgbClr val="5050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F5A623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50B81E36-EC5A-5BB1-43D8-52ABB547B9AD}"/>
              </a:ext>
            </a:extLst>
          </p:cNvPr>
          <p:cNvSpPr/>
          <p:nvPr/>
        </p:nvSpPr>
        <p:spPr>
          <a:xfrm>
            <a:off x="5620327" y="3619500"/>
            <a:ext cx="5731164" cy="26606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while (str2[j] != '\0') {       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    result[</a:t>
            </a:r>
            <a:r>
              <a:rPr lang="en-US" sz="1800" b="0" i="0" u="none" strike="noStrike" dirty="0" err="1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] = str2[j];       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 b="0" i="0" u="none" strike="noStrike" dirty="0" err="1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++;       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800" b="0" i="0" u="none" strike="noStrike" dirty="0" err="1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j++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;   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result[</a:t>
            </a:r>
            <a:r>
              <a:rPr lang="en-US" sz="1800" b="0" i="0" u="none" strike="noStrike" dirty="0" err="1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] = '\0’;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 &lt;&lt; "</a:t>
            </a:r>
            <a:r>
              <a:rPr lang="zh-CN" alt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拼接后的字符串：</a:t>
            </a:r>
            <a:r>
              <a:rPr lang="en-US" altLang="zh-CN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" &lt;&lt; 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result &lt;&lt; </a:t>
            </a:r>
            <a:r>
              <a:rPr lang="en-US" sz="1800" b="0" i="0" u="none" strike="noStrike" dirty="0" err="1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endl</a:t>
            </a:r>
            <a:r>
              <a:rPr lang="en-US" sz="1800" b="0" i="0" u="none" strike="noStrike" dirty="0">
                <a:solidFill>
                  <a:srgbClr val="50505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DB4C025-6697-A5AE-8FF8-B7E5300C0080}"/>
              </a:ext>
            </a:extLst>
          </p:cNvPr>
          <p:cNvCxnSpPr>
            <a:cxnSpLocks/>
          </p:cNvCxnSpPr>
          <p:nvPr/>
        </p:nvCxnSpPr>
        <p:spPr>
          <a:xfrm>
            <a:off x="5200073" y="3936423"/>
            <a:ext cx="0" cy="238182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6E6D2EE-23F3-AD15-96F6-F30AAC6C1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482" y="184727"/>
            <a:ext cx="6437985" cy="6488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D37187E-3C99-2AFF-AA66-633AB8EBA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964" y="2069179"/>
            <a:ext cx="4423328" cy="135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66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235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302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4064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数组基础：存储与遍历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349500"/>
            <a:ext cx="4572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50000"/>
              </a:lnSpc>
              <a:buClr>
                <a:srgbClr val="333333"/>
              </a:buClr>
              <a:buChar char="•"/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一维数组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>
              <a:lnSpc>
                <a:spcPct val="150000"/>
              </a:lnSpc>
              <a:buClr>
                <a:srgbClr val="333333"/>
              </a:buClr>
              <a:defRPr/>
            </a:pPr>
            <a:r>
              <a:rPr lang="en-US" sz="18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</a:t>
            </a:r>
            <a:r>
              <a:rPr lang="en-US" sz="18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定义初始化、下标访问、求极值求和</a:t>
            </a:r>
            <a:endParaRPr lang="en-US" sz="1100" dirty="0"/>
          </a:p>
          <a:p>
            <a:pPr marL="228600" indent="-228600" algn="l">
              <a:lnSpc>
                <a:spcPct val="150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二维数组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>
              <a:lnSpc>
                <a:spcPct val="150000"/>
              </a:lnSpc>
              <a:buClr>
                <a:srgbClr val="333333"/>
              </a:buClr>
            </a:pPr>
            <a:r>
              <a:rPr lang="en-US" sz="18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</a:t>
            </a:r>
            <a:r>
              <a:rPr lang="en-US" sz="18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行列定义、嵌套循环遍历、矩阵应用</a:t>
            </a:r>
            <a:endParaRPr lang="en-US" sz="18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5080000" cy="3302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841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803400"/>
            <a:ext cx="4064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字符与字符串：文本处理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349500"/>
            <a:ext cx="4572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50000"/>
              </a:lnSpc>
              <a:buClr>
                <a:srgbClr val="333333"/>
              </a:buClr>
              <a:buChar char="•"/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基础概念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>
              <a:lnSpc>
                <a:spcPct val="150000"/>
              </a:lnSpc>
              <a:buClr>
                <a:srgbClr val="333333"/>
              </a:buClr>
              <a:defRPr/>
            </a:pPr>
            <a:r>
              <a:rPr lang="en-US" sz="18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</a:t>
            </a:r>
            <a:r>
              <a:rPr lang="en-US" sz="18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char类型、ASCII码、字符数组结束符</a:t>
            </a:r>
            <a:r>
              <a:rPr lang="en-US" sz="18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'\0'</a:t>
            </a:r>
            <a:endParaRPr lang="en-US" sz="1100" dirty="0"/>
          </a:p>
          <a:p>
            <a:pPr marL="228600" indent="-228600" algn="l">
              <a:lnSpc>
                <a:spcPct val="150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操作函数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>
              <a:lnSpc>
                <a:spcPct val="150000"/>
              </a:lnSpc>
              <a:buClr>
                <a:srgbClr val="333333"/>
              </a:buClr>
            </a:pPr>
            <a:r>
              <a:rPr lang="en-US" sz="18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</a:t>
            </a:r>
            <a:r>
              <a:rPr lang="en-US" sz="18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cin输入、getline读取整行、cout</a:t>
            </a:r>
            <a:r>
              <a:rPr lang="zh-CN" altLang="en-US" sz="18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输出</a:t>
            </a:r>
            <a:endParaRPr lang="en-US" sz="18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50000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5372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486400"/>
            <a:ext cx="965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核心收获：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掌握数据的批量存储与处理，为复杂程序设计打下坚实基础！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2119</Words>
  <Application>Microsoft Office PowerPoint</Application>
  <PresentationFormat>宽屏</PresentationFormat>
  <Paragraphs>290</Paragraphs>
  <Slides>28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Arial</vt:lpstr>
      <vt:lpstr>Consolas</vt:lpstr>
      <vt:lpstr>Noto Sans SC</vt:lpstr>
      <vt:lpstr>Source Code Pro</vt:lpstr>
      <vt:lpstr>黑体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LHX</dc:creator>
  <cp:lastModifiedBy>hongxin li</cp:lastModifiedBy>
  <cp:revision>14</cp:revision>
  <dcterms:modified xsi:type="dcterms:W3CDTF">2026-03-30T11:19:17Z</dcterms:modified>
</cp:coreProperties>
</file>