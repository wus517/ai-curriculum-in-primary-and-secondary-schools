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81" r:id="rId4"/>
    <p:sldId id="262" r:id="rId5"/>
    <p:sldId id="276" r:id="rId6"/>
    <p:sldId id="264" r:id="rId7"/>
    <p:sldId id="277" r:id="rId8"/>
    <p:sldId id="278" r:id="rId9"/>
    <p:sldId id="266" r:id="rId10"/>
    <p:sldId id="258" r:id="rId11"/>
    <p:sldId id="271" r:id="rId12"/>
    <p:sldId id="272" r:id="rId13"/>
    <p:sldId id="273" r:id="rId14"/>
    <p:sldId id="275" r:id="rId15"/>
    <p:sldId id="274" r:id="rId16"/>
    <p:sldId id="267" r:id="rId17"/>
    <p:sldId id="263" r:id="rId18"/>
    <p:sldId id="268" r:id="rId19"/>
    <p:sldId id="259" r:id="rId20"/>
    <p:sldId id="260" r:id="rId21"/>
    <p:sldId id="282" r:id="rId22"/>
    <p:sldId id="283" r:id="rId23"/>
    <p:sldId id="269" r:id="rId24"/>
    <p:sldId id="27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41" autoAdjust="0"/>
  </p:normalViewPr>
  <p:slideViewPr>
    <p:cSldViewPr snapToGrid="0">
      <p:cViewPr varScale="1">
        <p:scale>
          <a:sx n="53" d="100"/>
          <a:sy n="53" d="100"/>
        </p:scale>
        <p:origin x="49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这节课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我们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用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一个经典的小游戏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贪吃蛇，来学习两个重要的编程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知识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字符串和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二维数组。让我们一起探索，看看如何让这条小蛇在我们创造的地图里动起来吧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0342-3786-F2FD-2A91-A968F2EC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B144F0-D4FE-C075-509F-1F456D229B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1CE82-4755-BE7E-C77D-7C4A82F417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AFEA30-206F-D640-9C53-B6148917E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F440E61-3F64-1D28-8A7E-C400E3A19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课程的导航图。我们将分为三个部分来探索贪吃蛇的秘密：首先，我们会学习地图是如何通过二维数组来存储的；接着，我们会了解字符和字符串的概念，看看它们是如何让地图显示出各种图案的；最后，我们会深入研究蛇的移动原理。让我们开始吧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684BF-25F1-3606-3FF9-48BB63E73E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20CE-C70B-B401-C66E-8AE10D472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23786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有了地图，我们还需要让地图上显示出蛇、食物这些图案。这就需要用到字符和字符串的知识了。在第二部分，我们将学习如何让我们的地图变得丰富多彩。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在C++里，我们用char这个类型来存储单个的字符。注意，是单个字符哦！比如一个字母A，一个数字5，或者一个井号#。我们需要用单引号把它括起来，告诉计算机这是一个字符。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知道吗？计算机其实是个“数字迷”，它只认识0和1。我们看到的字母、符号，在计算机内部都被转换成了特定的数字，这就是ASCII码。比如，大写字母A对应的数字是65，小写字母a是97。我们可以玩个小游戏，我说出一个数字，你们来猜猜它代表哪个字符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如果我们想存储一串文字，比如“Hello”，就需要用到字符数组。它就像一串糖葫芦，每个山楂都是一个字符。字符数组就是把多个字符变量串在一起，最后用一个特殊的结束符 \0 来告诉计算机字符串结束了。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前面的知识结合起来。贪吃蛇的地图，其实就是一个二维的字符数组。每一个格子都是一个char。我们告诉计算机，用'#'这个字符代表墙壁，用'O'代表食物，用'*'代表蛇的身体。这样，计算机就能把这些字符组合起来，在屏幕上画出我们看到的游戏画面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首先，让我们进入第一部分：地图是怎么存储的？要让贪吃蛇在一个虚拟的世界里活动，我们首先需要创造这个世界，也就是游戏地图。这个地图背后隐藏着一个强大的工具——二维数组。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那么，什么是二维数组呢？大家可以把它想象成一个棋盘。棋盘有很多行和列，每一个交叉点就是一个位置。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二维数组就是这样一种数据结构，它用行和列来组织数据，非常适合用来表示像地图这样的网格状事物。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在编程中，我们通过“行号”和“列号”这两个索引，就能精准地找到我们想要的数据。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为了准确找到二维数组中的某个元素，我们需要知道它的“行号”和“列号”。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行是横着数的，列是竖着数的。大家看右边的表格，就像我们在电影院找座位一样，先找排（行），再找号（列）。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比如表格中橙色的这个格子，它在第2行，第2列。在代码中，我们就用 arr[2][2] 来表示它。请注意，在编程中，我们通常从 0 开始计数。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一个具体的例子。贪吃蛇的地图就是用一个二维字符数组来表示的。我们用不同的字符代表不同的东西，比如用#号表示墙壁，用空格表示空地，用o表示蛇。程序把这个数组里的每个字符都打印出来，我们就能看到完整的游戏地图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地图和图案都准备好了，最激动人心的部分来了！第三部分，我们将揭开贪吃蛇移动的秘密，看看这条小蛇是如何在我们创造的世界里自由穿梭的。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看，这就是小蛇的初始状态！我们用两个数组x和y来存放它身体每一节的坐标。比如，蛇头的位置是(x[0], y[0])也就是(3,3)，身体第一节是(3,2)，身体第二节是(3,1)。变量len告诉我们，小蛇现在有3节身体。就像我们用积木搭小蛇一样，电脑用这些数字来搭建虚拟的小蛇。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蛇的移动看起来很复杂，但其实可以分解成四个简单的步骤。首先，计算机根据我们按的方向键，计算出蛇头下一步要去哪里。然后，检查一下这个新位置是不是安全的，有没有撞到墙或者自己。接着，把蛇的尾巴擦掉，最后，让蛇的身体整体向前移动一格，并在新的位置画出蛇头。这样，蛇就动起来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小蛇是怎么知道往哪走的呢？我们用dx和dy来告诉它！比如，当dx=0，dy=1时，小蛇就会向上移动。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电脑会根据这个方向，计算出蛇头的新位置newX和newY。然后，最重要的一步来了：检查新位置是不是墙壁。如果是，就会显示“Game Over!”，游戏结束。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就像我们走路不能撞到墙一样，小蛇也不能！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这段移动的核心代码。第一行，如果没吃到食物，就把尾巴的位置清空。然后，用一个循环，让身体的每一节都复制前一节的位置，实现跟随。最后，把蛇头更新到新位置。如果吃到了食物，就不删除尾巴，并且让蛇的长度加一。这样，小蛇就动起来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棒！今天我们一起拆解了贪吃蛇游戏，学习了很多新知识。我们知道了如何用二维数组来构建游戏地图，如何用字符和字符串来让地图显示出各种图案，还了解了蛇移动背后的简单逻辑。希望大家通过这次课程，对编程有了更直观的认识和兴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今天的课程就到这里，感谢大家的参与！希望大家在编程的世界里继续探索，发现更多乐趣！谢谢观看！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9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12.sv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4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11" Type="http://schemas.openxmlformats.org/officeDocument/2006/relationships/image" Target="../media/image1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9" Type="http://schemas.openxmlformats.org/officeDocument/2006/relationships/image" Target="../media/image6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jpe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6.jpeg"/><Relationship Id="rId7" Type="http://schemas.openxmlformats.org/officeDocument/2006/relationships/image" Target="../media/image8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9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397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用贪吃蛇学C</a:t>
            </a: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++：</a:t>
            </a:r>
            <a:r>
              <a:rPr lang="zh-CN" alt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字符串和</a:t>
            </a: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项目拆解式编程课 ｜ 让蛇在地图里动起来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3810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D2742-EA81-C299-F79B-52BE5B8A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046EF84-6D54-8435-5477-9DF96687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26664569-2491-7A93-B4AD-58F5AFFB61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370CE30-F347-1E67-7F88-21C42391DB9A}"/>
              </a:ext>
            </a:extLst>
          </p:cNvPr>
          <p:cNvSpPr/>
          <p:nvPr/>
        </p:nvSpPr>
        <p:spPr>
          <a:xfrm>
            <a:off x="4826000" y="38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课程导航</a:t>
            </a:r>
            <a:endParaRPr lang="en-US"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F69896E-F31E-191B-C300-19C02A4C47D4}"/>
              </a:ext>
            </a:extLst>
          </p:cNvPr>
          <p:cNvSpPr/>
          <p:nvPr/>
        </p:nvSpPr>
        <p:spPr>
          <a:xfrm>
            <a:off x="6096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F2D0C49-E721-A5B5-50A8-EDA17C220819}"/>
              </a:ext>
            </a:extLst>
          </p:cNvPr>
          <p:cNvSpPr/>
          <p:nvPr/>
        </p:nvSpPr>
        <p:spPr>
          <a:xfrm>
            <a:off x="1282700" y="1562231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1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字符与字符串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E9770FD-178B-BA59-E124-284CBE123010}"/>
              </a:ext>
            </a:extLst>
          </p:cNvPr>
          <p:cNvSpPr/>
          <p:nvPr/>
        </p:nvSpPr>
        <p:spPr>
          <a:xfrm>
            <a:off x="889000" y="1929615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是什么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ASCII码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字符数组</a:t>
            </a:r>
            <a:r>
              <a:rPr lang="en-US" altLang="zh-CN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(C</a:t>
            </a:r>
            <a:r>
              <a:rPr lang="zh-CN" altLang="en-US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语言风格字符串</a:t>
            </a:r>
            <a:r>
              <a:rPr lang="en-US" altLang="zh-CN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地图显示字符的原理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>
              <a:lnSpc>
                <a:spcPct val="125000"/>
              </a:lnSpc>
              <a:buClr>
                <a:srgbClr val="505050"/>
              </a:buClr>
              <a:buFont typeface="Arial"/>
              <a:buChar char="•"/>
            </a:pPr>
            <a:endParaRPr lang="en-US" altLang="zh-CN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809FAEB-4788-50AF-CE5E-D2EF3E71635A}"/>
              </a:ext>
            </a:extLst>
          </p:cNvPr>
          <p:cNvSpPr/>
          <p:nvPr/>
        </p:nvSpPr>
        <p:spPr>
          <a:xfrm>
            <a:off x="43815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1AAB6F81-8921-2987-58B7-8CFCF8B16E8E}"/>
              </a:ext>
            </a:extLst>
          </p:cNvPr>
          <p:cNvSpPr/>
          <p:nvPr/>
        </p:nvSpPr>
        <p:spPr>
          <a:xfrm>
            <a:off x="51435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lang="en-US" sz="18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2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地图存储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6AC8996-A0F9-2297-3B16-DB6DEC6FED89}"/>
              </a:ext>
            </a:extLst>
          </p:cNvPr>
          <p:cNvSpPr/>
          <p:nvPr/>
        </p:nvSpPr>
        <p:spPr>
          <a:xfrm>
            <a:off x="4762500" y="1987616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什么是二维数组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行和列怎么理解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Tx/>
              <a:buFont typeface="Arial"/>
              <a:buChar char="•"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用二维数组打印贪吃蛇地图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4720537-D78A-6BD5-9DBB-5D43EF47D077}"/>
              </a:ext>
            </a:extLst>
          </p:cNvPr>
          <p:cNvSpPr/>
          <p:nvPr/>
        </p:nvSpPr>
        <p:spPr>
          <a:xfrm>
            <a:off x="81534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32480B63-C9F4-2724-9CA0-5EA39EFAC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7400" y="1587500"/>
            <a:ext cx="406400" cy="406400"/>
          </a:xfrm>
          <a:prstGeom prst="rect">
            <a:avLst/>
          </a:prstGeom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AE591BE5-61D7-3093-2C33-8492D6122210}"/>
              </a:ext>
            </a:extLst>
          </p:cNvPr>
          <p:cNvSpPr/>
          <p:nvPr/>
        </p:nvSpPr>
        <p:spPr>
          <a:xfrm>
            <a:off x="89154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3 蛇的移动原理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7D26F5C-7CDD-90F7-62BE-FCA130EA8F31}"/>
              </a:ext>
            </a:extLst>
          </p:cNvPr>
          <p:cNvSpPr/>
          <p:nvPr/>
        </p:nvSpPr>
        <p:spPr>
          <a:xfrm>
            <a:off x="8343900" y="2032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下一步位置与撞墙判断</a:t>
            </a:r>
            <a:endParaRPr lang="en-US" sz="1100" dirty="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zh-CN" alt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擦尾巴与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身体前移</a:t>
            </a: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新蛇头出现机制</a:t>
            </a: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4FA4AAC4-4B2A-8735-4F1E-CA68149FDDED}"/>
              </a:ext>
            </a:extLst>
          </p:cNvPr>
          <p:cNvSpPr/>
          <p:nvPr/>
        </p:nvSpPr>
        <p:spPr>
          <a:xfrm>
            <a:off x="609600" y="3937000"/>
            <a:ext cx="10972800" cy="1270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8685BBB9-F6E8-84D7-DF38-9218C448A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4318000"/>
            <a:ext cx="508000" cy="508000"/>
          </a:xfrm>
          <a:prstGeom prst="rect">
            <a:avLst/>
          </a:prstGeom>
        </p:spPr>
      </p:pic>
      <p:sp>
        <p:nvSpPr>
          <p:cNvPr id="19" name="AutoShape 19">
            <a:extLst>
              <a:ext uri="{FF2B5EF4-FFF2-40B4-BE49-F238E27FC236}">
                <a16:creationId xmlns:a16="http://schemas.microsoft.com/office/drawing/2014/main" id="{4DA9FBD4-4A82-C97C-5E78-40ADAEA0F11F}"/>
              </a:ext>
            </a:extLst>
          </p:cNvPr>
          <p:cNvSpPr/>
          <p:nvPr/>
        </p:nvSpPr>
        <p:spPr>
          <a:xfrm>
            <a:off x="1524000" y="4191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25DE91A3-6016-DCFF-513E-E531A6E125FF}"/>
              </a:ext>
            </a:extLst>
          </p:cNvPr>
          <p:cNvSpPr/>
          <p:nvPr/>
        </p:nvSpPr>
        <p:spPr>
          <a:xfrm>
            <a:off x="1524000" y="4572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回顾今天掌握的核心知识点：</a:t>
            </a:r>
            <a:r>
              <a:rPr lang="en-US" altLang="zh-CN" sz="16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字符编码</a:t>
            </a:r>
            <a:r>
              <a:rPr lang="zh-CN" altLang="en-US" sz="16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6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二维数组的应用、以及游戏逻辑的实现</a:t>
            </a:r>
            <a:r>
              <a:rPr lang="en-US" sz="16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5F6FA818-AF26-83F4-DD0D-ABA3953D38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" y="1581216"/>
            <a:ext cx="406400" cy="406400"/>
          </a:xfrm>
          <a:prstGeom prst="rect">
            <a:avLst/>
          </a:prstGeom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ED4776AA-7342-7347-B189-9AC8281BAF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2652" y="16256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7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0" cy="3048000"/>
          </a:xfrm>
          <a:prstGeom prst="roundRect">
            <a:avLst>
              <a:gd name="adj" fmla="val 8333"/>
            </a:avLst>
          </a:prstGeom>
          <a:solidFill>
            <a:srgbClr val="FFFFFF">
              <a:alpha val="95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2603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1 </a:t>
            </a: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字符和字符串是什么</a:t>
            </a: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34861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270000" y="3683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让地图显示图案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000" y="5080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87000" y="51308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char是什么？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在C++中，</a:t>
            </a: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是一种基础数据类型，专门用来存储单个字符。无论是字母、数字还是符号，都需要用</a:t>
            </a:r>
            <a:r>
              <a:rPr lang="en-US" sz="1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单引号 ' '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包裹起来。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500" y="2540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存储字母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c = 'A';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25400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存储数字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810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8260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5A62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d = '5';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1500" y="2540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存储符号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810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090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s = '#';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5A623">
              <a:alpha val="10000"/>
            </a:srgbClr>
          </a:solidFill>
          <a:ln w="127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626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588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单引号是字符类型的标志。如果使用双引号 " "，则表示字符串（String），这在C++中是完全不同的概念。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ASCII码小游戏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651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计算机的秘密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计算机其实不认识字母，它只认识数字。每个字符在计算机里都有一个对应的“数字身份证”，这就是ASCII码。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5A623">
              <a:alpha val="10000"/>
            </a:srgbClr>
          </a:solidFill>
          <a:ln cap="flat" cmpd="sng">
            <a:solidFill>
              <a:srgbClr val="DC8C0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175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神奇的密码表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比如：大写字母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对应的数字是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65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，小写字母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对应的数字是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97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7ED321">
              <a:alpha val="10000"/>
            </a:srgbClr>
          </a:solidFill>
          <a:ln cap="flat" cmpd="sng">
            <a:solidFill>
              <a:srgbClr val="66B90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699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来玩个游戏吧！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规则很简单：我说出一个数字，你来猜猜它在计算机里代表什么字符？准备好挑战了吗？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0" y="1524000"/>
            <a:ext cx="3302000" cy="3302000"/>
          </a:xfrm>
          <a:prstGeom prst="roundRect">
            <a:avLst>
              <a:gd name="adj" fmla="val 7692"/>
            </a:avLst>
          </a:prstGeom>
          <a:solidFill>
            <a:srgbClr val="F0F8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731000" y="1651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604000" y="508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ASCII码对应示例图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AF93D0-8AED-FA79-1209-0733751F3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915" y="166025"/>
            <a:ext cx="5352854" cy="627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01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90459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</a:t>
            </a:r>
            <a:r>
              <a:rPr lang="en-US" sz="36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36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36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语言风格字符串</a:t>
            </a:r>
            <a:r>
              <a:rPr lang="en-US" sz="36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002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定义与用途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字符数组是由多个 char 变量组成的数组，专门用于存储一串连续的字符，也就是我们常说的“字符串”。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921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char greeting[] = "Hello";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0" y="1397000"/>
            <a:ext cx="5334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16002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内存存储结构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0" y="2286000"/>
            <a:ext cx="571500" cy="571500"/>
          </a:xfrm>
          <a:prstGeom prst="roundRect">
            <a:avLst>
              <a:gd name="adj" fmla="val 0"/>
            </a:avLst>
          </a:prstGeom>
          <a:solidFill>
            <a:srgbClr val="F5A623">
              <a:alpha val="20000"/>
            </a:srgbClr>
          </a:solidFill>
          <a:ln w="127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\0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04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注意：字符串末尾会自动添加一个特殊字符</a:t>
            </a:r>
            <a:r>
              <a:rPr lang="en-US" sz="14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\0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(空字符)，代表字符串结束。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3942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核心要点总结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82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糖葫芦模型：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字符数组就像一串糖葫芦，每一个山楂代表一个字符，串在一起就是完整的字符串。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结束标志：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计算机通过检测</a:t>
            </a:r>
            <a:r>
              <a:rPr lang="en-US" sz="14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\0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来确定字符串的结束位置，这意味着字符数组的实际占用空间比可见字符数多 1。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53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为什么地图能显示字符？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6858000" cy="3302000"/>
          </a:xfrm>
          <a:prstGeom prst="roundRect">
            <a:avLst>
              <a:gd name="adj" fmla="val 3846"/>
            </a:avLst>
          </a:prstGeom>
          <a:solidFill>
            <a:srgbClr val="4A90E2">
              <a:alpha val="8000"/>
            </a:srgbClr>
          </a:solidFill>
          <a:ln cap="flat" cmpd="sng">
            <a:solidFill>
              <a:srgbClr val="2E75C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635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贪吃蛇的地图其实是一个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二维字符数组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。地图中的每一个格子都是一个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类型的变量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我们通过给不同格子赋值不同字符，计算机就能渲染出地图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228600" indent="-228600" algn="l">
              <a:lnSpc>
                <a:spcPct val="108333"/>
              </a:lnSpc>
              <a:buClr>
                <a:srgbClr val="F5A623"/>
              </a:buClr>
              <a:buChar char="•"/>
            </a:pPr>
            <a:r>
              <a:rPr lang="en-US" sz="18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#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表示墙壁，构建游戏边界</a:t>
            </a:r>
            <a:endParaRPr lang="en-US" sz="18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28600" indent="-228600" algn="l">
              <a:lnSpc>
                <a:spcPct val="108333"/>
              </a:lnSpc>
              <a:buClr>
                <a:srgbClr val="7ED321"/>
              </a:buClr>
              <a:buChar char="•"/>
            </a:pPr>
            <a:r>
              <a:rPr lang="en-US" sz="1800" b="1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*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表示食物，吸引小蛇前进</a:t>
            </a:r>
            <a:endParaRPr lang="en-US" sz="18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28600" indent="-2286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altLang="zh-CN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表示蛇的身体，展示运动轨迹</a:t>
            </a:r>
            <a:endParaRPr lang="en-US" sz="18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28000" y="1524000"/>
            <a:ext cx="2794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8128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地图网格与字符对应示意图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33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53594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通过简单的字符组合，就能构建出丰富的游戏世界！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397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15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2 </a:t>
            </a: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地图是怎么存储的</a:t>
            </a: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715000" y="2984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二维数组的秘密 ——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000" y="4445000"/>
            <a:ext cx="406400" cy="40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2800" y="4445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什么是二维数组？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概念定义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二维数组，简单来说，就是</a:t>
            </a: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“数组的数组”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。它由行和列组成，能够存储具有行列结构的数据，类似于我们生活中的表格或棋盘。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759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生活类比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就像教室里的座位，第几排（行）、第几列，就能确定一个同学的位置。二维数组正是通过</a:t>
            </a:r>
            <a:r>
              <a:rPr lang="en-US" sz="15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行索引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5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列索引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来精准定位数据的。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397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165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3x3 二维数组结构可视化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731000" y="2159000"/>
          <a:ext cx="3429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1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1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1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1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1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2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2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1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Row 2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9999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 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6604000" y="4572000"/>
            <a:ext cx="4318000" cy="635000"/>
          </a:xfrm>
          <a:prstGeom prst="roundRect">
            <a:avLst>
              <a:gd name="adj" fmla="val 20000"/>
            </a:avLst>
          </a:prstGeom>
          <a:solidFill>
            <a:srgbClr val="F5A623">
              <a:alpha val="10000"/>
            </a:srgbClr>
          </a:solidFill>
          <a:ln w="127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编程用途：存储网格数据（地图、棋盘、矩阵等）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行和列怎么理解？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基本概念定义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行 (Row)：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横向排列的数据，就像电影院的“排”。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列 (Column)：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纵向排列的数据，就像一排座位中的“号”。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索引：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计算机中通常从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开始计数。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38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定位语法格式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953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数组名[</a:t>
            </a:r>
            <a:r>
              <a:rPr lang="en-US" sz="18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行号</a:t>
            </a:r>
            <a:r>
              <a:rPr lang="en-US" sz="18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 sz="1800" b="1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列号</a:t>
            </a:r>
            <a:r>
              <a:rPr lang="en-US" sz="18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397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二维数组结构可视化</a:t>
            </a:r>
            <a:endParaRPr lang="en-US" sz="110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731000" y="2159000"/>
          <a:ext cx="3556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0,0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0,1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0,2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0,3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A62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2,3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6731000" y="457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高亮单元格位于：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第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行，第</a:t>
            </a: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列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语法表示：</a:t>
            </a:r>
            <a:r>
              <a:rPr lang="en-US" sz="1400" b="0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arr[2][2]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54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用二维数组打印贪吃蛇地图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572000" cy="3302000"/>
          </a:xfrm>
          <a:prstGeom prst="roundRect">
            <a:avLst>
              <a:gd name="adj" fmla="val 3846"/>
            </a:avLst>
          </a:prstGeom>
          <a:solidFill>
            <a:srgbClr val="2D343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572000" cy="381000"/>
          </a:xfrm>
          <a:prstGeom prst="roundRect">
            <a:avLst>
              <a:gd name="adj" fmla="val 0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113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06500" y="15113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60500" y="15113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1905000"/>
            <a:ext cx="419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2000" b="0" i="0" u="none" strike="noStrik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1397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▍核心原理：二维数组映射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1841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贪吃蛇地图本质是一个二维字符数组。程序通过遍历数组，将每个坐标位置的字符打印出来，从而构建出游戏场景。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2794000"/>
            <a:ext cx="266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30226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540500" y="292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墙壁</a:t>
            </a:r>
            <a:r>
              <a:rPr lang="en-US" sz="16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不可穿越的边界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763000" y="2794000"/>
            <a:ext cx="266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0" y="30226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292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空地</a:t>
            </a:r>
            <a:r>
              <a:rPr lang="en-US" sz="1600" b="1" i="0" u="none" strike="noStrike" dirty="0" err="1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Space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可移动的区域</a:t>
            </a:r>
            <a:endParaRPr lang="en-US" sz="1200" b="0" i="0" u="none" strike="noStrike" dirty="0">
              <a:solidFill>
                <a:srgbClr val="9696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842000" y="3937000"/>
            <a:ext cx="266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4165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540500" y="4064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蛇身</a:t>
            </a:r>
            <a:r>
              <a:rPr lang="en-US" sz="16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玩家控制的主体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763000" y="3937000"/>
            <a:ext cx="266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500" y="4165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461500" y="4064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食物</a:t>
            </a:r>
            <a:r>
              <a:rPr lang="en-US" sz="1600" b="1" dirty="0">
                <a:solidFill>
                  <a:srgbClr val="F5A623"/>
                </a:solidFill>
                <a:latin typeface="Consolas"/>
                <a:sym typeface="Noto Sans SC"/>
              </a:rPr>
              <a:t>*</a:t>
            </a:r>
            <a:endParaRPr lang="en-US" sz="1600" b="1" dirty="0">
              <a:solidFill>
                <a:srgbClr val="F5A623"/>
              </a:solidFill>
              <a:latin typeface="Consolas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得分的关键道具</a:t>
            </a:r>
            <a:endParaRPr lang="en-US" sz="1200" b="0" i="0" u="none" strike="noStrike" dirty="0">
              <a:solidFill>
                <a:srgbClr val="9696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编程逻辑：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通过循环遍历二维数组的每一行和每一列，根据数组元素的值输出对应的字符，从而在控制台渲染出地图。</a:t>
            </a:r>
            <a:endParaRPr lang="en-US" sz="110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9DA0FB5-1333-BC6F-91AE-5B5D455BE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2700" y="1790700"/>
            <a:ext cx="2550252" cy="28229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EE0290-FC1B-5E04-F67B-3AFF2BEC6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21"/>
            <a:ext cx="12192000" cy="66437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FCDE70-6A98-B13F-FC98-0EFB6D82A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763" y="4401788"/>
            <a:ext cx="2564566" cy="21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59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B34FD3-5375-95CB-6829-6AE7D4F0E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07" y="286109"/>
            <a:ext cx="3154048" cy="62857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5B3272-6D91-01B0-EECD-8C08FD9E1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454" y="1329358"/>
            <a:ext cx="4701668" cy="2850913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4D43278F-D1E7-0868-9266-829FD56F99B0}"/>
              </a:ext>
            </a:extLst>
          </p:cNvPr>
          <p:cNvSpPr/>
          <p:nvPr/>
        </p:nvSpPr>
        <p:spPr>
          <a:xfrm>
            <a:off x="4372466" y="366598"/>
            <a:ext cx="654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用二维数组打印贪吃蛇地图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7718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270000" y="2032000"/>
            <a:ext cx="9652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79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3 蛇为什么会动？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3556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让我们的小蛇跑起来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4191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小蛇的“身体”是怎么</a:t>
            </a:r>
            <a:r>
              <a:rPr lang="zh-CN" altLang="en-US" sz="4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存储</a:t>
            </a:r>
            <a:r>
              <a:rPr lang="en-US" sz="4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的？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89000" y="1651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x[100] = {3, 3, 3};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y[100] = {3, 2, 1};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len = 3;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298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像搭积木一样理解代码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492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34417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x数组：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记录每节身体的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横坐标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（左右位置）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00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9497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y数组：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记录每节身体的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纵坐标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（上下位置）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50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4577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len变量：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表示小蛇当前的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长度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（这里是3节）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096000" y="1524000"/>
            <a:ext cx="5080000" cy="2857500"/>
          </a:xfrm>
          <a:prstGeom prst="roundRect">
            <a:avLst>
              <a:gd name="adj" fmla="val 6666"/>
            </a:avLst>
          </a:prstGeom>
          <a:noFill/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096000" y="4508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示意图：小蛇身体与数组数据的对应关系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就像我们用积木搭小蛇一样，电脑用这些数字来搭建虚拟的小蛇！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30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蛇的移动原理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524000"/>
            <a:ext cx="3048000" cy="3048000"/>
          </a:xfrm>
          <a:prstGeom prst="roundRect">
            <a:avLst>
              <a:gd name="adj" fmla="val 6250"/>
            </a:avLst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318000" y="15240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17399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143500" y="1587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计算下一步位置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根据玩家的操作（上下左右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计算蛇头下一步应该到达的目标位置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318000" y="26035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28194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43500" y="26670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2. 判断是否撞墙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检查新的蛇头位置是否超出地图边界，或者是否撞到了自己的身体。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18000" y="36830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8500" y="38989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3746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3. 擦除尾巴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在蛇移动之前，先把蛇的尾巴从地图上“擦除”掉，为身体前移腾出空间。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318000" y="47625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8500" y="49784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48260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4. 身体前移并添加新蛇头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将蛇身体的每一部分都向前移动一格，然后在新的位置画出新的蛇头。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44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44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r>
              <a:rPr lang="en-US" altLang="zh-CN" sz="44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44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计算下一步位置，判断是否撞墙</a:t>
            </a:r>
            <a:endParaRPr lang="en-US" sz="1050" dirty="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190500" tIns="127000" rIns="1905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dx = 0,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dy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= 1; //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控制方向，这里是向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右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newX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= x[0] + dx; int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newY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= y[0] +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dy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计算新位置</a:t>
            </a:r>
            <a:endParaRPr lang="en-US" sz="1400" b="0" i="0" u="none" strike="noStrike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(map[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newX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newY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 == '#') { //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检查是否撞墙</a:t>
            </a:r>
            <a:endParaRPr lang="en-US" sz="1400" b="0" i="0" u="none" strike="noStrike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254000" algn="ct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&lt;&lt; "Game Over!" &lt;&lt;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break;}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" r="100"/>
          <a:stretch>
            <a:fillRect/>
          </a:stretch>
        </p:blipFill>
        <p:spPr>
          <a:xfrm>
            <a:off x="762000" y="2921000"/>
            <a:ext cx="2794000" cy="1574800"/>
          </a:xfrm>
          <a:prstGeom prst="roundRect">
            <a:avLst>
              <a:gd name="adj" fmla="val 8064"/>
            </a:avLst>
          </a:prstGeom>
          <a:noFill/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692634" y="2888593"/>
            <a:ext cx="27940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方向与移动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dx和dy是“方向盘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决定蛇头朝向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newX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newY计算出下一步的位置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00" r="100"/>
          <a:stretch>
            <a:fillRect/>
          </a:stretch>
        </p:blipFill>
        <p:spPr>
          <a:xfrm>
            <a:off x="8636000" y="2794000"/>
            <a:ext cx="2794000" cy="1574800"/>
          </a:xfrm>
          <a:prstGeom prst="roundRect">
            <a:avLst>
              <a:gd name="adj" fmla="val 8064"/>
            </a:avLst>
          </a:prstGeom>
          <a:noFill/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2888593"/>
            <a:ext cx="2149366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碰撞检测</a:t>
            </a: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检查新位置是否是墙壁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(#)。</a:t>
            </a:r>
          </a:p>
          <a:p>
            <a:pPr indent="0" algn="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如果是，游戏结束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核心逻辑：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就像我们走路一样，小蛇每一步都会先看路（计算新位置），再确认没有墙（碰撞检测），才会前进！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15359"/>
            <a:ext cx="805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4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（二）</a:t>
            </a:r>
            <a:r>
              <a:rPr lang="zh-CN" altLang="en-US" sz="44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擦除尾巴，身体迁移，更新蛇头</a:t>
            </a:r>
            <a:endParaRPr lang="en-US" sz="1050" dirty="0"/>
          </a:p>
        </p:txBody>
      </p:sp>
      <p:sp>
        <p:nvSpPr>
          <p:cNvPr id="3" name="AutoShape 3"/>
          <p:cNvSpPr/>
          <p:nvPr/>
        </p:nvSpPr>
        <p:spPr>
          <a:xfrm>
            <a:off x="762000" y="877359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核心逻辑：身体跟着蛇头走！就像排队一样，后面的人跟着前面的人挪位置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81878" y="1448859"/>
            <a:ext cx="10449339" cy="127497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9166" r="29166" b="69230"/>
          <a:stretch>
            <a:fillRect/>
          </a:stretch>
        </p:blipFill>
        <p:spPr>
          <a:xfrm>
            <a:off x="1035878" y="1766359"/>
            <a:ext cx="1243969" cy="870778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559878" y="1639359"/>
            <a:ext cx="7463814" cy="3187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6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删除尾巴：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(!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eatFood</a:t>
            </a: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{ map[x[len-1]][y[len-1]] = ' '; }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559878" y="2083859"/>
            <a:ext cx="7463814" cy="5312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如果小蛇没有吃到食物，它的尾巴就需要从地图上“擦掉”，为新的身体移动腾出位置。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1878" y="2740854"/>
            <a:ext cx="10449339" cy="1438505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29166" t="34615" r="29166" b="34615"/>
          <a:stretch>
            <a:fillRect/>
          </a:stretch>
        </p:blipFill>
        <p:spPr>
          <a:xfrm>
            <a:off x="1035878" y="3058354"/>
            <a:ext cx="1243969" cy="870778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559878" y="2931354"/>
            <a:ext cx="7463814" cy="3596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2. 身体跟随：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 (int i = len-1; i &gt; 0; i--) { x[i] = x[i-1]; y[i] = y[i-1]; 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559878" y="3375854"/>
            <a:ext cx="7463814" cy="599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小蛇身体的每一节，都要跟着它前面那一节的位置移动，就像火车车厢一节跟着一节一样。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1878" y="4264854"/>
            <a:ext cx="10449339" cy="1438505"/>
          </a:xfrm>
          <a:prstGeom prst="roundRect">
            <a:avLst>
              <a:gd name="adj" fmla="val 8333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29166" t="69230" r="29166"/>
          <a:stretch>
            <a:fillRect/>
          </a:stretch>
        </p:blipFill>
        <p:spPr>
          <a:xfrm>
            <a:off x="1035878" y="4582354"/>
            <a:ext cx="1243969" cy="870778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559878" y="4455354"/>
            <a:ext cx="7463814" cy="3596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6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更新蛇头：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[0] = 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newX</a:t>
            </a: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 y[0] = 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newY</a:t>
            </a: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2559878" y="4899854"/>
            <a:ext cx="7463814" cy="599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最后，把蛇头放到我们之前计算好的新位置上，这样整个小蛇就完成了一次移动。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3C7DD58-818A-2BD4-7B6A-8A51E916FA1F}"/>
              </a:ext>
            </a:extLst>
          </p:cNvPr>
          <p:cNvSpPr/>
          <p:nvPr/>
        </p:nvSpPr>
        <p:spPr>
          <a:xfrm>
            <a:off x="781878" y="5770632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6F7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7EE488BA-072B-39DB-A607-71488F029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878" y="6024632"/>
            <a:ext cx="508000" cy="5080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BCD13808-AB0E-9508-3FFF-88F180641F50}"/>
              </a:ext>
            </a:extLst>
          </p:cNvPr>
          <p:cNvSpPr/>
          <p:nvPr/>
        </p:nvSpPr>
        <p:spPr>
          <a:xfrm>
            <a:off x="1670878" y="5897632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🍎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特殊情况：吃到食物</a:t>
            </a: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1600" b="1" dirty="0">
                <a:solidFill>
                  <a:srgbClr val="1F2329"/>
                </a:solidFill>
                <a:latin typeface="Noto Sans SC"/>
                <a:ea typeface="Noto Sans SC"/>
                <a:sym typeface="Noto Sans SC"/>
              </a:rPr>
              <a:t>else { </a:t>
            </a:r>
            <a:r>
              <a:rPr lang="en-US" altLang="zh-CN" sz="1600" b="1" dirty="0" err="1">
                <a:solidFill>
                  <a:srgbClr val="1F2329"/>
                </a:solidFill>
                <a:latin typeface="Noto Sans SC"/>
                <a:ea typeface="Noto Sans SC"/>
                <a:sym typeface="Noto Sans SC"/>
              </a:rPr>
              <a:t>len</a:t>
            </a:r>
            <a:r>
              <a:rPr lang="en-US" altLang="zh-CN" sz="1600" b="1" dirty="0">
                <a:solidFill>
                  <a:srgbClr val="1F2329"/>
                </a:solidFill>
                <a:latin typeface="Noto Sans SC"/>
                <a:ea typeface="Noto Sans SC"/>
                <a:sym typeface="Noto Sans SC"/>
              </a:rPr>
              <a:t>++;}</a:t>
            </a:r>
            <a:endParaRPr lang="en-US" sz="1600" b="1" dirty="0">
              <a:solidFill>
                <a:srgbClr val="1F2329"/>
              </a:solidFill>
              <a:latin typeface="Noto Sans SC"/>
              <a:ea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如果小蛇吃到了食物，尾巴就不会消失，并且蛇的长度会增加1，这样小蛇就变长啦！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E5B797-C5E4-BDCE-7CA4-BD45BA50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6" y="94268"/>
            <a:ext cx="5239525" cy="61127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DBD238-4B1C-CC1F-F897-0ED453237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37" y="273599"/>
            <a:ext cx="4923434" cy="618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0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DC19CA8-2A9C-BAA0-07A1-5F38C514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2" y="126124"/>
            <a:ext cx="2566194" cy="64495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3B7342B-1B2D-2BA5-0663-9502B13CC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242" y="336453"/>
            <a:ext cx="2980502" cy="54442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CA097F-9BB8-C332-F5CF-981CC087E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057" y="768772"/>
            <a:ext cx="3149762" cy="4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52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82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30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像格子纸一样，由行和列组成，用于存储地图等二维数据。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字符与字符串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30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char存储单个字符，字符数组存储一行文字或图案，让地图显示出丰富的内容。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4200" y="2032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贪吃蛇移动原理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30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通过计算新位置、判断碰撞、擦除尾巴、身体前移这几个步骤，让蛇动起来。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16000" cy="1016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795000" y="508000"/>
            <a:ext cx="762000" cy="762000"/>
          </a:xfrm>
          <a:prstGeom prst="ellipse">
            <a:avLst/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0" y="4826000"/>
            <a:ext cx="1270000" cy="1270000"/>
          </a:xfrm>
          <a:prstGeom prst="ellipse">
            <a:avLst/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826000"/>
            <a:ext cx="889000" cy="889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r>
              <a:rPr lang="en-US" sz="4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556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愿你在编程世界里继续探索，发现更多乐趣！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33020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2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26000" y="4572000"/>
            <a:ext cx="25400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D6FE24-A843-1D8F-A4D6-CAFEE4F4A5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199" y="317499"/>
            <a:ext cx="2794001" cy="2794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1335</Words>
  <Application>Microsoft Office PowerPoint</Application>
  <PresentationFormat>宽屏</PresentationFormat>
  <Paragraphs>235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Noto Sans SC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yulin liu</dc:creator>
  <cp:lastModifiedBy>yulin liu</cp:lastModifiedBy>
  <cp:revision>10</cp:revision>
  <dcterms:modified xsi:type="dcterms:W3CDTF">2026-04-06T12:43:29Z</dcterms:modified>
</cp:coreProperties>
</file>