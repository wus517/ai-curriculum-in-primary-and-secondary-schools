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77" r:id="rId12"/>
    <p:sldId id="268" r:id="rId13"/>
    <p:sldId id="269" r:id="rId14"/>
    <p:sldId id="271" r:id="rId15"/>
    <p:sldId id="272" r:id="rId16"/>
    <p:sldId id="261" r:id="rId17"/>
    <p:sldId id="262" r:id="rId18"/>
    <p:sldId id="270" r:id="rId19"/>
    <p:sldId id="273" r:id="rId20"/>
    <p:sldId id="274" r:id="rId21"/>
    <p:sldId id="275" r:id="rId22"/>
    <p:sldId id="276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145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72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13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6A1B9A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1828800" cy="1828800"/>
          </a:xfrm>
          <a:prstGeom prst="ellipse">
            <a:avLst/>
          </a:prstGeom>
          <a:solidFill>
            <a:srgbClr val="FF6F00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315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第一课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和计算机说 Hello！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0" y="3474720"/>
            <a:ext cx="2743200" cy="54864"/>
          </a:xfrm>
          <a:prstGeom prst="rect">
            <a:avLst/>
          </a:prstGeom>
          <a:solidFill>
            <a:srgbClr val="FFC107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今日提纲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216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编程是什么？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1463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了解编程与 C++ 语言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234440" y="1719072"/>
            <a:ext cx="6858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40080" y="1764792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4008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1746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第一个程序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4440" y="1993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World 与固定框架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34440" y="2249424"/>
            <a:ext cx="6858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640080" y="2295144"/>
            <a:ext cx="411480" cy="41148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4008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34440" y="2276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500" dirty="0" err="1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变量与数据类型</a:t>
            </a:r>
            <a:endParaRPr lang="en-US" altLang="zh-CN" sz="1500" dirty="0"/>
          </a:p>
        </p:txBody>
      </p:sp>
      <p:sp>
        <p:nvSpPr>
          <p:cNvPr id="18" name="Text 15"/>
          <p:cNvSpPr/>
          <p:nvPr/>
        </p:nvSpPr>
        <p:spPr>
          <a:xfrm>
            <a:off x="1234440" y="2523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/ float / double / char / bool </a:t>
            </a:r>
            <a:r>
              <a:rPr lang="en-US" altLang="zh-CN" sz="12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详解</a:t>
            </a:r>
            <a:endParaRPr lang="en-US" altLang="zh-CN" sz="1200" dirty="0"/>
          </a:p>
        </p:txBody>
      </p:sp>
      <p:sp>
        <p:nvSpPr>
          <p:cNvPr id="19" name="Shape 16"/>
          <p:cNvSpPr/>
          <p:nvPr/>
        </p:nvSpPr>
        <p:spPr>
          <a:xfrm>
            <a:off x="1234440" y="2779776"/>
            <a:ext cx="6858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640080" y="2825496"/>
            <a:ext cx="411480" cy="41148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4008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500" dirty="0" err="1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运算符</a:t>
            </a:r>
            <a:endParaRPr lang="en-US" altLang="zh-CN" sz="1500" dirty="0"/>
          </a:p>
        </p:txBody>
      </p:sp>
      <p:sp>
        <p:nvSpPr>
          <p:cNvPr id="23" name="Text 20"/>
          <p:cNvSpPr/>
          <p:nvPr/>
        </p:nvSpPr>
        <p:spPr>
          <a:xfrm>
            <a:off x="1234440" y="3054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加减乘除与取余</a:t>
            </a:r>
            <a:endParaRPr lang="en-US" altLang="zh-CN" sz="1200" dirty="0"/>
          </a:p>
        </p:txBody>
      </p:sp>
      <p:sp>
        <p:nvSpPr>
          <p:cNvPr id="24" name="Shape 21"/>
          <p:cNvSpPr/>
          <p:nvPr/>
        </p:nvSpPr>
        <p:spPr>
          <a:xfrm>
            <a:off x="1234440" y="3310128"/>
            <a:ext cx="6858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640080" y="3355848"/>
            <a:ext cx="411480" cy="41148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4008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344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500" dirty="0" err="1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</a:t>
            </a:r>
            <a:r>
              <a:rPr lang="en-US" altLang="zh-CN" sz="15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zh-CN" sz="1500" dirty="0" err="1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输入</a:t>
            </a:r>
            <a:endParaRPr lang="en-US" altLang="zh-CN" sz="1500" dirty="0"/>
          </a:p>
        </p:txBody>
      </p:sp>
      <p:sp>
        <p:nvSpPr>
          <p:cNvPr id="28" name="Text 25"/>
          <p:cNvSpPr/>
          <p:nvPr/>
        </p:nvSpPr>
        <p:spPr>
          <a:xfrm>
            <a:off x="1234440" y="3584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从键盘读取数据</a:t>
            </a:r>
            <a:endParaRPr lang="en-US" altLang="zh-CN" sz="1200" dirty="0"/>
          </a:p>
        </p:txBody>
      </p:sp>
      <p:sp>
        <p:nvSpPr>
          <p:cNvPr id="29" name="Shape 26"/>
          <p:cNvSpPr/>
          <p:nvPr/>
        </p:nvSpPr>
        <p:spPr>
          <a:xfrm>
            <a:off x="1234440" y="3840480"/>
            <a:ext cx="6858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640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23444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500" dirty="0" err="1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cout</a:t>
            </a:r>
            <a:r>
              <a:rPr lang="en-US" altLang="zh-CN" sz="15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zh-CN" sz="1500" dirty="0" err="1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输出</a:t>
            </a:r>
            <a:endParaRPr lang="en-US" altLang="zh-CN" sz="1500" dirty="0"/>
          </a:p>
        </p:txBody>
      </p:sp>
      <p:sp>
        <p:nvSpPr>
          <p:cNvPr id="33" name="Text 30"/>
          <p:cNvSpPr/>
          <p:nvPr/>
        </p:nvSpPr>
        <p:spPr>
          <a:xfrm>
            <a:off x="1234440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让计算机在屏幕上显示文字</a:t>
            </a:r>
            <a:endParaRPr lang="en-US" altLang="zh-CN" sz="1200" dirty="0"/>
          </a:p>
        </p:txBody>
      </p:sp>
      <p:sp>
        <p:nvSpPr>
          <p:cNvPr id="34" name="Shape 31"/>
          <p:cNvSpPr/>
          <p:nvPr/>
        </p:nvSpPr>
        <p:spPr>
          <a:xfrm>
            <a:off x="1234440" y="4370832"/>
            <a:ext cx="6858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640080" y="4416552"/>
            <a:ext cx="411480" cy="411480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640080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234440" y="4398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小游戏实战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234440" y="4645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自我介绍机 + 迷你计算器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编程是什么？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生活中的「编程」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写菜谱 → 厨师做菜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写乐谱 → 乐手演奏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写代码 → 计算机执行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846320" y="137160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5544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为什么学 C++？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21208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速度超快的编程语言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游戏、操作系统都用它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信息学竞赛的「官方语言」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第一个程序：Hello World!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234440" y="141732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"Hello World!";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引入工具箱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程序从这里开始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9260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在屏幕上输出文字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7490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告诉系统：结束了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记住这个「固定框架」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371600" y="128016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1600200" y="141732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828800" y="141732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2057400" y="141732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600200" y="178308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在这里写你的代码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每次写程序都从这个框架开始，先背下来！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变量：给数据取个名字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变量就像一个盒子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—— 贴上名字（变量名），规定能装什么（类型），再把东西放进去（赋值）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定义变量的语法：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类型</a:t>
            </a:r>
            <a:r>
              <a:rPr lang="en-US" sz="16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变量名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初始值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例如：int age = 12;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变量名规则：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只能用字母、数字、下划线，不能以数字开头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区分大小写：age 和 Age 是不同的变量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起有意义的名字：score 比 s 更好懂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数据类型 ①：int（整数）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用来存储整数（没有小数点的数），如 1、-5、0、100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定义方式：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242316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12;          // 定义并赋值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score;             // 只定义，不赋初值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100;           // 后面再赋值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3, b = 5;     // 一次定义多个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year = 2026;      // 存年份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 = 0;        // 计数器从0开始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96596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436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常见用途：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年龄、成绩、人数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年份、天数、次数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个数、序号、编号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游戏分数、生命值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8056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只能存整数，写 int x = 3.14; 会自动截断小数部分，变成 3！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数据类型 ②：</a:t>
            </a: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double（双精度小数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用来存储小数（带小数点的数），如 3.14、1.0、-2.5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定义方式：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242316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height = 1.55;  // 身高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pi = 3.14159;  // 圆周率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= 9.9;   // 价格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temp = -3.5;   // 温度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weight = 35.2; // 体重(kg)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rate = 0.85;   // 折扣率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96596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978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什么时候用 double？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身高、体重、温度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价格、折扣、汇率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圆周率、面积、距离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任何需要精确计算的场景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8056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vs double：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也能存整数（如 double x = 3;），但 int 不能存小数。拿不准就用 double！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数据类型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②：float（单精度小数）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也用来存小数，但精度比 double 低，占用内存更小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602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定义方式：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42160"/>
            <a:ext cx="5029200" cy="1463040"/>
          </a:xfrm>
          <a:prstGeom prst="roundRect">
            <a:avLst>
              <a:gd name="adj" fmla="val 7500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5800" y="2151307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4400" y="2151308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2151309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5800" y="2468671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score = 95.5f;  // 末尾加 f 或 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temp = -2.8f;   // 温度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pi = 3.14f;     // 精度约 6~7 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rate = 0.9f;    // 折扣率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5412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float vs double 对比：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95064"/>
              </p:ext>
            </p:extLst>
          </p:nvPr>
        </p:nvGraphicFramePr>
        <p:xfrm>
          <a:off x="457200" y="3798877"/>
          <a:ext cx="5029200" cy="1158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float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double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6~7 位小数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15~16 位小数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字节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字节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需要加 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不用加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760720" y="196596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0574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怎么选？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943600" y="24688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初学阶段建议：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默认用 double，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更精确、更安全！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的优势是省内存，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但现在电脑内存够用，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竞赛中也主要用 double。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记住：float 赋值加 f！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数据类型 ③：char（字符）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用来存储单个字符，用单引号 ' ' 括起来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定义方式：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242316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grade = 'A';     // 字母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digit = '6';     // 数字字符（不是数字 6）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op = '+';        // 运算符号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space = ' ';     // 空格也是字符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enter = '\n';    // 换行符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ch;              // 只定义不赋值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96596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978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ASCII 小知识：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4231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每个字符都有一个编号：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= 65   'B' = 66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= 97   'b' = 98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 = 48   '1' = 49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 char 可以做加减：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+ 1 → 'B'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8056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 用单引号 ' '，只能装一个字符！双引号 " " 是字符串，不能用 char 存。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ASCII 表：char 的秘密武器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5222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95179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 可以用数字赋值！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每个数字对应一个字符，这张表是ASCII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编码表中的可显示字符</a:t>
            </a:r>
            <a:r>
              <a:rPr lang="zh-CN" alt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altLang="zh-CN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32~126 </a:t>
            </a:r>
            <a:r>
              <a:rPr lang="zh-CN" alt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04681"/>
              </p:ext>
            </p:extLst>
          </p:nvPr>
        </p:nvGraphicFramePr>
        <p:xfrm>
          <a:off x="897924" y="1257300"/>
          <a:ext cx="7422288" cy="3886200"/>
        </p:xfrm>
        <a:graphic>
          <a:graphicData uri="http://schemas.openxmlformats.org/drawingml/2006/table">
            <a:tbl>
              <a:tblPr/>
              <a:tblGrid>
                <a:gridCol w="618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852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编号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字符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编号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字符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编号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字符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编号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字符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编号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字符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编号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字符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`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,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]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数据类型 ④：bool（布尔）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只有两个值：</a:t>
            </a: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（真）和 </a:t>
            </a:r>
            <a:r>
              <a:rPr lang="en-US" sz="15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（假）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定义方式：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914400" y="242316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242316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isSunny = true;   // 今天晴天吗？是！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passed = false;   // 及格了吗？没有！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isAdult = false;  // 成年了吗？没有！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输出时 true 显示 1，false 显示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isSunny;       // 输出：1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196596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8978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生活中的 bool：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0" y="24231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灵灯：开 / 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门：开 / 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考试：及格 / 不及格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游戏：存活 / 死亡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只要是「是/否」的问题，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就用 bool！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805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058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预告：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在后面学 if 判断时会非常有用，今天先认识它！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五种类型对比总结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6611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类型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用途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示例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精度/范围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age = 12;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±21 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小数（低精度）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 x = 3.14f;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6~7 位，加 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小数（高精度）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 h = 1.55;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15~16 位，推荐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A1B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单个字符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 c = 'A';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A1B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单引号 ' 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25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是/否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 ok = true;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319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怎么选类型？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整数 → int   </a:t>
            </a:r>
            <a:r>
              <a:rPr lang="en-US" sz="13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小数 → double（推荐）/ float   </a:t>
            </a:r>
            <a:r>
              <a:rPr lang="en-US" sz="13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单字符 → char   </a:t>
            </a:r>
            <a:r>
              <a:rPr lang="en-US" sz="13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是/否 → bool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运算符：让计算机做计算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5720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4440" y="1307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286000" y="1307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+ 2 = 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45720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28600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10 - 4 = 6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45720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34440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28600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 5 = 15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3017520"/>
            <a:ext cx="45720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34440" y="3090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28600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 = 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611880"/>
            <a:ext cx="45720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34440" y="3685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取余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2286000" y="3685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3 = 1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303520" y="123444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32588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85216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整数除法的坑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548640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 = 3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两个整数相除，结果也是整数！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想要小数结果请用 double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03520" y="31089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1"/>
          <p:cNvSpPr/>
          <p:nvPr/>
        </p:nvSpPr>
        <p:spPr>
          <a:xfrm>
            <a:off x="54864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组合使用示例：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5440680" y="356616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5669280" y="370332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4"/>
          <p:cNvSpPr/>
          <p:nvPr/>
        </p:nvSpPr>
        <p:spPr>
          <a:xfrm>
            <a:off x="5897880" y="370332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5"/>
          <p:cNvSpPr/>
          <p:nvPr/>
        </p:nvSpPr>
        <p:spPr>
          <a:xfrm>
            <a:off x="6126480" y="370332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6"/>
          <p:cNvSpPr/>
          <p:nvPr/>
        </p:nvSpPr>
        <p:spPr>
          <a:xfrm>
            <a:off x="566928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10, b = 3;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a + b;  // 13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a % b;  // 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 输入：让计算机「听话」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C++ 的「耳朵」，接收键盘输入，存进变量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语法：  </a:t>
            </a:r>
            <a:r>
              <a:rPr lang="en-US" sz="15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变量名;</a:t>
            </a:r>
            <a:r>
              <a:rPr lang="en-US" sz="13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注意：是 &gt;&gt; 不是 &lt;&lt;，方向相反！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85800" y="269748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914400" y="269748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43000" y="269748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85800" y="3063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"你几岁了？";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"你" &lt;&lt; age &lt;&lt; "岁了！";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56032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89788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你几岁了？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你12岁了！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607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一次读取多个值：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60720" y="448056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943600" y="4507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 &gt;&gt; b &gt;&gt; c;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cout 输出：让计算机「说话」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C++ 的「嘴巴」，把内容显示到屏幕上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语法：  </a:t>
            </a:r>
            <a:r>
              <a:rPr lang="en-US" sz="15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"你想输出的内容";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示例 1：输出一句话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143000" y="315468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"Hello!";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436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示例 2：输出多行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983480" y="315468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212080" y="315468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40680" y="315468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"Hello!"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"I am C++";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1148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9204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526280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am C++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0027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cout 进阶：拼接与换行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「&lt;&lt;」可以连续使用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用多个 &lt;&lt; 把不同内容串起来：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325880" y="224028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"I am " &lt;&lt; 12;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3200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am 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文字用双引号，数字直接写！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endl = 换行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 endl，内容会挟在一行：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10312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166360" y="224028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623560" y="224028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166360" y="2606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"A";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"B";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06324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7492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474720"/>
            <a:ext cx="3200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 endl 才会换到下一行！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79849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变量 + cout：把变量内容输出来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43000" y="132588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12;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height = 1.55;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grade = 'A';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"age=" &lt;&lt; age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"h=" &lt;&lt; height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"grade=" &lt;&lt; grade;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1887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8978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age=12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h=1.55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grade=A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274320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83464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0936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变量名不加引号，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输出的是里面的值！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变量可以修改：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685800" y="397764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914400" y="397764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143000" y="397764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85800" y="4343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         // x 现在是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20;             // x 变成了 20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60720" y="384048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8978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变量的值可以被覆盖，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新值会替换旧值！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输入 + 输出：完整示例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读入年龄，组合计算输出：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43000" y="169164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"请输入年龄：";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age;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"我今年" &lt;&lt; age &lt;&lt; "岁"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"明年就" &lt;&lt; age+1 &lt;&lt; "岁了!";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7220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请输入年龄：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我今年12岁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明年就13岁了!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291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38328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cout 里可以直接写计算：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+ 1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会先算出结果再输出！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小游戏 ① 自我介绍机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任务：输入年龄和身高，让电脑生成自我介绍！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685800" y="205740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914400" y="205740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0574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85800" y="2423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height;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"你几岁？";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age;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"你多高(米)？";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height;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"我今年" &lt;&lt; age &lt;&lt; "岁"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"身高" &lt;&lt; height &lt;&lt; "米"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19202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9788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331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你几岁？12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你多高(米)？1.55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我今年12岁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身高1.55米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402336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1148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63640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挑战：加上“明年就xx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岁了”的计算输出！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小游戏 ② 迷你计算器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430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任务：输入两个数字，电脑算出加减乘除取余！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685800" y="205740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914400" y="205740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20574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85800" y="2423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a, 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"请输入两个整数：";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 &gt;&gt; 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"和=" &lt;&lt; a+b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"差=" &lt;&lt; a-b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"积=" &lt;&lt; a*b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"商=" &lt;&lt; a/b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"余数=" &lt;&lt; a%b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192024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9788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3317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请输入两个整数：10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和=13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差=7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积=30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商=3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余数=1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429768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37083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6364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挑战：用 double 算出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精确的除法结果！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6A1B9A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743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今日小结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31520" y="17373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C++ 程序的固定框架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7373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46320" y="1783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cout &lt;&lt;  输出到屏幕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91440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五种类型：int / float / double / char / bool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26517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84632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运算符：+ - * / 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5661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1440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cin &gt;&gt;  从键盘读入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63440" y="356616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84632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输入 + 计算 + 输出组合实战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课后练习：自由发挥，用今天学的内容做一个你喜欢的小程序！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1807</Words>
  <Application>Microsoft Macintosh PowerPoint</Application>
  <PresentationFormat>全屏显示(16:9)</PresentationFormat>
  <Paragraphs>573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Arial Black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杨帆</cp:lastModifiedBy>
  <cp:revision>4</cp:revision>
  <dcterms:created xsi:type="dcterms:W3CDTF">2026-03-17T03:17:27Z</dcterms:created>
  <dcterms:modified xsi:type="dcterms:W3CDTF">2026-03-18T02:35:01Z</dcterms:modified>
</cp:coreProperties>
</file>