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  <p:sldMasterId id="2147483660" r:id="rId2"/>
  </p:sldMasterIdLst>
  <p:notesMasterIdLst>
    <p:notesMasterId r:id="rId27"/>
  </p:notesMasterIdLst>
  <p:sldIdLst>
    <p:sldId id="274" r:id="rId3"/>
    <p:sldId id="275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76" r:id="rId12"/>
    <p:sldId id="264" r:id="rId13"/>
    <p:sldId id="277" r:id="rId14"/>
    <p:sldId id="265" r:id="rId15"/>
    <p:sldId id="278" r:id="rId16"/>
    <p:sldId id="266" r:id="rId17"/>
    <p:sldId id="280" r:id="rId18"/>
    <p:sldId id="267" r:id="rId19"/>
    <p:sldId id="268" r:id="rId20"/>
    <p:sldId id="281" r:id="rId21"/>
    <p:sldId id="269" r:id="rId22"/>
    <p:sldId id="270" r:id="rId23"/>
    <p:sldId id="271" r:id="rId24"/>
    <p:sldId id="272" r:id="rId25"/>
    <p:sldId id="273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56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654" y="10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presProps" Target="presProps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28.04.2026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同学们好！欢迎来到今天的C++课堂。今天，我们要一起做一个超酷的小程序！它能让我们输入的普通文字，比如你的名字缩写，瞬间变成一个带边框、能变大、还能换颜色的艺术字图案。听起来是不是很有趣？让我们一起开启今天的创造之旅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快看屏幕上的这些图案！是不是感觉像画出来的一样？但我要告诉大家一个秘密：它们并不是真正的图片，而是我们熟悉的控制台里打印出来的很多行字符！今天，我们的目标就是亲手打造一个能生成这种酷炫效果的程序。是不是已经迫不及待了？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现在，让我们进入第一部分：项目概览。在这一章，我们将了解我们今天要制作的程序到底是什么样子，它能实现哪些有趣的功能。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请看大屏幕！这就是我们今天要制作的程序。左边是它的主菜单代码，右边是它的运行效果。程序默认会输出我们学校的缩写“USTC”，但我们也可以通过设置，改变它的字符、颜色和大小。最神奇的是，屏幕上的每一个图案，都是程序在控制台里，通过一行一行地打印字符串拼接出来的。这就是代码的魅力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那么，这个程序具体能为我们做些什么呢？它就像一个功能强大的“艺术字生成器”。首先，你可以自定义要显示的内容，比如你的名字缩写。其次，你可以调整艺术字的样式，包括大小、使用的字符。最后，你还可以给艺术字和边框添加不同的颜色，并随时预览效果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看起来很复杂的程序，背后其实是一个非常清晰的流程，就像一个工厂的流水线。我们可以把它想象成制作生日蛋糕：准备原料、烘烤、装饰、组合、裱花、装盘、最后呈现。我们的艺术字程序也是一样，它遵循着一个清晰的流水线：渲染文字、添加边框、居中显示、最终打印。这个过程告诉我们一个重要的编程思想：把一个复杂的大问题，分解成几个简单的小步骤来解决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了解了程序的整体流程后，我们现在进入第二部分，深入代码内部，拆解实现这些功能的核心技术。我们会看到程序是如何“思考”和“创造”出艺术字的。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程序要正常工作，首先得“记住”一些东西。这些“东西”就是数据。我们的程序需要记住两类重要信息：第一类是不变的规则，我们用const来定义，叫做常量，比如支持多少个字符。第二类是可变的状态，我们用普通变量来存储，比如当前要显示的文字、大小和颜色。这些变量共同构成了程序的“状态”，程序的所有行为都基于当前状态来执行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这一页是我们整个程序的核心秘密！艺术字是怎么来的？答案就在这个叫做FONT的二维数组里。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这就像中国古代的活字印刷术，每个字符都有一个预先设计好的“字模”。大家看左边的代码，这就是我们的字模库。比如字符'A'，它是一个由5行字符串组成的图案。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右边展示了字符'A'的样子。我们约定，X代表要填充的部分，空格代表留白。程序在运行时，就像查字典一样，根据用户输入的字母，从字模库中找到对应的“图案”，然后一行一行地把它打印在屏幕上。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已经找到了字符的“字模”，现在要让它“变身”。这个过程分为四步：首先，查找字符在模板库中的位置；然后，将模板里的'X'替换成用户想要的字符；接着，通过重复每个字符来实现横向放大；最后，通过重复每一行来实现纵向放大。通过这四步，一个小小的模板就变成了一个大的艺术字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单个字符生成后，如何拼成多个字符的图案呢？程序采用了一种巧妙的“分层拼接”方法。就像用乐高积木一层一层地拼一样，程序会把所有字符的第一行拼接起来，组成最终图案的第一行；然后把所有字符的第二行拼接起来，组成最终图案的第二行，以此类推。这种方法完美地解决了多字符对齐的问题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生成了艺术字内容后，我们还需要给它做一些“美容”。首先，程序需要计算出内容的最大宽度，以便添加合适的边框。然后，在内容的四周加上边框字符。最后，通过在每一行的左边填充相同数量的空格，实现整个图案在屏幕上的居中显示。这些步骤让我们的输出看起来更专业、更美观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一个好的程序需要有良好的用户交互。我们的程序通过一个主循环来实现。程序会不断地显示菜单、获取用户输入、然后根据输入执行相应的操作，直到用户选择退出。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为了防止程序崩溃，我们还加入了输入校验，确保用户输入的是有效的数字。这种“显示菜单-获取输入-判断执行”的模式，是编写控制台程序的经典框架。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程序还能输出彩色文字。原理就像画画前先调色一样。程序在打印每个字符之前，会先调用setColor函数设置好颜色。如果是边框字符，就设置成边框颜色；如果是艺术字字符，就设置成文字颜色。打印完后，再恢复默认颜色。通过这种动态切换颜色的方式，我们就能在控制台里实现多彩的输出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现在我们进入最后一部分：总结与实践。我们将回顾本节课学到的核心知识点，并通过一些练习来巩固所学，真正做到学以致用。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  <a:latin typeface="Songti SC"/>
                <a:ea typeface="Songti SC"/>
                <a:cs typeface="Songti SC"/>
                <a:sym typeface="Songti SC"/>
              </a:rPr>
              <a:t>通过今天的项目，我们复习并实践了C++的基础语法和控制结构，包括常量、变量、数组、循环和判断。更重要的是，我们学习了几种关键的程序设计思想：如何通过函数拆分来管理复杂任务，如何通过状态变量来控制程序行为，如何进行输入校验以增强程序健壮性，以及如何设计菜单来实现人机交互。这些思想对于未来开发更复杂的程序至关重要。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学习编程最好的方式就是动手实践！这里有几个不同难度的任务。初学者可以从Level 1开始，简单修改几个默认值就能看到效果。如果你感觉熟练了，可以尝试Level 2，增加一个新功能。如果你充满创意，可以挑战Level 3，设计一个属于你自己的字符模板。大胆尝试吧！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好了，我们今天的课程就要结束了。让我们最后再回顾一下今天最重要的三个收获：第一，艺术字的本质是字符串的拼接；第二，掌握“分而治之”的思想来解决复杂问题；第三，学会用函数来组织代码，实现模块化。希望通过今天的学习，大家不仅学会了如何制作一个艺术字程序，更能体会到编程的乐趣和解决问题的思维方式。谢谢大家！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幻灯片" type="title">
  <p:cSld name="TITLE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3" name="Shape 31"/>
          <p:cNvSpPr txBox="1"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14" name="Shape 3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5" name="Shape 3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6" name="Shape 3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内容" type="obj">
  <p:cSld name="OBJECT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19" name="Shape 55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20" name="Shape 5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1" name="Shape 5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2" name="Shape 5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节标题" type="secHead">
  <p:cSld name="SECTION_HEADER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5" name="Shape 60"/>
          <p:cNvSpPr txBox="1">
            <a:spLocks noGrp="1"/>
          </p:cNvSpPr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26" name="Shape 6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7" name="Shape 6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28" name="Shape 6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两栏内容" type="twoObj">
  <p:cSld name="TWO_OBJECTS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1" name="Shape 10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2" name="Shape 11"/>
          <p:cNvSpPr txBox="1">
            <a:spLocks noGrp="1"/>
          </p:cNvSpPr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33" name="Shape 12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4" name="Shape 13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5" name="Shape 14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比较" type="twoTxTwoObj">
  <p:cSld name="TWO_OBJECTS_WITH_TEXT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38" name="Shape 36"/>
          <p:cNvSpPr txBox="1">
            <a:spLocks noGrp="1"/>
          </p:cNvSpPr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39" name="Shape 37"/>
          <p:cNvSpPr txBox="1">
            <a:spLocks noGrp="1"/>
          </p:cNvSpPr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0" name="Shape 38"/>
          <p:cNvSpPr txBox="1">
            <a:spLocks noGrp="1"/>
          </p:cNvSpPr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1" name="Shape 39"/>
          <p:cNvSpPr txBox="1">
            <a:spLocks noGrp="1"/>
          </p:cNvSpPr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42" name="Shape 40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3" name="Shape 41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4" name="Shape 42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仅标题" type="titleOnly">
  <p:cSld name="TITLE_ONLY"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7" name="Shape 2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8" name="Shape 2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49" name="Shape 2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空白" type="blank">
  <p:cSld name="BLANK"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2" name="Shape 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3" name="Shape 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内容与标题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6" name="Shape 44"/>
          <p:cNvSpPr txBox="1">
            <a:spLocks noGrp="1"/>
          </p:cNvSpPr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57" name="Shape 45"/>
          <p:cNvSpPr txBox="1">
            <a:spLocks noGrp="1"/>
          </p:cNvSpPr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58" name="Shape 46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59" name="Shape 47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0" name="Shape 48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图片与标题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3" name="Shape 25"/>
          <p:cNvSpPr>
            <a:spLocks noGrp="1"/>
          </p:cNvSpPr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4" name="Shape 26"/>
          <p:cNvSpPr txBox="1">
            <a:spLocks noGrp="1"/>
          </p:cNvSpPr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>
            <a:endParaRPr/>
          </a:p>
        </p:txBody>
      </p:sp>
      <p:sp>
        <p:nvSpPr>
          <p:cNvPr id="65" name="Shape 2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6" name="Shape 2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67" name="Shape 2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标题和竖排文字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0" name="Shape 50"/>
          <p:cNvSpPr txBox="1">
            <a:spLocks noGrp="1"/>
          </p:cNvSpPr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1" name="Shape 51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2" name="Shape 52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3" name="Shape 53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竖排标题与文本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>
            <a:spLocks noGrp="1"/>
          </p:cNvSpPr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6" name="Shape 16"/>
          <p:cNvSpPr txBox="1">
            <a:spLocks noGrp="1"/>
          </p:cNvSpPr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>
            <a:endParaRPr/>
          </a:p>
        </p:txBody>
      </p:sp>
      <p:sp>
        <p:nvSpPr>
          <p:cNvPr id="77" name="Shape 17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8" name="Shape 18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>
            <a:endParaRPr/>
          </a:p>
        </p:txBody>
      </p:sp>
      <p:sp>
        <p:nvSpPr>
          <p:cNvPr id="79" name="Shape 19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/>
              <a:buNone/>
              <a:defRPr sz="33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>
            <a:endParaRPr/>
          </a:p>
        </p:txBody>
      </p:sp>
      <p:sp>
        <p:nvSpPr>
          <p:cNvPr id="7" name="Shape 2"/>
          <p:cNvSpPr txBox="1"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Shape 3"/>
          <p:cNvSpPr txBox="1">
            <a:spLocks noGrp="1"/>
          </p:cNvSpPr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9" name="Shape 4"/>
          <p:cNvSpPr txBox="1">
            <a:spLocks noGrp="1"/>
          </p:cNvSpPr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0" name="Shape 5"/>
          <p:cNvSpPr txBox="1">
            <a:spLocks noGrp="1"/>
          </p:cNvSpPr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默认主题"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57483699" r:id="rId1"/>
  </p:sldLayoutIdLst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9.svg"/><Relationship Id="rId5" Type="http://schemas.openxmlformats.org/officeDocument/2006/relationships/image" Target="../media/image8.svg"/><Relationship Id="rId4" Type="http://schemas.openxmlformats.org/officeDocument/2006/relationships/image" Target="../media/image7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svg"/><Relationship Id="rId4" Type="http://schemas.openxmlformats.org/officeDocument/2006/relationships/image" Target="../media/image14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svg"/><Relationship Id="rId4" Type="http://schemas.openxmlformats.org/officeDocument/2006/relationships/image" Target="../media/image17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4.sv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sv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31.svg"/><Relationship Id="rId5" Type="http://schemas.openxmlformats.org/officeDocument/2006/relationships/image" Target="../media/image30.svg"/><Relationship Id="rId4" Type="http://schemas.openxmlformats.org/officeDocument/2006/relationships/image" Target="../media/image29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34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svg"/><Relationship Id="rId4" Type="http://schemas.openxmlformats.org/officeDocument/2006/relationships/image" Target="../media/image35.sv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0.svg"/><Relationship Id="rId4" Type="http://schemas.openxmlformats.org/officeDocument/2006/relationships/image" Target="../media/image39.sv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36.svg"/><Relationship Id="rId4" Type="http://schemas.openxmlformats.org/officeDocument/2006/relationships/image" Target="../media/image44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0.svg"/><Relationship Id="rId5" Type="http://schemas.openxmlformats.org/officeDocument/2006/relationships/image" Target="../media/image46.svg"/><Relationship Id="rId4" Type="http://schemas.openxmlformats.org/officeDocument/2006/relationships/image" Target="../media/image23.sv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svg"/><Relationship Id="rId4" Type="http://schemas.openxmlformats.org/officeDocument/2006/relationships/image" Target="../media/image50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1946564"/>
            <a:ext cx="10160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3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270000" y="2327564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C++</a:t>
            </a:r>
            <a:r>
              <a:rPr lang="zh-CN" alt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第七次课：</a:t>
            </a:r>
            <a:r>
              <a:rPr lang="en-US" sz="36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艺术字程序设计</a:t>
            </a:r>
            <a:endParaRPr lang="en-US" sz="1100" dirty="0"/>
          </a:p>
        </p:txBody>
      </p:sp>
      <p:cxnSp>
        <p:nvCxnSpPr>
          <p:cNvPr id="5" name="Connector 5"/>
          <p:cNvCxnSpPr/>
          <p:nvPr/>
        </p:nvCxnSpPr>
        <p:spPr>
          <a:xfrm rot="-8594">
            <a:off x="3556008" y="3400714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  <a:headEnd type="none" w="lg" len="lg"/>
            <a:tailEnd type="none" w="lg" len="lg"/>
          </a:ln>
        </p:spPr>
      </p:cxnSp>
      <p:sp>
        <p:nvSpPr>
          <p:cNvPr id="6" name="AutoShape 6"/>
          <p:cNvSpPr/>
          <p:nvPr/>
        </p:nvSpPr>
        <p:spPr>
          <a:xfrm>
            <a:off x="1270000" y="3724564"/>
            <a:ext cx="965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让字符“活”起来！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DB3BA6DA-4292-69EC-A9F2-6FF6E35A52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2341" y="610501"/>
            <a:ext cx="5422034" cy="2627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EA6852BB-64F5-E24A-0D7E-8A2151878FF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2341" y="3653018"/>
            <a:ext cx="4998500" cy="2328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F5E20E7-5F32-C5D7-922A-12195D0A6E0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5163" y="610501"/>
            <a:ext cx="5545002" cy="262753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图片 10">
            <a:extLst>
              <a:ext uri="{FF2B5EF4-FFF2-40B4-BE49-F238E27FC236}">
                <a16:creationId xmlns:a16="http://schemas.microsoft.com/office/drawing/2014/main" id="{BA323189-260F-221E-4F12-0ECE0E29418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93495" y="3653018"/>
            <a:ext cx="6294635" cy="23288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318940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哇！这是我们要做的效果！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63500" dir="81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8415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01. 主菜单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程序启动后，会显示一个清晰的功能菜单，供用户选择不同的艺术字生成模式。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27000" dist="63500" dir="81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1905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5461000" y="18415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02. 默认效果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输入关键词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`USTC`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，使用程序内置的默认字符与颜色设置，快速生成标准的字符画艺术字。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1651000"/>
            <a:ext cx="3302000" cy="2286000"/>
          </a:xfrm>
          <a:prstGeom prst="roundRect">
            <a:avLst>
              <a:gd name="adj" fmla="val 5555"/>
            </a:avLst>
          </a:prstGeom>
          <a:solidFill>
            <a:srgbClr val="FFFFFF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63500" dir="81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82000" y="1905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9144000" y="1841500"/>
            <a:ext cx="2032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03. 自定义效果</a:t>
            </a:r>
            <a:endParaRPr lang="en-US" sz="1100"/>
          </a:p>
          <a:p>
            <a:pPr indent="0" algn="l">
              <a:lnSpc>
                <a:spcPct val="116666"/>
              </a:lnSpc>
            </a:pP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进阶玩法：修改内容为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`CODE`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，调整放大倍数为2，用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`@`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做填充，用</a:t>
            </a:r>
            <a:r>
              <a:rPr lang="en-US" sz="1400" b="1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`+`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/>
                <a:ea typeface="Noto Sans SC"/>
                <a:cs typeface="Noto Sans SC"/>
                <a:sym typeface="Noto Sans SC"/>
              </a:rPr>
              <a:t>做边框，生成专属的个性效果。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4318000"/>
            <a:ext cx="10668000" cy="1778000"/>
          </a:xfrm>
          <a:prstGeom prst="roundRect">
            <a:avLst>
              <a:gd name="adj" fmla="val 7142"/>
            </a:avLst>
          </a:prstGeom>
          <a:solidFill>
            <a:srgbClr val="F0F9FF">
              <a:alpha val="10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43000" y="4699000"/>
            <a:ext cx="762000" cy="762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2286000" y="4572000"/>
            <a:ext cx="8636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✨ 你知道吗？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600" b="0" i="0" u="none" strike="noStrike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这些看起来像图片的酷炫图案，其实并没有用到任何复杂的图像技术！它们全部都是由我们非常熟悉的一行行普通键盘字符，在控制台里巧妙排列拼出来的哦！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32000" y="203200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27400" y="2984500"/>
            <a:ext cx="5537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第一部分：项目概览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318000" y="3683000"/>
            <a:ext cx="3556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让程序学会“创造艺术”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0" y="2286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01200" y="42672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0">
          <a:gsLst>
            <a:gs pos="0">
              <a:srgbClr val="F6F8FC">
                <a:alpha val="100000"/>
              </a:srgbClr>
            </a:gs>
            <a:gs pos="74000">
              <a:srgbClr val="ABC0E4">
                <a:alpha val="100000"/>
              </a:srgbClr>
            </a:gs>
            <a:gs pos="83000">
              <a:srgbClr val="ABC0E4">
                <a:alpha val="100000"/>
              </a:srgbClr>
            </a:gs>
            <a:gs pos="100000">
              <a:srgbClr val="C7D5ED">
                <a:alpha val="100000"/>
              </a:srgbClr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程序运行效果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5842000"/>
            <a:ext cx="106680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080000" cy="3683000"/>
          </a:xfrm>
          <a:prstGeom prst="roundRect">
            <a:avLst>
              <a:gd name="adj" fmla="val 3448"/>
            </a:avLst>
          </a:prstGeom>
          <a:solidFill>
            <a:srgbClr val="263238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90600" y="1968500"/>
            <a:ext cx="177800" cy="177800"/>
          </a:xfrm>
          <a:prstGeom prst="ellipse">
            <a:avLst/>
          </a:prstGeom>
          <a:solidFill>
            <a:srgbClr val="FF5F5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6"/>
          <p:cNvSpPr/>
          <p:nvPr/>
        </p:nvSpPr>
        <p:spPr>
          <a:xfrm>
            <a:off x="1270000" y="1968500"/>
            <a:ext cx="177800" cy="177800"/>
          </a:xfrm>
          <a:prstGeom prst="ellipse">
            <a:avLst/>
          </a:prstGeom>
          <a:solidFill>
            <a:srgbClr val="FFBD2E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549400" y="1968500"/>
            <a:ext cx="177800" cy="177800"/>
          </a:xfrm>
          <a:prstGeom prst="ellipse">
            <a:avLst/>
          </a:prstGeom>
          <a:solidFill>
            <a:srgbClr val="27C93F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990600" y="2413000"/>
            <a:ext cx="4622800" cy="279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void</a:t>
            </a: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showMenu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lang="en-US" sz="1100"/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"\n========== USTC 艺术字程序 ==========\n"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"1. 生成图案\n"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"2. 修改设置\n"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"3. 预览\n"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"4. 查看设置\n"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"5. 退出\n"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&lt;&lt;</a:t>
            </a:r>
            <a:r>
              <a:rPr lang="en-US" sz="1300" b="0" i="0" u="none" strike="noStrike">
                <a:solidFill>
                  <a:srgbClr val="98C379"/>
                </a:solidFill>
                <a:latin typeface="Consolas"/>
                <a:ea typeface="Consolas"/>
                <a:cs typeface="Consolas"/>
                <a:sym typeface="Consolas"/>
              </a:rPr>
              <a:t>"======================================\n"</a:t>
            </a: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;</a:t>
            </a:r>
          </a:p>
          <a:p>
            <a:pPr indent="0" algn="l">
              <a:lnSpc>
                <a:spcPct val="108333"/>
              </a:lnSpc>
            </a:pPr>
            <a:r>
              <a:rPr lang="en-US" sz="1300" b="0" i="0" u="none" strike="noStrike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9" name="AutoShape 9"/>
          <p:cNvSpPr/>
          <p:nvPr/>
        </p:nvSpPr>
        <p:spPr>
          <a:xfrm>
            <a:off x="6223000" y="1778000"/>
            <a:ext cx="5207000" cy="3683000"/>
          </a:xfrm>
          <a:prstGeom prst="roundRect">
            <a:avLst>
              <a:gd name="adj" fmla="val 3448"/>
            </a:avLst>
          </a:prstGeom>
          <a:solidFill>
            <a:srgbClr val="1E1E23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10"/>
          <p:cNvSpPr/>
          <p:nvPr/>
        </p:nvSpPr>
        <p:spPr>
          <a:xfrm>
            <a:off x="6477000" y="2032000"/>
            <a:ext cx="4699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D700"/>
                </a:solidFill>
                <a:latin typeface="Noto Sans SC"/>
                <a:ea typeface="Noto Sans SC"/>
                <a:cs typeface="Noto Sans SC"/>
                <a:sym typeface="Noto Sans SC"/>
              </a:rPr>
              <a:t>✨ 效果展示与功能亮点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477000" y="2603500"/>
            <a:ext cx="4699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333"/>
              </a:lnSpc>
              <a:defRPr/>
            </a:pPr>
            <a:r>
              <a:rPr lang="en-US" sz="1500" b="0" i="0" u="none" strike="noStrike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500" b="0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默认模式：</a:t>
            </a: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在控制台中输出由星号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 `*` </a:t>
            </a: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字符拼接而成的“USTC”艺术字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● </a:t>
            </a:r>
            <a:r>
              <a:rPr lang="en-US" sz="1500" b="0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自定义模式：</a:t>
            </a: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支持修改构成字符（如改为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`@`）、</a:t>
            </a: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调整输出颜色（如绿色）以及放大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/</a:t>
            </a:r>
            <a:r>
              <a:rPr lang="en-US" sz="1400" b="0" i="0" u="none" strike="noStrike" dirty="0" err="1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缩小图案比例</a:t>
            </a:r>
            <a:r>
              <a:rPr lang="en-US" sz="1400" b="0" i="0" u="none" strike="noStrike" dirty="0">
                <a:solidFill>
                  <a:srgbClr val="DCDCDC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indent="0" algn="l">
              <a:lnSpc>
                <a:spcPct val="133333"/>
              </a:lnSpc>
            </a:pPr>
            <a:r>
              <a:rPr lang="en-US" sz="1500" b="0" i="0" u="none" strike="noStrike" dirty="0">
                <a:solidFill>
                  <a:srgbClr val="FF7043"/>
                </a:solidFill>
                <a:latin typeface="Noto Sans SC"/>
                <a:ea typeface="Noto Sans SC"/>
                <a:cs typeface="Noto Sans SC"/>
                <a:sym typeface="Noto Sans SC"/>
              </a:rPr>
              <a:t>! </a:t>
            </a:r>
            <a:r>
              <a:rPr lang="en-US" sz="1500" b="0" i="0" u="none" strike="noStrike" dirty="0" err="1">
                <a:solidFill>
                  <a:srgbClr val="FF7043"/>
                </a:solidFill>
                <a:latin typeface="Noto Sans SC"/>
                <a:ea typeface="Noto Sans SC"/>
                <a:cs typeface="Noto Sans SC"/>
                <a:sym typeface="Noto Sans SC"/>
              </a:rPr>
              <a:t>特别说明：</a:t>
            </a:r>
            <a:r>
              <a:rPr lang="en-US" sz="1400" b="0" i="0" u="none" strike="noStrike" dirty="0" err="1">
                <a:solidFill>
                  <a:srgbClr val="FFC8C8"/>
                </a:solidFill>
                <a:latin typeface="Noto Sans SC"/>
                <a:ea typeface="Noto Sans SC"/>
                <a:cs typeface="Noto Sans SC"/>
                <a:sym typeface="Noto Sans SC"/>
              </a:rPr>
              <a:t>屏幕上显示的不是静态图片，而是程序实时逐行打印字符串拼接生成的动态效果</a:t>
            </a:r>
            <a:r>
              <a:rPr lang="en-US" sz="1400" b="0" i="0" u="none" strike="noStrike" dirty="0">
                <a:solidFill>
                  <a:srgbClr val="FFC8C8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508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这个程序能做什么？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1968500" y="1905000"/>
            <a:ext cx="889000" cy="889000"/>
          </a:xfrm>
          <a:prstGeom prst="ellipse">
            <a:avLst/>
          </a:prstGeom>
          <a:solidFill>
            <a:srgbClr val="4A90E2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159000" y="20955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9210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内容自定义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810000"/>
            <a:ext cx="279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默认输出 `USTC`，也可以输入新的字母和数字，自由定义想要展示的内容。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5651500" y="1905000"/>
            <a:ext cx="889000" cy="889000"/>
          </a:xfrm>
          <a:prstGeom prst="ellipse">
            <a:avLst/>
          </a:prstGeom>
          <a:solidFill>
            <a:srgbClr val="F5A62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842000" y="20955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9210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样式调整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810000"/>
            <a:ext cx="279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灵活修改艺术字的整体大小，以及自定义内部的填充字符和外围的边框字符。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556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9334500" y="1905000"/>
            <a:ext cx="889000" cy="889000"/>
          </a:xfrm>
          <a:prstGeom prst="ellipse">
            <a:avLst/>
          </a:prstGeom>
          <a:solidFill>
            <a:srgbClr val="7ED321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0" y="20955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921000"/>
            <a:ext cx="304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6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色彩与预览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810000"/>
            <a:ext cx="2794000" cy="1524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8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支持分别修改内部字母和外部边框的颜色，并能实时预览修改后的最终效果。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842000"/>
            <a:ext cx="10668000" cy="76200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50000">
                <a:srgbClr val="F5A623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程序是怎么工作的？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16510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核心流程：艺术字流水线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286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1. 输入文字 → 2. 找到字符模板 → 3. 放大图案</a:t>
            </a:r>
            <a:b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4. 拼接字符串 → 5. 加边框 → 6. 居中 → 7. 输出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064000"/>
            <a:ext cx="5080000" cy="2413000"/>
          </a:xfrm>
          <a:prstGeom prst="roundRect">
            <a:avLst>
              <a:gd name="adj" fmla="val 5263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F5A623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43180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生活实例：制作生日蛋糕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4953000"/>
            <a:ext cx="4572000" cy="1397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准备原料 → 烘烤蛋糕 → 塑形装饰 → 组合蛋糕体 → 裱花 → 装盘 → 最终呈现给客人。复杂的程序逻辑就像制作蛋糕的清晰工序。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179127" y="1397000"/>
            <a:ext cx="5430982" cy="4953000"/>
          </a:xfrm>
          <a:prstGeom prst="roundRect">
            <a:avLst>
              <a:gd name="adj" fmla="val 2564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1651000"/>
            <a:ext cx="40005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核心代码：分步解决问题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413501" y="2413000"/>
            <a:ext cx="4937990" cy="3556000"/>
          </a:xfrm>
          <a:prstGeom prst="roundRect">
            <a:avLst>
              <a:gd name="adj" fmla="val 1785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6591300" y="2568864"/>
            <a:ext cx="4760191" cy="317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300" b="0" i="0" u="none" strike="noStrike" dirty="0" err="1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void</a:t>
            </a:r>
            <a:r>
              <a:rPr lang="en-US" sz="1300" b="0" i="0" u="none" strike="noStrike" dirty="0" err="1">
                <a:solidFill>
                  <a:srgbClr val="1ABC9C"/>
                </a:solidFill>
                <a:latin typeface="Noto Sans SC"/>
                <a:ea typeface="Noto Sans SC"/>
                <a:cs typeface="Noto Sans SC"/>
                <a:sym typeface="Noto Sans SC"/>
              </a:rPr>
              <a:t>buildAndPrintArt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() {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// 步骤1: </a:t>
            </a:r>
            <a:r>
              <a:rPr lang="en-US" sz="1300" b="0" i="0" u="none" strike="noStrike" dirty="0" err="1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将文字渲染成艺术字内容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renderText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artLines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artCount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// 步骤2: </a:t>
            </a:r>
            <a:r>
              <a:rPr lang="en-US" sz="1300" b="0" i="0" u="none" strike="noStrike" dirty="0" err="1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为艺术字添加边框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addBorder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artLines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artCount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borderLines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borderCount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// 步骤3: </a:t>
            </a:r>
            <a:r>
              <a:rPr lang="en-US" sz="1300" b="0" i="0" u="none" strike="noStrike" dirty="0" err="1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将带边框的艺术字居中显示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addCenterPadding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borderLines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borderCount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finalLines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// 步骤4: </a:t>
            </a:r>
            <a:r>
              <a:rPr lang="en-US" sz="1300" b="0" i="0" u="none" strike="noStrike" dirty="0" err="1">
                <a:solidFill>
                  <a:srgbClr val="BDC3C7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最终打印彩色的图案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   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printColoredLines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finalLines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, </a:t>
            </a:r>
            <a:r>
              <a:rPr lang="en-US" sz="13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borderCount</a:t>
            </a: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);</a:t>
            </a:r>
            <a:br>
              <a:rPr lang="en-US" sz="13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3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4">
            <a:extLst>
              <a:ext uri="{FF2B5EF4-FFF2-40B4-BE49-F238E27FC236}">
                <a16:creationId xmlns:a16="http://schemas.microsoft.com/office/drawing/2014/main" id="{9AEDA2F0-3402-6637-894A-85FCB7863825}"/>
              </a:ext>
            </a:extLst>
          </p:cNvPr>
          <p:cNvSpPr/>
          <p:nvPr/>
        </p:nvSpPr>
        <p:spPr>
          <a:xfrm>
            <a:off x="2124363" y="182649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26545" y="205509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5" name="AutoShape 5"/>
          <p:cNvSpPr/>
          <p:nvPr/>
        </p:nvSpPr>
        <p:spPr>
          <a:xfrm>
            <a:off x="2221345" y="2817090"/>
            <a:ext cx="762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第二部分：核心技术拆解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2221345" y="3579090"/>
            <a:ext cx="7620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让程序学会“思考与创造”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3232727" y="2361045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8" name="Picture 8"/>
          <p:cNvPicPr>
            <a:picLocks noChangeAspect="1"/>
          </p:cNvPicPr>
          <p:nvPr/>
        </p:nvPicPr>
        <p:blipFill>
          <a:blip r:embed="rId6"/>
          <a:srcRect/>
          <a:stretch>
            <a:fillRect/>
          </a:stretch>
        </p:blipFill>
        <p:spPr>
          <a:xfrm>
            <a:off x="8959272" y="341399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9" name="AutoShape 9"/>
          <p:cNvSpPr/>
          <p:nvPr/>
        </p:nvSpPr>
        <p:spPr>
          <a:xfrm>
            <a:off x="5269345" y="4341090"/>
            <a:ext cx="1524000" cy="76200"/>
          </a:xfrm>
          <a:prstGeom prst="roundRect">
            <a:avLst>
              <a:gd name="adj" fmla="val 50000"/>
            </a:avLst>
          </a:prstGeom>
          <a:solidFill>
            <a:srgbClr val="4A90E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程序里的重要数据</a:t>
            </a:r>
            <a:endParaRPr lang="en-US" sz="1100" dirty="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9685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778000" y="1930400"/>
            <a:ext cx="3937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常量 (Constants)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79500" y="2730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程序运行过程中，那些固定不变、作为规则存在的信息，通常使用</a:t>
            </a:r>
            <a:r>
              <a:rPr lang="en-US" sz="1600" b="1" i="0" u="none" strike="noStrike">
                <a:solidFill>
                  <a:srgbClr val="D92D20"/>
                </a:solidFill>
                <a:latin typeface="Noto Sans SC"/>
                <a:ea typeface="Noto Sans SC"/>
                <a:cs typeface="Noto Sans SC"/>
                <a:sym typeface="Noto Sans SC"/>
              </a:rPr>
              <a:t>const</a:t>
            </a: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关键字来定义。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79500" y="3810000"/>
            <a:ext cx="4572000" cy="1841500"/>
          </a:xfrm>
          <a:prstGeom prst="roundRect">
            <a:avLst>
              <a:gd name="adj" fmla="val 5517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1206500" y="393700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-US" sz="1200" b="0" i="0" u="none" strike="noStrike" dirty="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200" b="0" i="0" u="none" strike="noStrik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FONT_COUNT</a:t>
            </a:r>
            <a:r>
              <a:rPr lang="en-US" sz="1200" b="0" i="0" u="none" strike="noStrik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36; // 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支持的字符总数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-US" sz="1200" b="0" i="0" u="none" strike="noStrike" dirty="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200" b="0" i="0" u="none" strike="noStrik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FONT_HEIGHT</a:t>
            </a:r>
            <a:r>
              <a:rPr lang="en-US" sz="1200" b="0" i="0" u="none" strike="noStrik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5; // 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字符模板高度</a:t>
            </a:r>
            <a:endParaRPr lang="en-US" sz="1200" b="0" i="0" u="none" strike="noStrik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C678DD"/>
                </a:solidFill>
                <a:latin typeface="Consolas"/>
                <a:ea typeface="Consolas"/>
                <a:cs typeface="Consolas"/>
                <a:sym typeface="Consolas"/>
              </a:rPr>
              <a:t>const </a:t>
            </a:r>
            <a:r>
              <a:rPr lang="en-US" sz="1200" b="0" i="0" u="none" strike="noStrike" dirty="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1200" b="0" i="0" u="none" strike="noStrike" dirty="0">
                <a:solidFill>
                  <a:srgbClr val="E06C75"/>
                </a:solidFill>
                <a:latin typeface="Consolas"/>
                <a:ea typeface="Consolas"/>
                <a:cs typeface="Consolas"/>
                <a:sym typeface="Consolas"/>
              </a:rPr>
              <a:t>FONT_CHARS</a:t>
            </a:r>
            <a:r>
              <a:rPr lang="en-US" sz="1200" b="0" i="0" u="none" strike="noStrik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"ABC...0123..."; // 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字符集</a:t>
            </a:r>
            <a:endParaRPr lang="en-US" sz="1200" b="0" i="0" u="none" strike="noStrik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1651000"/>
            <a:ext cx="5207000" cy="4318000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540500" y="1968500"/>
            <a:ext cx="457200" cy="4572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8350" y="1914236"/>
            <a:ext cx="4191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 dirty="0" err="1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当前设置</a:t>
            </a:r>
            <a:r>
              <a:rPr lang="en-US" sz="2400" b="1" i="0" u="none" strike="noStrike" dirty="0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 (Current Settings)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540500" y="2730500"/>
            <a:ext cx="457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6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记录用户的选择和程序的运行状态，这些值是动态可变的，决定了程序当前的行为。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540500" y="3810000"/>
            <a:ext cx="4572000" cy="1841500"/>
          </a:xfrm>
          <a:prstGeom prst="roundRect">
            <a:avLst>
              <a:gd name="adj" fmla="val 5517"/>
            </a:avLst>
          </a:prstGeom>
          <a:solidFill>
            <a:srgbClr val="1F2937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4" name="AutoShape 14"/>
          <p:cNvSpPr/>
          <p:nvPr/>
        </p:nvSpPr>
        <p:spPr>
          <a:xfrm>
            <a:off x="6667500" y="3937000"/>
            <a:ext cx="4318000" cy="1587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200" b="0" i="0" u="none" strike="noStrike" dirty="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string </a:t>
            </a:r>
            <a:r>
              <a:rPr lang="en-US" sz="1200" b="0" i="0" u="none" strike="noStrike" dirty="0" err="1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currentText</a:t>
            </a:r>
            <a:r>
              <a:rPr lang="en-US" sz="1200" b="0" i="0" u="none" strike="noStrik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"USTC"; // 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待显示文本</a:t>
            </a:r>
            <a:endParaRPr lang="en-US" sz="1100" dirty="0"/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sz="1200" b="0" i="0" u="none" strike="noStrike" dirty="0" err="1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currentSize</a:t>
            </a:r>
            <a:r>
              <a:rPr lang="en-US" sz="1200" b="0" i="0" u="none" strike="noStrik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1; // 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字体大小</a:t>
            </a:r>
            <a:endParaRPr lang="en-US" sz="1200" b="0" i="0" u="none" strike="noStrik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 algn="l">
              <a:lnSpc>
                <a:spcPct val="116666"/>
              </a:lnSpc>
            </a:pPr>
            <a:r>
              <a:rPr lang="en-US" sz="1200" b="0" i="0" u="none" strike="noStrike" dirty="0">
                <a:solidFill>
                  <a:srgbClr val="E5C07B"/>
                </a:solidFill>
                <a:latin typeface="Consolas"/>
                <a:ea typeface="Consolas"/>
                <a:cs typeface="Consolas"/>
                <a:sym typeface="Consolas"/>
              </a:rPr>
              <a:t>char </a:t>
            </a:r>
            <a:r>
              <a:rPr lang="en-US" sz="1200" b="0" i="0" u="none" strike="noStrike" dirty="0" err="1">
                <a:solidFill>
                  <a:srgbClr val="61AFEF"/>
                </a:solidFill>
                <a:latin typeface="Consolas"/>
                <a:ea typeface="Consolas"/>
                <a:cs typeface="Consolas"/>
                <a:sym typeface="Consolas"/>
              </a:rPr>
              <a:t>fillChar</a:t>
            </a:r>
            <a:r>
              <a:rPr lang="en-US" sz="1200" b="0" i="0" u="none" strike="noStrike" dirty="0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= '*'; // </a:t>
            </a:r>
            <a:r>
              <a:rPr lang="en-US" sz="1200" b="0" i="0" u="none" strike="noStrike" dirty="0" err="1">
                <a:solidFill>
                  <a:srgbClr val="ABB2BF"/>
                </a:solidFill>
                <a:latin typeface="Consolas"/>
                <a:ea typeface="Consolas"/>
                <a:cs typeface="Consolas"/>
                <a:sym typeface="Consolas"/>
              </a:rPr>
              <a:t>填充字符</a:t>
            </a:r>
            <a:endParaRPr lang="en-US" sz="1200" b="0" i="0" u="none" strike="noStrike" dirty="0">
              <a:solidFill>
                <a:srgbClr val="ABB2BF"/>
              </a:solidFill>
              <a:latin typeface="Consolas"/>
              <a:ea typeface="Consolas"/>
              <a:cs typeface="Consolas"/>
              <a:sym typeface="Consolas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694FF2ED-5F19-2175-971C-1B4CC4A18FD0}"/>
              </a:ext>
            </a:extLst>
          </p:cNvPr>
          <p:cNvSpPr/>
          <p:nvPr/>
        </p:nvSpPr>
        <p:spPr>
          <a:xfrm>
            <a:off x="2213112" y="1198543"/>
            <a:ext cx="7491523" cy="4851657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AEECC9A0-F439-CA53-B229-25F07913AC1F}"/>
              </a:ext>
            </a:extLst>
          </p:cNvPr>
          <p:cNvSpPr/>
          <p:nvPr/>
        </p:nvSpPr>
        <p:spPr>
          <a:xfrm>
            <a:off x="563217" y="43654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4A90E2"/>
                </a:solidFill>
                <a:latin typeface="Noto Sans SC"/>
                <a:ea typeface="Noto Sans SC"/>
                <a:sym typeface="Noto Sans SC"/>
              </a:rPr>
              <a:t>相关代码</a:t>
            </a:r>
            <a:endParaRPr lang="en-US" sz="1100" dirty="0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7257270B-68AF-43B1-07D6-007AB592BAA3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BC4B3879-132A-0F5C-F4BE-DAEA9A730D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04585" y="1274791"/>
            <a:ext cx="7308575" cy="46991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0803788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艺术字的“活字印刷术”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905000" y="1524000"/>
            <a:ext cx="9271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艺术字是怎么来的？核心秘密就藏在一个叫</a:t>
            </a:r>
            <a:r>
              <a:rPr lang="en-US" sz="1800" b="1" i="0" u="none" strike="noStrike">
                <a:solidFill>
                  <a:srgbClr val="D97706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FONT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的二维数组里！它就像中国古代的活字印刷，每个字符都有一套预先设计好的“字模”，程序通过查表就能生成图案。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667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7" name="AutoShape 7"/>
          <p:cNvSpPr/>
          <p:nvPr/>
        </p:nvSpPr>
        <p:spPr>
          <a:xfrm>
            <a:off x="1016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💻 核心代码：字符“字模库”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3302000"/>
            <a:ext cx="4699000" cy="1206500"/>
          </a:xfrm>
          <a:prstGeom prst="roundRect">
            <a:avLst>
              <a:gd name="adj" fmla="val 5263"/>
            </a:avLst>
          </a:prstGeom>
          <a:solidFill>
            <a:srgbClr val="F1F5F9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9" name="AutoShape 9"/>
          <p:cNvSpPr/>
          <p:nvPr/>
        </p:nvSpPr>
        <p:spPr>
          <a:xfrm>
            <a:off x="1143000" y="3429000"/>
            <a:ext cx="4445000" cy="101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const string FONT[2][5] = {</a:t>
            </a:r>
            <a:b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'A' </a:t>
            </a:r>
            <a:r>
              <a:rPr lang="en-US" sz="1100" b="0" i="0" u="none" strike="noStrike" dirty="0" err="1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的模板</a:t>
            </a: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(5行)</a:t>
            </a:r>
            <a:b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{" XXX ", "X   </a:t>
            </a:r>
            <a:r>
              <a:rPr lang="en-US" sz="1100" b="0" i="0" u="none" strike="noStrike" dirty="0" err="1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", "XXXXX", "X   </a:t>
            </a:r>
            <a:r>
              <a:rPr lang="en-US" sz="1100" b="0" i="0" u="none" strike="noStrike" dirty="0" err="1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", "X   X"},</a:t>
            </a:r>
            <a:b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'B' </a:t>
            </a:r>
            <a:r>
              <a:rPr lang="en-US" sz="1100" b="0" i="0" u="none" strike="noStrike" dirty="0" err="1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的模板</a:t>
            </a:r>
            <a:b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{"XXXX ", "X   </a:t>
            </a:r>
            <a:r>
              <a:rPr lang="en-US" sz="1100" b="0" i="0" u="none" strike="noStrike" dirty="0" err="1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", "XXXX ", "X   </a:t>
            </a:r>
            <a:r>
              <a:rPr lang="en-US" sz="1100" b="0" i="0" u="none" strike="noStrike" dirty="0" err="1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</a:t>
            </a: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", "XXXX "}</a:t>
            </a:r>
            <a:b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</a:br>
            <a:r>
              <a:rPr lang="en-US" sz="1100" b="0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};</a:t>
            </a:r>
            <a:endParaRPr lang="en-US" sz="1100" dirty="0"/>
          </a:p>
        </p:txBody>
      </p:sp>
      <p:sp>
        <p:nvSpPr>
          <p:cNvPr id="10" name="AutoShape 10"/>
          <p:cNvSpPr/>
          <p:nvPr/>
        </p:nvSpPr>
        <p:spPr>
          <a:xfrm>
            <a:off x="6223000" y="2667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10B98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1" name="AutoShape 11"/>
          <p:cNvSpPr/>
          <p:nvPr/>
        </p:nvSpPr>
        <p:spPr>
          <a:xfrm>
            <a:off x="6477000" y="2794000"/>
            <a:ext cx="4699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🖼️ </a:t>
            </a: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视觉化：字符</a:t>
            </a:r>
            <a:r>
              <a:rPr lang="en-US" sz="20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 'A'</a:t>
            </a:r>
            <a:r>
              <a:rPr lang="zh-CN" altLang="en-US" sz="20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、</a:t>
            </a:r>
            <a:r>
              <a:rPr lang="en-US" altLang="zh-CN" sz="2000" b="1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 'B'</a:t>
            </a:r>
            <a:r>
              <a:rPr lang="en-US" sz="2000" b="1" i="0" u="none" strike="noStrike" dirty="0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2000" b="1" i="0" u="none" strike="noStrike" dirty="0" err="1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的样子</a:t>
            </a:r>
            <a:endParaRPr lang="en-US" sz="1100" dirty="0"/>
          </a:p>
        </p:txBody>
      </p:sp>
      <p:sp>
        <p:nvSpPr>
          <p:cNvPr id="12" name="AutoShape 12"/>
          <p:cNvSpPr/>
          <p:nvPr/>
        </p:nvSpPr>
        <p:spPr>
          <a:xfrm>
            <a:off x="6477000" y="3302000"/>
            <a:ext cx="4699000" cy="1206500"/>
          </a:xfrm>
          <a:prstGeom prst="roundRect">
            <a:avLst>
              <a:gd name="adj" fmla="val 5263"/>
            </a:avLst>
          </a:prstGeom>
          <a:solidFill>
            <a:srgbClr val="ECFDF5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5588000" y="3479367"/>
            <a:ext cx="4445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XXX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  X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XXXXX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  X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   X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762000" y="4953000"/>
            <a:ext cx="10668000" cy="1524000"/>
          </a:xfrm>
          <a:prstGeom prst="roundRect">
            <a:avLst>
              <a:gd name="adj" fmla="val 8333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E5E7EB">
                <a:alpha val="100000"/>
              </a:srgbClr>
            </a:solidFill>
            <a:prstDash val="solid"/>
            <a:round/>
          </a:ln>
          <a:effectLst>
            <a:outerShdw blurRad="127000" dist="50800" dir="2700000" algn="tl" rotWithShape="0">
              <a:srgbClr val="EF4444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1016000" y="5080000"/>
            <a:ext cx="10160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EF4444"/>
                </a:solidFill>
                <a:latin typeface="Noto Sans SC"/>
                <a:ea typeface="Noto Sans SC"/>
                <a:cs typeface="Noto Sans SC"/>
                <a:sym typeface="Noto Sans SC"/>
              </a:rPr>
              <a:t>🧠 设计原理：像打印一样绘图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1016000" y="5588000"/>
            <a:ext cx="10160000" cy="762000"/>
          </a:xfrm>
          <a:prstGeom prst="roundRect">
            <a:avLst>
              <a:gd name="adj" fmla="val 8333"/>
            </a:avLst>
          </a:prstGeom>
          <a:solidFill>
            <a:srgbClr val="FEF2F2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7" name="AutoShape 17"/>
          <p:cNvSpPr/>
          <p:nvPr/>
        </p:nvSpPr>
        <p:spPr>
          <a:xfrm>
            <a:off x="1016000" y="5715000"/>
            <a:ext cx="9906000" cy="571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✅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大写X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代表屏幕上要画出来的“实心”部分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| ✅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空格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: 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代表留白的背景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 | ✅</a:t>
            </a:r>
            <a:r>
              <a:rPr lang="en-US" sz="1300" b="1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字符串数组</a:t>
            </a:r>
            <a:r>
              <a:rPr lang="en-US" sz="1300" b="1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: 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每一行对应一个“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像素行</a:t>
            </a:r>
            <a:r>
              <a:rPr lang="en-US" sz="1300" b="0" i="0" u="none" strike="noStrike" dirty="0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”，</a:t>
            </a:r>
            <a:r>
              <a:rPr lang="en-US" sz="1300" b="0" i="0" u="none" strike="noStrike" dirty="0" err="1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从上到下打印</a:t>
            </a:r>
            <a:endParaRPr lang="en-US" sz="1100" dirty="0"/>
          </a:p>
        </p:txBody>
      </p:sp>
      <p:sp>
        <p:nvSpPr>
          <p:cNvPr id="18" name="AutoShape 13">
            <a:extLst>
              <a:ext uri="{FF2B5EF4-FFF2-40B4-BE49-F238E27FC236}">
                <a16:creationId xmlns:a16="http://schemas.microsoft.com/office/drawing/2014/main" id="{AC893475-2E46-3D7C-8694-842F876722A9}"/>
              </a:ext>
            </a:extLst>
          </p:cNvPr>
          <p:cNvSpPr/>
          <p:nvPr/>
        </p:nvSpPr>
        <p:spPr>
          <a:xfrm>
            <a:off x="7412182" y="3455266"/>
            <a:ext cx="4445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XXXX 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X   X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XXXX 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 X   X</a:t>
            </a:r>
          </a:p>
          <a:p>
            <a:pPr indent="0" algn="ctr">
              <a:lnSpc>
                <a:spcPct val="125000"/>
              </a:lnSpc>
              <a:defRPr/>
            </a:pPr>
            <a:r>
              <a:rPr lang="fr-FR" sz="1400" b="1" i="0" u="none" strike="noStrike" dirty="0">
                <a:solidFill>
                  <a:srgbClr val="1F2937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XXXX 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B0F793-DDD3-CE13-507F-F487760A9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4812482B-4400-504E-852B-B76D3ECFD935}"/>
              </a:ext>
            </a:extLst>
          </p:cNvPr>
          <p:cNvSpPr/>
          <p:nvPr/>
        </p:nvSpPr>
        <p:spPr>
          <a:xfrm>
            <a:off x="2213112" y="1198543"/>
            <a:ext cx="7491523" cy="4851657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9C9D54A-6666-E066-52E5-A4E8D78D459B}"/>
              </a:ext>
            </a:extLst>
          </p:cNvPr>
          <p:cNvSpPr/>
          <p:nvPr/>
        </p:nvSpPr>
        <p:spPr>
          <a:xfrm>
            <a:off x="563217" y="43654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4A90E2"/>
                </a:solidFill>
                <a:latin typeface="Noto Sans SC"/>
                <a:ea typeface="Noto Sans SC"/>
                <a:sym typeface="Noto Sans SC"/>
              </a:rPr>
              <a:t>相关代码</a:t>
            </a:r>
            <a:endParaRPr lang="en-US" sz="1100" dirty="0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DC4521B9-1D24-7184-290D-B70C4A000B55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2C36F1D0-A37F-53AD-08E8-3F351D2F0BB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78169" y="1257705"/>
            <a:ext cx="6438095" cy="4733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584327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DEEBF7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单个字符的“变身”过程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905000"/>
            <a:ext cx="457200" cy="4572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651000" y="1905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01. 查找位置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66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通过</a:t>
            </a:r>
            <a:r>
              <a:rPr lang="en-US" sz="1500" b="1" i="0" u="none" strike="noStrike" dirty="0" err="1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`findCharIndex`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函数，在预设的字符模板库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 `FONT_CHARS` 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中找到目标字符对应的索引位置，定位其字模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1905000"/>
            <a:ext cx="457200" cy="4572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905000"/>
            <a:ext cx="3937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EA580C"/>
                </a:solidFill>
                <a:latin typeface="Noto Sans SC"/>
                <a:ea typeface="Noto Sans SC"/>
                <a:cs typeface="Noto Sans SC"/>
                <a:sym typeface="Noto Sans SC"/>
              </a:rPr>
              <a:t>02. 替换字符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66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将查找到的字符模板中的占位符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 'X'，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统一替换为用户指定的填充字符，例如常用的星号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 `*`，</a:t>
            </a:r>
            <a:r>
              <a:rPr lang="en-US" sz="1500" b="0" i="0" u="none" strike="noStrike" dirty="0" err="1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形成字符的基础图案</a:t>
            </a:r>
            <a:r>
              <a:rPr lang="en-US" sz="1500" b="0" i="0" u="none" strike="noStrike" dirty="0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762000" y="4191000"/>
            <a:ext cx="5080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445000"/>
            <a:ext cx="457200" cy="4572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444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03. 横向放大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520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遍历基础图案的每一行，将其中的每一个字符连续重复</a:t>
            </a:r>
            <a:r>
              <a:rPr lang="en-US" sz="1500" b="1" i="0" u="none" strike="noStrike">
                <a:solidFill>
                  <a:srgbClr val="10B981"/>
                </a:solidFill>
                <a:latin typeface="Noto Sans SC"/>
                <a:ea typeface="Noto Sans SC"/>
                <a:cs typeface="Noto Sans SC"/>
                <a:sym typeface="Noto Sans SC"/>
              </a:rPr>
              <a:t>`currentSize`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次，让字符在水平方向上扩展，变宽。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191000"/>
            <a:ext cx="5207000" cy="2349500"/>
          </a:xfrm>
          <a:prstGeom prst="roundRect">
            <a:avLst>
              <a:gd name="adj" fmla="val 540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52400" dist="50800" dir="27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77000" y="4445000"/>
            <a:ext cx="457200" cy="4572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112000" y="4445000"/>
            <a:ext cx="4064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04. 纵向放大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5207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6666"/>
              </a:lnSpc>
              <a:defRPr/>
            </a:pP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对横向放大后的每一行，整体再重复</a:t>
            </a:r>
            <a:r>
              <a:rPr lang="en-US" sz="1500" b="1" i="0" u="none" strike="noStrike">
                <a:solidFill>
                  <a:srgbClr val="8B5CF6"/>
                </a:solidFill>
                <a:latin typeface="Noto Sans SC"/>
                <a:ea typeface="Noto Sans SC"/>
                <a:cs typeface="Noto Sans SC"/>
                <a:sym typeface="Noto Sans SC"/>
              </a:rPr>
              <a:t>`currentSize`</a:t>
            </a:r>
            <a:r>
              <a:rPr lang="en-US" sz="1500" b="0" i="0" u="none" strike="noStrike">
                <a:solidFill>
                  <a:srgbClr val="525252"/>
                </a:solidFill>
                <a:latin typeface="Noto Sans SC"/>
                <a:ea typeface="Noto Sans SC"/>
                <a:cs typeface="Noto Sans SC"/>
                <a:sym typeface="Noto Sans SC"/>
              </a:rPr>
              <a:t>次输出，实现字符在垂直方向上的拉伸，变高，最终形成完整的放大字符。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D14D73-8B52-1B5E-DE8C-6B8DB7471C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AutoShape 3">
            <a:extLst>
              <a:ext uri="{FF2B5EF4-FFF2-40B4-BE49-F238E27FC236}">
                <a16:creationId xmlns:a16="http://schemas.microsoft.com/office/drawing/2014/main" id="{98EF2CDD-C910-2F5D-666F-A867D21EB004}"/>
              </a:ext>
            </a:extLst>
          </p:cNvPr>
          <p:cNvSpPr/>
          <p:nvPr/>
        </p:nvSpPr>
        <p:spPr>
          <a:xfrm>
            <a:off x="5721684" y="1282831"/>
            <a:ext cx="6405661" cy="4829096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0" name="AutoShape 3">
            <a:extLst>
              <a:ext uri="{FF2B5EF4-FFF2-40B4-BE49-F238E27FC236}">
                <a16:creationId xmlns:a16="http://schemas.microsoft.com/office/drawing/2014/main" id="{85C69741-D997-E3DD-FB47-E3BF981BB13C}"/>
              </a:ext>
            </a:extLst>
          </p:cNvPr>
          <p:cNvSpPr/>
          <p:nvPr/>
        </p:nvSpPr>
        <p:spPr>
          <a:xfrm>
            <a:off x="70274" y="3623230"/>
            <a:ext cx="5490017" cy="2511116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87DB786A-F150-13AA-34BB-1A1DE07A4FF6}"/>
              </a:ext>
            </a:extLst>
          </p:cNvPr>
          <p:cNvSpPr/>
          <p:nvPr/>
        </p:nvSpPr>
        <p:spPr>
          <a:xfrm>
            <a:off x="70276" y="1287304"/>
            <a:ext cx="5490015" cy="2080148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135D5670-D2D8-089E-0718-B7EEFA2B0ED4}"/>
              </a:ext>
            </a:extLst>
          </p:cNvPr>
          <p:cNvSpPr/>
          <p:nvPr/>
        </p:nvSpPr>
        <p:spPr>
          <a:xfrm>
            <a:off x="563217" y="436544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4A90E2"/>
                </a:solidFill>
                <a:latin typeface="Noto Sans SC"/>
                <a:ea typeface="Noto Sans SC"/>
                <a:sym typeface="Noto Sans SC"/>
              </a:rPr>
              <a:t>相关代码</a:t>
            </a:r>
            <a:endParaRPr lang="en-US" sz="1100" dirty="0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52632F50-C13E-3AFF-AEA1-46B189D4F0C2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EC76580B-6AA1-2359-0017-6252EAFF11F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109" y="1332140"/>
            <a:ext cx="4438095" cy="199047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07123BBF-C41F-FD53-D82A-7B06D6AB7A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109" y="3645648"/>
            <a:ext cx="5281631" cy="2466279"/>
          </a:xfrm>
          <a:prstGeom prst="rect">
            <a:avLst/>
          </a:prstGeom>
        </p:spPr>
      </p:pic>
      <p:pic>
        <p:nvPicPr>
          <p:cNvPr id="12" name="图片 11">
            <a:extLst>
              <a:ext uri="{FF2B5EF4-FFF2-40B4-BE49-F238E27FC236}">
                <a16:creationId xmlns:a16="http://schemas.microsoft.com/office/drawing/2014/main" id="{3AF29469-5AF5-5ECC-586C-FD577A7E918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96018" y="1389219"/>
            <a:ext cx="6256992" cy="44680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700512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字符串是怎么拼成图案的？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0F8FF">
              <a:alpha val="100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8415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1803400"/>
            <a:ext cx="406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核心代码 (拼接逻辑)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2413000"/>
            <a:ext cx="4699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void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renderText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(string result[], int&amp;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lineCount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) {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for (int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= 0;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&lt;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currentText.size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();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++) {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getOneCharPattern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(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currentText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[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],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oneChar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, lines);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for (int row = 0; row &lt;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lineCount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; row++) {</a:t>
            </a:r>
          </a:p>
          <a:p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if (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i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&gt; 0) result[row] += string(gap, ' </a:t>
            </a:r>
            <a:r>
              <a:rPr lang="en-US" altLang="zh-CN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' 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);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    result[row] +=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oneChar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[row]; // </a:t>
            </a: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按行拼接</a:t>
            </a:r>
            <a:endParaRPr lang="en-US" sz="1400" b="0" i="0" u="none" strike="noStrike" dirty="0">
              <a:solidFill>
                <a:srgbClr val="505050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    }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        }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651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CEB">
              <a:alpha val="100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F5A623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841500"/>
            <a:ext cx="355600" cy="355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12000" y="1803400"/>
            <a:ext cx="4064000" cy="44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逻辑拆解：分层拼接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540500" y="2349500"/>
            <a:ext cx="4699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16666"/>
              </a:lnSpc>
              <a:buClr>
                <a:srgbClr val="1F2329"/>
              </a:buClr>
              <a:buChar char="•"/>
              <a:defRPr/>
            </a:pPr>
            <a:r>
              <a:rPr lang="en-US" sz="16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非按字符，而是按“行”拼接：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像搭积木一样，把每个字符的行叠加起来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  <a:p>
            <a:pPr marL="203200" indent="-203200" algn="l">
              <a:lnSpc>
                <a:spcPct val="116666"/>
              </a:lnSpc>
              <a:buClr>
                <a:srgbClr val="1F2329"/>
              </a:buClr>
              <a:buChar char="•"/>
            </a:pP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result[0]：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存储所有字符的第一行，构成最终图案的首行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  <a:p>
            <a:pPr marL="203200" indent="-203200" algn="l">
              <a:lnSpc>
                <a:spcPct val="116666"/>
              </a:lnSpc>
              <a:buClr>
                <a:srgbClr val="1F2329"/>
              </a:buClr>
              <a:buChar char="•"/>
            </a:pPr>
            <a:r>
              <a:rPr lang="en-US" sz="16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result[1]：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存储所有字符的第二行，构成最终图案的第二行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22222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397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651000" y="5270500"/>
            <a:ext cx="9525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800" b="1" i="0" u="none" strike="noStrike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核心思路：</a:t>
            </a:r>
            <a:r>
              <a:rPr lang="en-US" sz="1800" b="0" i="0" u="none" strike="noStrike">
                <a:solidFill>
                  <a:srgbClr val="3C3C3C"/>
                </a:solidFill>
                <a:latin typeface="Noto Sans SC"/>
                <a:ea typeface="Noto Sans SC"/>
                <a:cs typeface="Noto Sans SC"/>
                <a:sym typeface="Noto Sans SC"/>
              </a:rPr>
              <a:t>利用二维数组存储每一行数据，通过嵌套循环按行叠加字符，完美解决了多字符的对齐问题！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AE5750-78B9-DD69-83DB-9BDF736A3C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AutoShape 3">
            <a:extLst>
              <a:ext uri="{FF2B5EF4-FFF2-40B4-BE49-F238E27FC236}">
                <a16:creationId xmlns:a16="http://schemas.microsoft.com/office/drawing/2014/main" id="{6316AB12-4519-C693-8E5F-E16D2C17B770}"/>
              </a:ext>
            </a:extLst>
          </p:cNvPr>
          <p:cNvSpPr/>
          <p:nvPr/>
        </p:nvSpPr>
        <p:spPr>
          <a:xfrm>
            <a:off x="2151454" y="858308"/>
            <a:ext cx="7491523" cy="5290128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9EEF8A25-7BAA-B928-BFFF-542CF867AEC6}"/>
              </a:ext>
            </a:extLst>
          </p:cNvPr>
          <p:cNvSpPr/>
          <p:nvPr/>
        </p:nvSpPr>
        <p:spPr>
          <a:xfrm>
            <a:off x="319264" y="170872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4A90E2"/>
                </a:solidFill>
                <a:latin typeface="Noto Sans SC"/>
                <a:ea typeface="Noto Sans SC"/>
                <a:sym typeface="Noto Sans SC"/>
              </a:rPr>
              <a:t>相关代码</a:t>
            </a:r>
            <a:endParaRPr lang="en-US" sz="1100" dirty="0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9757F7E2-6A14-FA96-6CFE-A786DE240FBD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757BD267-1524-222F-A011-2C081E09E6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25925" y="924347"/>
            <a:ext cx="6022322" cy="51580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901847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7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让图案更好看：装饰与布局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3556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587500"/>
            <a:ext cx="304800" cy="3048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397000" y="1524000"/>
            <a:ext cx="2667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获取最大宽度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032000"/>
            <a:ext cx="3048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通过`getMaxWidth`函数遍历所有行，找到最长的一行，以此确定整体内容的宽度，为后续添加边框做准备。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3302000"/>
            <a:ext cx="3556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7ED321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34925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397000" y="3429000"/>
            <a:ext cx="2667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添加边框装饰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1016000" y="3873500"/>
            <a:ext cx="3223491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在计算好的内容宽度基础上，为图案的上下左右四周，统一添加由`currentBorderChar`指定的字符边框</a:t>
            </a:r>
            <a:r>
              <a:rPr lang="en-US" sz="14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1" name="AutoShape 11"/>
          <p:cNvSpPr/>
          <p:nvPr/>
        </p:nvSpPr>
        <p:spPr>
          <a:xfrm>
            <a:off x="4699000" y="1397000"/>
            <a:ext cx="6731000" cy="1651000"/>
          </a:xfrm>
          <a:prstGeom prst="roundRect">
            <a:avLst>
              <a:gd name="adj" fmla="val 7692"/>
            </a:avLst>
          </a:prstGeom>
          <a:solidFill>
            <a:srgbClr val="2C3E50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4953000" y="15875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逻辑实现：居中对齐算法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4953000" y="2063750"/>
            <a:ext cx="622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1. </a:t>
            </a:r>
            <a:r>
              <a:rPr lang="en-US" sz="14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计算左侧需填充的空格总数</a:t>
            </a: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：(</a:t>
            </a:r>
            <a:r>
              <a:rPr lang="en-US" sz="14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屏幕总宽度</a:t>
            </a: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 - </a:t>
            </a:r>
            <a:r>
              <a:rPr lang="en-US" sz="14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内容最大宽度</a:t>
            </a: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) / 2。</a:t>
            </a:r>
            <a:b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2. </a:t>
            </a:r>
            <a:r>
              <a:rPr lang="en-US" sz="14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对图案中的每一行文本，在其开头填充相同数量的空格字符</a:t>
            </a: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3. </a:t>
            </a:r>
            <a:r>
              <a:rPr lang="en-US" sz="1400" b="0" i="0" u="none" strike="noStrike" dirty="0" err="1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输出处理后的文本，即可实现图案整体在屏幕上的水平居中</a:t>
            </a: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  <p:sp>
        <p:nvSpPr>
          <p:cNvPr id="14" name="AutoShape 14"/>
          <p:cNvSpPr/>
          <p:nvPr/>
        </p:nvSpPr>
        <p:spPr>
          <a:xfrm>
            <a:off x="4699000" y="3302000"/>
            <a:ext cx="6731000" cy="1651000"/>
          </a:xfrm>
          <a:prstGeom prst="roundRect">
            <a:avLst>
              <a:gd name="adj" fmla="val 7692"/>
            </a:avLst>
          </a:prstGeom>
          <a:solidFill>
            <a:srgbClr val="34495E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63500" dir="2700000" algn="tl" rotWithShape="0">
              <a:srgbClr val="000000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5" name="AutoShape 15"/>
          <p:cNvSpPr/>
          <p:nvPr/>
        </p:nvSpPr>
        <p:spPr>
          <a:xfrm>
            <a:off x="4953000" y="3492500"/>
            <a:ext cx="6223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最终效果与价值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4953000" y="3937000"/>
            <a:ext cx="6223000" cy="88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333"/>
              </a:lnSpc>
              <a:defRPr/>
            </a:pPr>
            <a:r>
              <a:rPr lang="en-US" sz="1400" b="0" i="0" u="none" strike="noStrike" dirty="0">
                <a:solidFill>
                  <a:srgbClr val="ECF0F1"/>
                </a:solidFill>
                <a:latin typeface="Noto Sans SC"/>
                <a:ea typeface="Noto Sans SC"/>
                <a:cs typeface="Noto Sans SC"/>
                <a:sym typeface="Noto Sans SC"/>
              </a:rPr>
              <a:t>将获取最大宽度、添加边框和实现居中三个步骤组合使用，可以显著提升文本图案的可读性和美观度。这些细节处理，能让我们编写的程序输出看起来更加专业、整洁，体现程序员的细心与严谨。</a:t>
            </a:r>
            <a:endParaRPr lang="en-US" sz="1100" dirty="0"/>
          </a:p>
        </p:txBody>
      </p:sp>
      <p:sp>
        <p:nvSpPr>
          <p:cNvPr id="17" name="AutoShape 17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4A90E2">
              <a:alpha val="10000"/>
            </a:srgbClr>
          </a:solidFill>
          <a:ln w="12700" cap="flat" cmpd="sng">
            <a:solidFill>
              <a:srgbClr val="4A90E2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5880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451263" y="5524500"/>
            <a:ext cx="9949873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 dirty="0" err="1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关键点：</a:t>
            </a:r>
            <a:r>
              <a:rPr lang="en-US" sz="1500" b="0" i="0" u="none" strike="noStrike" dirty="0" err="1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这些操作本质上都是“字符串拼接”和“逻辑计算”的综合运用，是学习复杂文本处理和格式化输出的基础</a:t>
            </a:r>
            <a:r>
              <a:rPr lang="en-US" sz="1500" b="0" i="0" u="none" strike="noStrike" dirty="0">
                <a:solidFill>
                  <a:srgbClr val="2C3E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endParaRPr lang="en-US" sz="1100" dirty="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9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程序如何和用户互动？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2667000"/>
          </a:xfrm>
          <a:prstGeom prst="roundRect">
            <a:avLst>
              <a:gd name="adj" fmla="val 4761"/>
            </a:avLst>
          </a:prstGeom>
          <a:solidFill>
            <a:srgbClr val="FFFFFF">
              <a:alpha val="95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5" name="AutoShape 5"/>
          <p:cNvSpPr/>
          <p:nvPr/>
        </p:nvSpPr>
        <p:spPr>
          <a:xfrm>
            <a:off x="952500" y="168275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01. </a:t>
            </a: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主程序循环</a:t>
            </a: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(Main Loop)</a:t>
            </a:r>
            <a:endParaRPr lang="en-US" sz="1100" dirty="0"/>
          </a:p>
        </p:txBody>
      </p:sp>
      <p:sp>
        <p:nvSpPr>
          <p:cNvPr id="6" name="AutoShape 6"/>
          <p:cNvSpPr/>
          <p:nvPr/>
        </p:nvSpPr>
        <p:spPr>
          <a:xfrm>
            <a:off x="1182255" y="2333625"/>
            <a:ext cx="4826000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void 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runProgram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lang="en-US" sz="1200" dirty="0"/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bool running = true;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while (running) {</a:t>
            </a:r>
            <a:r>
              <a:rPr lang="en-US" b="1" dirty="0">
                <a:solidFill>
                  <a:srgbClr val="F5A623"/>
                </a:solidFill>
                <a:latin typeface="Consolas"/>
                <a:sym typeface="Consolas"/>
              </a:rPr>
              <a:t>//</a:t>
            </a:r>
            <a:r>
              <a:rPr lang="en-US" b="0" i="0" u="none" strike="noStrike" dirty="0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1" dirty="0" err="1">
                <a:solidFill>
                  <a:srgbClr val="F5A623"/>
                </a:solidFill>
                <a:latin typeface="Consolas"/>
                <a:sym typeface="Consolas"/>
              </a:rPr>
              <a:t>持续运行直到用户退出</a:t>
            </a:r>
            <a:endParaRPr lang="en-US" b="1" dirty="0">
              <a:solidFill>
                <a:srgbClr val="F5A623"/>
              </a:solidFill>
              <a:latin typeface="Consolas"/>
              <a:sym typeface="Consolas"/>
            </a:endParaRP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showMenu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(); </a:t>
            </a:r>
          </a:p>
          <a:p>
            <a:pPr indent="0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choice = 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getMenuChoice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if (choice == 1) 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buildAndPrintArt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();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else if (choice == 5) running = false;</a:t>
            </a:r>
          </a:p>
          <a:p>
            <a:pPr indent="0">
              <a:lnSpc>
                <a:spcPct val="100000"/>
              </a:lnSpc>
            </a:pPr>
            <a:r>
              <a:rPr lang="en-US" b="1" i="0" u="none" strike="noStrike" dirty="0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b="1" i="0" u="none" strike="noStrike" dirty="0" err="1">
                <a:solidFill>
                  <a:srgbClr val="F5A623"/>
                </a:solidFill>
                <a:latin typeface="Consolas"/>
                <a:ea typeface="Consolas"/>
                <a:cs typeface="Consolas"/>
                <a:sym typeface="Consolas"/>
              </a:rPr>
              <a:t>触发退出条件</a:t>
            </a:r>
            <a:endParaRPr lang="en-US" b="1" i="0" u="none" strike="noStrike" dirty="0">
              <a:solidFill>
                <a:srgbClr val="F5A623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6223000" y="1651000"/>
            <a:ext cx="5207000" cy="2667000"/>
          </a:xfrm>
          <a:prstGeom prst="roundRect">
            <a:avLst>
              <a:gd name="adj" fmla="val 4761"/>
            </a:avLst>
          </a:prstGeom>
          <a:solidFill>
            <a:srgbClr val="F0F8FF">
              <a:alpha val="95000"/>
            </a:srgbClr>
          </a:solidFill>
          <a:ln w="12700" cap="flat" cmpd="sng">
            <a:noFill/>
            <a:prstDash val="solid"/>
            <a:round/>
          </a:ln>
          <a:effectLst>
            <a:outerShdw blurRad="101600" dist="50800" dir="5400000" algn="tl" rotWithShape="0">
              <a:srgbClr val="000000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8" name="AutoShape 8"/>
          <p:cNvSpPr/>
          <p:nvPr/>
        </p:nvSpPr>
        <p:spPr>
          <a:xfrm>
            <a:off x="6413500" y="1682750"/>
            <a:ext cx="4826000" cy="381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02. </a:t>
            </a:r>
            <a:r>
              <a:rPr lang="en-US" sz="20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输入校验</a:t>
            </a:r>
            <a:r>
              <a:rPr lang="en-US" sz="20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(Input Validation)</a:t>
            </a:r>
            <a:endParaRPr lang="en-US" sz="1100" dirty="0"/>
          </a:p>
        </p:txBody>
      </p:sp>
      <p:sp>
        <p:nvSpPr>
          <p:cNvPr id="9" name="AutoShape 9"/>
          <p:cNvSpPr/>
          <p:nvPr/>
        </p:nvSpPr>
        <p:spPr>
          <a:xfrm>
            <a:off x="6428510" y="2333625"/>
            <a:ext cx="4937991" cy="17145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>
              <a:lnSpc>
                <a:spcPct val="100000"/>
              </a:lnSpc>
              <a:defRPr/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int 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getSettingChoice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() {</a:t>
            </a:r>
            <a:endParaRPr lang="en-US" sz="1200" dirty="0"/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int choice; </a:t>
            </a:r>
          </a:p>
          <a:p>
            <a:pPr indent="0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while (true) {</a:t>
            </a:r>
            <a:r>
              <a:rPr lang="en-US" b="1" dirty="0">
                <a:solidFill>
                  <a:srgbClr val="10B981"/>
                </a:solidFill>
                <a:latin typeface="Consolas"/>
                <a:sym typeface="Consolas"/>
              </a:rPr>
              <a:t>//</a:t>
            </a:r>
            <a:r>
              <a:rPr lang="en-US" b="0" i="0" u="none" strike="noStrike" dirty="0">
                <a:solidFill>
                  <a:srgbClr val="646464"/>
                </a:solidFill>
                <a:latin typeface="Consolas"/>
                <a:ea typeface="Consolas"/>
                <a:cs typeface="Consolas"/>
                <a:sym typeface="Consolas"/>
              </a:rPr>
              <a:t> </a:t>
            </a:r>
            <a:r>
              <a:rPr lang="en-US" b="1" dirty="0" err="1">
                <a:solidFill>
                  <a:srgbClr val="10B981"/>
                </a:solidFill>
                <a:latin typeface="Consolas"/>
                <a:sym typeface="Consolas"/>
              </a:rPr>
              <a:t>死循环直到输入正确</a:t>
            </a:r>
            <a:endParaRPr lang="en-US" b="1" dirty="0">
              <a:solidFill>
                <a:srgbClr val="10B981"/>
              </a:solidFill>
              <a:latin typeface="Consolas"/>
              <a:sym typeface="Consolas"/>
            </a:endParaRPr>
          </a:p>
          <a:p>
            <a:r>
              <a:rPr lang="en-US" altLang="zh-CN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altLang="zh-CN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cin</a:t>
            </a:r>
            <a:r>
              <a:rPr lang="en-US" altLang="zh-CN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&gt;&gt; choice;</a:t>
            </a:r>
            <a:endParaRPr lang="en-US" b="0" i="0" u="none" strike="noStrike" dirty="0">
              <a:solidFill>
                <a:srgbClr val="646464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if (&amp;&amp; choice &gt;= 1 &amp;&amp; choice &lt;= 7) {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    return choice;</a:t>
            </a:r>
            <a:r>
              <a:rPr lang="en-US" b="1" i="0" u="none" strike="noStrike" dirty="0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// </a:t>
            </a:r>
            <a:r>
              <a:rPr lang="en-US" b="1" i="0" u="none" strike="noStrike" dirty="0" err="1">
                <a:solidFill>
                  <a:srgbClr val="10B981"/>
                </a:solidFill>
                <a:latin typeface="Consolas"/>
                <a:ea typeface="Consolas"/>
                <a:cs typeface="Consolas"/>
                <a:sym typeface="Consolas"/>
              </a:rPr>
              <a:t>校验通过，返回结果</a:t>
            </a:r>
            <a:endParaRPr lang="en-US" b="1" i="0" u="none" strike="noStrike" dirty="0">
              <a:solidFill>
                <a:srgbClr val="10B981"/>
              </a:solidFill>
              <a:latin typeface="Consolas"/>
              <a:ea typeface="Consolas"/>
              <a:cs typeface="Consolas"/>
              <a:sym typeface="Consolas"/>
            </a:endParaRP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} </a:t>
            </a:r>
          </a:p>
          <a:p>
            <a:pPr indent="0">
              <a:lnSpc>
                <a:spcPct val="100000"/>
              </a:lnSpc>
            </a:pPr>
            <a:r>
              <a:rPr lang="en-US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    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else { 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cout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&lt;&lt; "</a:t>
            </a:r>
            <a:r>
              <a:rPr lang="en-US" b="0" i="0" u="none" strike="noStrike" dirty="0" err="1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输入错误，请重新输入</a:t>
            </a: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！\n"; }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    }</a:t>
            </a:r>
          </a:p>
          <a:p>
            <a:pPr indent="0">
              <a:lnSpc>
                <a:spcPct val="100000"/>
              </a:lnSpc>
            </a:pPr>
            <a:r>
              <a:rPr lang="en-US" b="0" i="0" u="none" strike="noStrike" dirty="0">
                <a:solidFill>
                  <a:srgbClr val="333333"/>
                </a:solidFill>
                <a:latin typeface="Consolas"/>
                <a:ea typeface="Consolas"/>
                <a:cs typeface="Consolas"/>
                <a:sym typeface="Consolas"/>
              </a:rPr>
              <a:t>}</a:t>
            </a:r>
          </a:p>
        </p:txBody>
      </p:sp>
      <p:sp>
        <p:nvSpPr>
          <p:cNvPr id="10" name="AutoShape 10"/>
          <p:cNvSpPr/>
          <p:nvPr/>
        </p:nvSpPr>
        <p:spPr>
          <a:xfrm>
            <a:off x="762000" y="4699000"/>
            <a:ext cx="10668000" cy="1651000"/>
          </a:xfrm>
          <a:prstGeom prst="roundRect">
            <a:avLst>
              <a:gd name="adj" fmla="val 7692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2" name="AutoShape 12"/>
          <p:cNvSpPr/>
          <p:nvPr/>
        </p:nvSpPr>
        <p:spPr>
          <a:xfrm>
            <a:off x="1460500" y="4968875"/>
            <a:ext cx="9271000" cy="1143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💡 </a:t>
            </a:r>
            <a:r>
              <a:rPr lang="en-US" sz="2000" b="1" i="0" u="none" strike="noStrike" dirty="0" err="1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  <a:t>核心模式总结</a:t>
            </a:r>
            <a:endParaRPr lang="en-US" sz="1100" dirty="0"/>
          </a:p>
          <a:p>
            <a:pPr indent="0" algn="ctr">
              <a:lnSpc>
                <a:spcPct val="108333"/>
              </a:lnSpc>
            </a:pP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“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显示菜单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获取输入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校验并执行</a:t>
            </a:r>
            <a:r>
              <a:rPr lang="en-US" sz="1800" b="1" i="0" u="none" strike="noStrike" dirty="0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 → </a:t>
            </a:r>
            <a:r>
              <a:rPr lang="en-US" sz="1800" b="1" i="0" u="none" strike="noStrike" dirty="0" err="1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循环往复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” </a:t>
            </a:r>
            <a:r>
              <a:rPr lang="en-US" sz="1600" b="0" i="0" u="none" strike="noStrike" dirty="0" err="1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是所有控制台交互式程序的通用逻辑框架。它确保了程序既友好易用，又能防御无效输入的干扰</a:t>
            </a:r>
            <a:r>
              <a:rPr lang="en-US" sz="1600" b="0" i="0" u="none" strike="noStrike" dirty="0">
                <a:solidFill>
                  <a:srgbClr val="505050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8047DE-0DEB-1965-F704-02CBDD844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AutoShape 3">
            <a:extLst>
              <a:ext uri="{FF2B5EF4-FFF2-40B4-BE49-F238E27FC236}">
                <a16:creationId xmlns:a16="http://schemas.microsoft.com/office/drawing/2014/main" id="{2220D45B-8331-0B47-5A6F-C5E8462E3013}"/>
              </a:ext>
            </a:extLst>
          </p:cNvPr>
          <p:cNvSpPr/>
          <p:nvPr/>
        </p:nvSpPr>
        <p:spPr>
          <a:xfrm>
            <a:off x="5992745" y="1065277"/>
            <a:ext cx="5911271" cy="4592294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6" name="AutoShape 3">
            <a:extLst>
              <a:ext uri="{FF2B5EF4-FFF2-40B4-BE49-F238E27FC236}">
                <a16:creationId xmlns:a16="http://schemas.microsoft.com/office/drawing/2014/main" id="{285CFCEF-4795-9BA0-963D-90E345E3C387}"/>
              </a:ext>
            </a:extLst>
          </p:cNvPr>
          <p:cNvSpPr/>
          <p:nvPr/>
        </p:nvSpPr>
        <p:spPr>
          <a:xfrm>
            <a:off x="465129" y="1065277"/>
            <a:ext cx="5237637" cy="4592294"/>
          </a:xfrm>
          <a:prstGeom prst="roundRect">
            <a:avLst>
              <a:gd name="adj" fmla="val 2941"/>
            </a:avLst>
          </a:prstGeom>
          <a:solidFill>
            <a:srgbClr val="F9FAFB">
              <a:alpha val="10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444500" dist="190500" dir="2700000" algn="tl" rotWithShape="0">
              <a:srgbClr val="000000">
                <a:alpha val="2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2">
            <a:extLst>
              <a:ext uri="{FF2B5EF4-FFF2-40B4-BE49-F238E27FC236}">
                <a16:creationId xmlns:a16="http://schemas.microsoft.com/office/drawing/2014/main" id="{630A8DA9-96AD-2226-972E-71898A2EBEAD}"/>
              </a:ext>
            </a:extLst>
          </p:cNvPr>
          <p:cNvSpPr/>
          <p:nvPr/>
        </p:nvSpPr>
        <p:spPr>
          <a:xfrm>
            <a:off x="319264" y="170872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zh-CN" altLang="en-US" sz="4000" b="1" dirty="0">
                <a:solidFill>
                  <a:srgbClr val="4A90E2"/>
                </a:solidFill>
                <a:latin typeface="Noto Sans SC"/>
                <a:ea typeface="Noto Sans SC"/>
                <a:sym typeface="Noto Sans SC"/>
              </a:rPr>
              <a:t>相关代码</a:t>
            </a:r>
            <a:endParaRPr lang="en-US" sz="1100" dirty="0"/>
          </a:p>
        </p:txBody>
      </p:sp>
      <p:sp>
        <p:nvSpPr>
          <p:cNvPr id="5" name="AutoShape 15">
            <a:extLst>
              <a:ext uri="{FF2B5EF4-FFF2-40B4-BE49-F238E27FC236}">
                <a16:creationId xmlns:a16="http://schemas.microsoft.com/office/drawing/2014/main" id="{42E2F296-E5C0-66BF-A9EC-1F02EC8B0BA6}"/>
              </a:ext>
            </a:extLst>
          </p:cNvPr>
          <p:cNvSpPr/>
          <p:nvPr/>
        </p:nvSpPr>
        <p:spPr>
          <a:xfrm>
            <a:off x="0" y="6223000"/>
            <a:ext cx="12192000" cy="635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4A90E2">
                  <a:alpha val="100000"/>
                </a:srgbClr>
              </a:gs>
              <a:gs pos="100000">
                <a:srgbClr val="7ED321">
                  <a:alpha val="100000"/>
                </a:srgbClr>
              </a:gs>
            </a:gsLst>
            <a:lin ang="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B872AD81-2620-B67E-AFD5-6097205269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733" y="1139841"/>
            <a:ext cx="5136427" cy="4443166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18844687-730A-7E33-AF4A-19F33E89FD4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111887"/>
            <a:ext cx="5704762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927245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为你的作品增添色彩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651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87500" y="1625600"/>
            <a:ext cx="3937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设置颜色原理 (C++)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23636" y="2138218"/>
            <a:ext cx="4756727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// </a:t>
            </a:r>
            <a:r>
              <a:rPr lang="en-US" sz="1400" b="0" i="0" u="none" strike="noStrike" dirty="0" err="1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设置控制台输出文本的颜色</a:t>
            </a:r>
            <a:endParaRPr lang="en-US" sz="1100" dirty="0"/>
          </a:p>
          <a:p>
            <a:pPr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void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setColor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intcolor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) {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SetConsoleTextAttribute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   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GetStdHandle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(STD_OUTPUT_HANDLE),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    (WORD)color);</a:t>
            </a: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7" name="AutoShape 7"/>
          <p:cNvSpPr/>
          <p:nvPr/>
        </p:nvSpPr>
        <p:spPr>
          <a:xfrm>
            <a:off x="6350000" y="1397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04000" y="1651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7175500" y="1625600"/>
            <a:ext cx="39370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动态切换颜色 (C++)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604000" y="2247900"/>
            <a:ext cx="4572000" cy="2159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//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在打印字符的循环中逐个设置颜色</a:t>
            </a:r>
            <a:endParaRPr lang="en-US" dirty="0">
              <a:solidFill>
                <a:srgbClr val="1F2329"/>
              </a:solidFill>
              <a:latin typeface="Source Code Pro"/>
              <a:ea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for(int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 = 0;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 &lt;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line.size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();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++) {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char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ch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 = line[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];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if(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isBorder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ch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))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setColor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borderColor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);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else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setColor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(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textColor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);</a:t>
            </a:r>
          </a:p>
          <a:p>
            <a:pPr marL="254000" indent="0" algn="l">
              <a:lnSpc>
                <a:spcPct val="100000"/>
              </a:lnSpc>
            </a:pP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cout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 &lt;&lt;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ch</a:t>
            </a:r>
            <a:r>
              <a:rPr lang="en-US" dirty="0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;// </a:t>
            </a:r>
            <a:r>
              <a:rPr lang="en-US" dirty="0" err="1">
                <a:solidFill>
                  <a:srgbClr val="1F2329"/>
                </a:solidFill>
                <a:latin typeface="Source Code Pro"/>
                <a:ea typeface="Source Code Pro"/>
                <a:sym typeface="Source Code Pro"/>
              </a:rPr>
              <a:t>打印字符</a:t>
            </a:r>
            <a:endParaRPr lang="en-US" dirty="0">
              <a:solidFill>
                <a:srgbClr val="1F2329"/>
              </a:solidFill>
              <a:latin typeface="Source Code Pro"/>
              <a:ea typeface="Source Code Pro"/>
              <a:sym typeface="Source Code Pro"/>
            </a:endParaRPr>
          </a:p>
          <a:p>
            <a:pPr indent="0" algn="l">
              <a:lnSpc>
                <a:spcPct val="100000"/>
              </a:lnSpc>
            </a:pPr>
            <a:r>
              <a:rPr lang="en-US" sz="1300" b="0" i="0" u="none" strike="noStrike" dirty="0">
                <a:solidFill>
                  <a:srgbClr val="1F2329"/>
                </a:solidFill>
                <a:latin typeface="Source Code Pro"/>
                <a:ea typeface="Source Code Pro"/>
                <a:cs typeface="Source Code Pro"/>
                <a:sym typeface="Source Code Pro"/>
              </a:rPr>
              <a:t>}</a:t>
            </a:r>
          </a:p>
        </p:txBody>
      </p:sp>
      <p:sp>
        <p:nvSpPr>
          <p:cNvPr id="11" name="AutoShape 11"/>
          <p:cNvSpPr/>
          <p:nvPr/>
        </p:nvSpPr>
        <p:spPr>
          <a:xfrm>
            <a:off x="762000" y="5080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7ED321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5334000"/>
            <a:ext cx="609600" cy="6096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905000" y="5270500"/>
            <a:ext cx="9144000" cy="762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50A028"/>
                </a:solidFill>
                <a:latin typeface="Noto Sans SC"/>
                <a:ea typeface="Noto Sans SC"/>
                <a:cs typeface="Noto Sans SC"/>
                <a:sym typeface="Noto Sans SC"/>
              </a:rPr>
              <a:t>💡 核心知识点：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打印前先“调色”。根据字符类型（边框/内容）动态调用setColor函数切换颜色，最后记得调用resetColor()恢复默认，避免影响后续输出。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7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2032000" y="2032000"/>
            <a:ext cx="8128000" cy="2794000"/>
          </a:xfrm>
          <a:prstGeom prst="roundRect">
            <a:avLst>
              <a:gd name="adj" fmla="val 9090"/>
            </a:avLst>
          </a:prstGeom>
          <a:solidFill>
            <a:srgbClr val="FFFFFF">
              <a:alpha val="90000"/>
            </a:srgbClr>
          </a:solidFill>
          <a:ln w="25400" cap="flat" cmpd="sng">
            <a:solidFill>
              <a:srgbClr val="4A90E2">
                <a:alpha val="30000"/>
              </a:srgbClr>
            </a:solidFill>
            <a:prstDash val="solid"/>
            <a:round/>
          </a:ln>
          <a:effectLst>
            <a:outerShdw blurRad="254000" dist="127000" dir="5400000" algn="tl" rotWithShape="0">
              <a:srgbClr val="4A90E2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>
          <a:xfrm>
            <a:off x="5791200" y="2286000"/>
            <a:ext cx="609600" cy="6096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6" name="AutoShape 6"/>
          <p:cNvSpPr/>
          <p:nvPr/>
        </p:nvSpPr>
        <p:spPr>
          <a:xfrm>
            <a:off x="3327400" y="2984500"/>
            <a:ext cx="55372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第三部分：总结与实践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584700" y="3683000"/>
            <a:ext cx="3022600" cy="508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5A623"/>
                </a:solidFill>
                <a:latin typeface="Noto Sans SC"/>
                <a:ea typeface="Noto Sans SC"/>
                <a:cs typeface="Noto Sans SC"/>
                <a:sym typeface="Noto Sans SC"/>
              </a:rPr>
              <a:t>巩固知识，动手创造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2286000" y="22860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pic>
        <p:nvPicPr>
          <p:cNvPr id="9" name="Picture 9"/>
          <p:cNvPicPr>
            <a:picLocks noChangeAspect="1"/>
          </p:cNvPicPr>
          <p:nvPr/>
        </p:nvPicPr>
        <p:blipFill>
          <a:blip r:embed="rId5"/>
          <a:srcRect/>
          <a:stretch>
            <a:fillRect/>
          </a:stretch>
        </p:blipFill>
        <p:spPr>
          <a:xfrm>
            <a:off x="9601200" y="4267200"/>
            <a:ext cx="304800" cy="3048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FFFFFF">
              <a:alpha val="8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4" name="AutoShape 4"/>
          <p:cNvSpPr/>
          <p:nvPr/>
        </p:nvSpPr>
        <p:spPr>
          <a:xfrm>
            <a:off x="762000" y="508000"/>
            <a:ext cx="5080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本节课学到了什么？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1651000"/>
            <a:ext cx="5080000" cy="330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4A90E2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4A90E2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18415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803400"/>
            <a:ext cx="406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基础语法与控制结构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2217882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28600" indent="-228600" algn="l">
              <a:lnSpc>
                <a:spcPct val="116666"/>
              </a:lnSpc>
              <a:buClr>
                <a:srgbClr val="333333"/>
              </a:buClr>
              <a:buChar char="•"/>
              <a:defRPr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基础元素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228600" indent="-228600" algn="l">
              <a:lnSpc>
                <a:spcPct val="116666"/>
              </a:lnSpc>
              <a:buClr>
                <a:srgbClr val="333333"/>
              </a:buClr>
              <a:buChar char="•"/>
              <a:defRPr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掌握常量、变量、字符串、数组的定义与使用</a:t>
            </a:r>
            <a:endParaRPr lang="en-US" sz="1100" dirty="0"/>
          </a:p>
          <a:p>
            <a:pPr marL="228600" indent="-228600" algn="l">
              <a:lnSpc>
                <a:spcPct val="116666"/>
              </a:lnSpc>
              <a:buClr>
                <a:srgbClr val="333333"/>
              </a:buClr>
              <a:buChar char="•"/>
            </a:pPr>
            <a:r>
              <a:rPr lang="en-US" sz="18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控制流</a:t>
            </a:r>
            <a:r>
              <a:rPr lang="en-US" sz="18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：</a:t>
            </a:r>
          </a:p>
          <a:p>
            <a:pPr marL="228600" indent="-228600" algn="l">
              <a:lnSpc>
                <a:spcPct val="116666"/>
              </a:lnSpc>
              <a:buClr>
                <a:srgbClr val="333333"/>
              </a:buClr>
              <a:buChar char="•"/>
            </a:pP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灵活运用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for 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循环、while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循环与</a:t>
            </a:r>
            <a:r>
              <a:rPr lang="en-US" sz="16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 if-else </a:t>
            </a:r>
            <a:r>
              <a:rPr lang="en-US" sz="16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判断</a:t>
            </a:r>
            <a:endParaRPr lang="en-US" sz="1600" b="0" i="0" u="none" strike="noStrike" dirty="0">
              <a:solidFill>
                <a:srgbClr val="555555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302000"/>
          </a:xfrm>
          <a:prstGeom prst="roundRect">
            <a:avLst>
              <a:gd name="adj" fmla="val 5769"/>
            </a:avLst>
          </a:prstGeom>
          <a:solidFill>
            <a:srgbClr val="FFFFFF">
              <a:alpha val="100000"/>
            </a:srgbClr>
          </a:solidFill>
          <a:ln w="38100" cap="flat" cmpd="sng">
            <a:solidFill>
              <a:srgbClr val="7ED321">
                <a:alpha val="100000"/>
              </a:srgbClr>
            </a:solidFill>
            <a:prstDash val="solid"/>
            <a:round/>
          </a:ln>
          <a:effectLst>
            <a:outerShdw blurRad="127000" dist="101600" dir="5400000" algn="tl" rotWithShape="0">
              <a:srgbClr val="7ED321">
                <a:alpha val="2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04000" y="1841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7112000" y="1803400"/>
            <a:ext cx="4064000" cy="4572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7ED321"/>
                </a:solidFill>
                <a:latin typeface="Noto Sans SC"/>
                <a:ea typeface="Noto Sans SC"/>
                <a:cs typeface="Noto Sans SC"/>
                <a:sym typeface="Noto Sans SC"/>
              </a:rPr>
              <a:t>程序设计思想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604000" y="2286000"/>
            <a:ext cx="4572000" cy="2286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marL="203200" indent="-203200" algn="l">
              <a:lnSpc>
                <a:spcPct val="108333"/>
              </a:lnSpc>
              <a:buClr>
                <a:srgbClr val="333333"/>
              </a:buClr>
              <a:buChar char="•"/>
              <a:defRPr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函数拆分：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化繁为简，分解复杂问题</a:t>
            </a:r>
            <a:endParaRPr lang="en-US" sz="1100" dirty="0"/>
          </a:p>
          <a:p>
            <a:pPr marL="203200" indent="-2032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状态管理：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用变量记录程序运行状态</a:t>
            </a:r>
            <a:endParaRPr lang="en-US" sz="16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输入校验：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确保程序鲁棒性，防止崩溃</a:t>
            </a:r>
            <a:endParaRPr lang="en-US" sz="16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  <a:p>
            <a:pPr marL="203200" indent="-203200" algn="l">
              <a:lnSpc>
                <a:spcPct val="108333"/>
              </a:lnSpc>
              <a:buClr>
                <a:srgbClr val="333333"/>
              </a:buClr>
              <a:buChar char="•"/>
            </a:pPr>
            <a:r>
              <a:rPr lang="en-US" sz="16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菜单模式：</a:t>
            </a:r>
            <a:r>
              <a:rPr lang="en-US" sz="1600" b="0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构建友好、易用的人机交互界面</a:t>
            </a:r>
            <a:endParaRPr lang="en-US" sz="1600" b="0" i="0" u="none" strike="noStrike" dirty="0">
              <a:solidFill>
                <a:srgbClr val="333333"/>
              </a:solidFill>
              <a:latin typeface="Noto Sans SC"/>
              <a:ea typeface="Noto Sans SC"/>
              <a:cs typeface="Noto Sans SC"/>
              <a:sym typeface="Noto Sans SC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18750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dash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638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651000" y="5524500"/>
            <a:ext cx="9652000" cy="635000"/>
          </a:xfrm>
          <a:prstGeom prst="roundRect">
            <a:avLst>
              <a:gd name="adj" fmla="val 0"/>
            </a:avLst>
          </a:prstGeom>
          <a:noFill/>
          <a:ln w="254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D97706"/>
                </a:solidFill>
                <a:latin typeface="Noto Sans SC"/>
                <a:ea typeface="Noto Sans SC"/>
                <a:cs typeface="Noto Sans SC"/>
                <a:sym typeface="Noto Sans SC"/>
              </a:rPr>
              <a:t>关键心得：</a:t>
            </a:r>
            <a:r>
              <a:rPr lang="en-US" sz="1800" b="0" i="0" u="none" strike="noStrike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编程不仅是语法的堆砌，更是逻辑与思维的艺术，扎实的基础是进阶的前提！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试着自己改一改！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7ED321">
              <a:alpha val="10000"/>
            </a:srgbClr>
          </a:solidFill>
          <a:ln w="25400" cap="flat" cmpd="sng">
            <a:solidFill>
              <a:srgbClr val="7ED321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95500" y="1778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952500" y="2667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Level 1: </a:t>
            </a: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简单修改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1500"/>
              </a:spcBef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任务1: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把默认文字“USTC”改成你的名字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任务2: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把填充字符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“*”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改成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“@”。</a:t>
            </a:r>
            <a:br>
              <a:rPr lang="en-US" sz="1600" b="0" i="0" u="none" strike="noStrike" dirty="0">
                <a:solidFill>
                  <a:srgbClr val="1F2329"/>
                </a:solidFill>
                <a:latin typeface="Noto Sans SC"/>
                <a:ea typeface="Noto Sans SC"/>
                <a:cs typeface="Noto Sans SC"/>
                <a:sym typeface="Noto Sans SC"/>
              </a:rPr>
            </a:b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任务3: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把边框字符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“#”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改成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“+”。</a:t>
            </a:r>
          </a:p>
        </p:txBody>
      </p:sp>
      <p:sp>
        <p:nvSpPr>
          <p:cNvPr id="6" name="AutoShape 6"/>
          <p:cNvSpPr/>
          <p:nvPr/>
        </p:nvSpPr>
        <p:spPr>
          <a:xfrm>
            <a:off x="4445000" y="1524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F5A623">
              <a:alpha val="10000"/>
            </a:srgbClr>
          </a:solidFill>
          <a:ln w="25400" cap="flat" cmpd="sng">
            <a:solidFill>
              <a:srgbClr val="F5A62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778000"/>
            <a:ext cx="635000" cy="635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4635500" y="2286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Level 2: </a:t>
            </a: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功能增强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2000"/>
              </a:spcBef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任务4: 尝试为程序增加一个“恢复默认设置”的功能，让程序运行出错时可以一键重置。</a:t>
            </a:r>
          </a:p>
        </p:txBody>
      </p:sp>
      <p:sp>
        <p:nvSpPr>
          <p:cNvPr id="9" name="AutoShape 9"/>
          <p:cNvSpPr/>
          <p:nvPr/>
        </p:nvSpPr>
        <p:spPr>
          <a:xfrm>
            <a:off x="8128000" y="1524000"/>
            <a:ext cx="3302000" cy="4064000"/>
          </a:xfrm>
          <a:prstGeom prst="roundRect">
            <a:avLst>
              <a:gd name="adj" fmla="val 3846"/>
            </a:avLst>
          </a:prstGeom>
          <a:solidFill>
            <a:srgbClr val="4A90E2">
              <a:alpha val="10000"/>
            </a:srgbClr>
          </a:solidFill>
          <a:ln w="25400" cap="flat" cmpd="sng">
            <a:solidFill>
              <a:srgbClr val="4A90E2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461500" y="17780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8318500" y="2286000"/>
            <a:ext cx="2921000" cy="241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8333"/>
              </a:lnSpc>
              <a:defRPr/>
            </a:pPr>
            <a:r>
              <a:rPr lang="en-US" sz="2200" b="1" i="0" u="none" strike="noStrike" dirty="0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Level 3: </a:t>
            </a:r>
            <a:r>
              <a:rPr lang="en-US" sz="2200" b="1" i="0" u="none" strike="noStrike" dirty="0" err="1">
                <a:solidFill>
                  <a:srgbClr val="333333"/>
                </a:solidFill>
                <a:latin typeface="Noto Sans SC"/>
                <a:ea typeface="Noto Sans SC"/>
                <a:cs typeface="Noto Sans SC"/>
                <a:sym typeface="Noto Sans SC"/>
              </a:rPr>
              <a:t>创意设计</a:t>
            </a:r>
            <a:endParaRPr lang="en-US" sz="1100" dirty="0"/>
          </a:p>
          <a:p>
            <a:pPr indent="0" algn="l">
              <a:lnSpc>
                <a:spcPct val="116666"/>
              </a:lnSpc>
              <a:spcBef>
                <a:spcPts val="2000"/>
              </a:spcBef>
            </a:pP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• 任务5: </a:t>
            </a:r>
            <a:r>
              <a:rPr lang="en-US" sz="1400" b="0" i="0" u="none" strike="noStrike" dirty="0" err="1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发挥想象力，尝试自己重新设计一个字母或简单图形的字符画模板，让程序输出更独特的图案</a:t>
            </a:r>
            <a:r>
              <a:rPr lang="en-US" sz="1400" b="0" i="0" u="none" strike="noStrike" dirty="0">
                <a:solidFill>
                  <a:srgbClr val="555555"/>
                </a:solidFill>
                <a:latin typeface="Noto Sans SC"/>
                <a:ea typeface="Noto Sans SC"/>
                <a:cs typeface="Noto Sans SC"/>
                <a:sym typeface="Noto Sans SC"/>
              </a:rPr>
              <a:t>。</a:t>
            </a:r>
          </a:p>
        </p:txBody>
      </p:sp>
      <p:sp>
        <p:nvSpPr>
          <p:cNvPr id="12" name="AutoShape 12"/>
          <p:cNvSpPr/>
          <p:nvPr/>
        </p:nvSpPr>
        <p:spPr>
          <a:xfrm>
            <a:off x="762000" y="5842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3F4F6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13" name="AutoShape 13"/>
          <p:cNvSpPr/>
          <p:nvPr/>
        </p:nvSpPr>
        <p:spPr>
          <a:xfrm>
            <a:off x="762000" y="5969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0" i="0" u="none" strike="noStrike">
                <a:solidFill>
                  <a:srgbClr val="374151"/>
                </a:solidFill>
                <a:latin typeface="Noto Sans SC"/>
                <a:ea typeface="Noto Sans SC"/>
                <a:cs typeface="Noto Sans SC"/>
                <a:sym typeface="Noto Sans SC"/>
              </a:rPr>
              <a:t>大胆尝试，从简单的修改开始，一步步解锁编程的乐趣！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016000" y="1143000"/>
            <a:ext cx="10160000" cy="2286000"/>
          </a:xfrm>
          <a:prstGeom prst="roundRect">
            <a:avLst>
              <a:gd name="adj" fmla="val 11111"/>
            </a:avLst>
          </a:prstGeom>
          <a:solidFill>
            <a:srgbClr val="FFFFFF">
              <a:alpha val="92000"/>
            </a:srgbClr>
          </a:solidFill>
          <a:ln w="38100" cap="flat" cmpd="sng">
            <a:solidFill>
              <a:srgbClr val="F5A623">
                <a:alpha val="100000"/>
              </a:srgbClr>
            </a:solidFill>
            <a:prstDash val="solid"/>
            <a:round/>
          </a:ln>
          <a:effectLst>
            <a:outerShdw blurRad="203200" dist="101600" dir="8100000" algn="tl" rotWithShape="0">
              <a:srgbClr val="000000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sp>
        <p:nvSpPr>
          <p:cNvPr id="3" name="AutoShape 3"/>
          <p:cNvSpPr/>
          <p:nvPr/>
        </p:nvSpPr>
        <p:spPr>
          <a:xfrm>
            <a:off x="1016000" y="1524000"/>
            <a:ext cx="10160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4A90E2"/>
                </a:solidFill>
                <a:latin typeface="Noto Sans SC"/>
                <a:ea typeface="Noto Sans SC"/>
                <a:cs typeface="Noto Sans SC"/>
                <a:sym typeface="Noto Sans SC"/>
              </a:rPr>
              <a:t>总结与回顾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1016000" y="2667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0" i="0" u="none" strike="noStrike">
                <a:solidFill>
                  <a:srgbClr val="E67E22"/>
                </a:solidFill>
                <a:latin typeface="Noto Sans SC"/>
                <a:ea typeface="Noto Sans SC"/>
                <a:cs typeface="Noto Sans SC"/>
                <a:sym typeface="Noto Sans SC"/>
              </a:rPr>
              <a:t>— 编程的艺术之旅 —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810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  <a:effectLst>
            <a:outerShdw blurRad="152400" dist="50800" dir="81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4064000"/>
            <a:ext cx="558800" cy="558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406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艺术字本质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16000" y="495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由多行字符串巧妙拼接而成，看似复杂的图案背后，其实是对基础语法的灵活运用。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810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  <a:effectLst>
            <a:outerShdw blurRad="152400" dist="50800" dir="81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4064000"/>
            <a:ext cx="558800" cy="558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406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分而治之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495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将复杂的大问题拆解为若干个简单的小步骤逐一解决，是编程解决问题的核心思维之一。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3810000"/>
            <a:ext cx="3302000" cy="2413000"/>
          </a:xfrm>
          <a:prstGeom prst="roundRect">
            <a:avLst>
              <a:gd name="adj" fmla="val 6315"/>
            </a:avLst>
          </a:prstGeom>
          <a:solidFill>
            <a:srgbClr val="FFFFFF">
              <a:alpha val="95000"/>
            </a:srgbClr>
          </a:solidFill>
          <a:ln w="12700" cap="flat" cmpd="sng">
            <a:solidFill>
              <a:srgbClr val="EBEEF5">
                <a:alpha val="100000"/>
              </a:srgbClr>
            </a:solidFill>
            <a:prstDash val="solid"/>
            <a:round/>
          </a:ln>
          <a:effectLst>
            <a:outerShdw blurRad="152400" dist="50800" dir="81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  <a:endParaRPr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4064000"/>
            <a:ext cx="558800" cy="5588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4064000"/>
            <a:ext cx="203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1F2937"/>
                </a:solidFill>
                <a:latin typeface="Noto Sans SC"/>
                <a:ea typeface="Noto Sans SC"/>
                <a:cs typeface="Noto Sans SC"/>
                <a:sym typeface="Noto Sans SC"/>
              </a:rPr>
              <a:t>函数分工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382000" y="4953000"/>
            <a:ext cx="2794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16666"/>
              </a:lnSpc>
              <a:defRPr/>
            </a:pPr>
            <a:r>
              <a:rPr lang="en-US" sz="1400" b="0" i="0" u="none" strike="noStrike">
                <a:solidFill>
                  <a:srgbClr val="4B5563"/>
                </a:solidFill>
                <a:latin typeface="Noto Sans SC"/>
                <a:ea typeface="Noto Sans SC"/>
                <a:cs typeface="Noto Sans SC"/>
                <a:sym typeface="Noto Sans SC"/>
              </a:rPr>
              <a:t>利用函数实现模块化编程，将功能封装，让代码结构更清晰，逻辑更易维护与复用。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159</TotalTime>
  <Words>1772</Words>
  <Application>Microsoft Office PowerPoint</Application>
  <PresentationFormat>宽屏</PresentationFormat>
  <Paragraphs>240</Paragraphs>
  <Slides>24</Slides>
  <Notes>18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24</vt:i4>
      </vt:variant>
    </vt:vector>
  </HeadingPairs>
  <TitlesOfParts>
    <vt:vector size="31" baseType="lpstr">
      <vt:lpstr>Noto Sans SC</vt:lpstr>
      <vt:lpstr>Songti SC</vt:lpstr>
      <vt:lpstr>Arial</vt:lpstr>
      <vt:lpstr>Consolas</vt:lpstr>
      <vt:lpstr>Source Code Pro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hongxin li</cp:lastModifiedBy>
  <cp:revision>9</cp:revision>
  <dcterms:modified xsi:type="dcterms:W3CDTF">2026-04-28T06:43:08Z</dcterms:modified>
</cp:coreProperties>
</file>