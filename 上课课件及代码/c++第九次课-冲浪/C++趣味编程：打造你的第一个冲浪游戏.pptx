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2" y="10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来到今天的C++趣味编程课！今天，我们将一起动手，从零开始，用代码创造一个属于我们自己的跑酷小游戏。这不仅仅是写代码，更是学习如何用编程思维去构建一个动态的、可交互的世界。无论你是刚接触C++的新手，还是想巩固基础的同学，这节课都将带你体验编程的乐趣。让我们一起开始这段有趣的编程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课程我们将分为四个部分。首先，在第一部分，我们会一起看看我们将要制作的游戏长什么样，并明确我们的学习目标。接着，在第二部分，我们会从宏观上了解整个游戏程序的结构。第三部分是本次课程的重点，我们将深入代码，一步步解析实现游戏的8个核心知识点。最后，我们会进行总结，并探讨如何让我们的游戏变得更有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好了，让我们正式进入第一部分。在这一章，我们将揭开今天要制作的这款“控制台跑酷小游戏”的神秘面纱，看看它的具体玩法和效果。同时，我们也会明确通过这个项目，我们希望掌握哪些核心的编程技能。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这就是我们的游戏——Console Runner Game。大家可以看到，游戏在一个简单的控制台窗口里运行。玩家是字母'A'，我们需要通过按A和D键来控制它左右移动。游戏的目标很简单：尽可能多地收集金币'$'来得分，同时要小心躲避障碍物'#'，每撞到一次障碍物，生命值就会减少。当生命值耗尽时，游戏就结束了。是不是听起来很有趣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通过亲手制作这个小游戏，我们将学到六个非常重要的编程知识点。首先是“游戏循环”，它是游戏持续运行的核心。然后是“键盘输入”，让我们的程序能与用户互动。接着，我们会学习使用vector和string这两种数据结构来搭建我们的游戏世界。我们还会学习如何使用“随机数”让游戏充满变数。同时，“碰撞检测”是游戏规则的核心。最后，我们会掌握一些控制台绘图技巧，让游戏画面动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了解了游戏目标后，我们来看看实现这个游戏的程序是如何组织的。这就像给一台游戏机做“解剖”，看看它内部都有哪些关键部件，以及它们是如何协同工作的。理解整体结构，能帮助我们更好地把握后续的代码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游戏程序可以被概括为四个主要步骤。第一步是“准备材料”，我们引入必要的工具库，并定义游戏的基本规则。第二步是“游戏初始化”，在游戏开始前，我们要创建好地图，把玩家放到初始位置，并设置好分数和生命。第三步，也是最核心的一步，就是“游戏主循环”，它会不断重复执行一系列操作，让游戏动起来。最后，当游戏结束条件满足时，程序会执行第四步“游戏结束”处理，告诉我们最终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，我们进入最激动人心的部分——核心知识点解析。在这一章，我们将像剥洋葱一样，一层层揭开游戏背后的代码秘密。我们会从最基础的游戏规则定义开始，一直到最终的画面刷新，一步步学习如何将想法变成现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来看第一个模块：定义游戏规则。这里我们使用了const关键字，它代表“常量”。这些常量就像是我们游戏世界的“宪法”，规定了地图的宽高、玩家、金币和障碍分别用什么符号表示。它们的值在整个游戏过程中都不会改变。使用常量的好处是，如果以后想调整游戏规则，比如把地图改宽一点，我们只需要修改WIDTH这一个地方，整个程序都会自动更新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接下来，我们要创建游戏世界本身。这里我们用到了vector和string这两个强大的工具。string(WIDTH, ' ')创建了一行由25个空格组成的字符串，就像棋盘的一行。然后，vector&lt;string&gt;把20个这样的字符串组合起来，形成了一个20行25列的二维结构，我们称之为board。你可以把board想象成我们游戏的画布，所有的游戏元素都将在这个画布上呈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游戏为什么能一直运行而不是只显示一张静态图片呢？答案就是“游戏循环”。我们用一个while循环来实现它。只要running这个变量是true，循环体里的代码就会不断重复。每一次重复，我们都称之为“一帧”。在每一帧里，程序会做三件事：处理玩家的输入，更新游戏的状态（比如地图滚动），然后重新绘制整个画面。正是这一帧一帧的快速刷新，构成了我们看到的动画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要让玩家能够控制角色。这里用到了两个特殊的函数：_kbhit()和_getch()。_kbhit()的作用是“瞄一眼”键盘，看看有没有键被按下，它不会让游戏暂停。如果检测到有按键，我们就用_getch()来获取具体是哪个键。然后根据按键是'A'还是'D'，来改变玩家的坐标，实现左右移动。同时，我们还需要添加边界检测，防止玩家跑出地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游戏的动态效果是如何实现的呢？其实很简单，就是让地图滚动起来。我们可以把地图想象成一个传送带。代码board[i] = board[i + 1]的作用，就是把每一行的内容都替换成它下面一行的内容。这样一来，整个地图就像向上滚动了一格。滚动之后，最后一行就空出来了，我们正好可以在那里生成新的金币和障碍。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为了让游戏更有趣，金币和障碍需要随机出现。我们使用 rand() 函数来生成随机数。rand() % 100 会给我们一个0到99之间的数字。我们通过判断这个数字的范围来决定生成什么。比如，数字小于8，我们就生成一个障碍，这相当于8%的概率。如果数字在8到12之间，我们就生成一个金币，这是5%的概率。这样，游戏每次运行的体验都会有所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游戏的规则是如何实现的呢？这就要靠“碰撞检测”。在每一帧，我们都会检查玩家当前所在的位置，看看那个格子里是什么。如果是金币，我们就加分。如果是障碍，我们就减生命值。如果生命值减到0，我们就把控制游戏循环的running变量设置为false，游戏就结束了。这就是游戏最核心的规则判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最后一步，我们要把所有的游戏状态画到屏幕上。这里的关键是`gotoXY(0, 0)`这个函数，它能把控制台的光标瞬间移动到左上角。这样，我们每次绘制画面时，都会覆盖掉上一帧的内容，而不是在屏幕下方继续打印，从而实现了画面的刷新。为了让游戏速度不至于太快，我们还使用了`Sleep(500)`，让程序每帧暂停500毫秒，也就是半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非常棒！我们已经成功地把一个游戏从无到有地构建了出来。现在，让我们进入最后一部分，回顾一下今天学到的核心知识，并一起思考如何让我们的游戏变得更加有趣和完善。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让我们快速回顾一下今天学到的核心知识点。我们用const定义了游戏规则，用int和bool等变量来存储变化的数据。我们学习了如何用string和vector构建二维地图。我们还掌握了while和for循环来驱动游戏，用if-else来做逻辑判断，以及用rand()来增加随机性。这些都是C++编程中非常基础且重要的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是互动环节，来检验一下大家的学习成果。第一个问题，如果想让玩家有5条命，应该改哪里？对，就是把初始化生命值的那行代码从3改成5。第二个问题，如果想让金币更值钱，加20分，应该改哪里？没错，就是把加分的代码从10改成20。最后一个问题，Sleep(500)控制游戏速度，想让游戏变快，应该把500改大还是改小？答案是改小，因为暂停的时间越短，画面刷新得就越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游戏已经完成了，但这只是一个开始。我们可以从很多方面来扩展它，让它变得更有趣。比如，我们可以让游戏难度随着分数增加而提高，让地图滚动得越来越快。我们还可以加入新的道具，比如无敌星。更进一步，我们可以学习播放音效，让游戏有声音。甚至可以改变文字的颜色，让画面更丰富。编程的乐趣就在于不断地创造和改进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到这里就结束了。恭喜大家成功制作了自己的第一个跑酷游戏！希望通过这次实践，大家不仅学会了C++的一些基础知识，更体会到了编程的乐趣和创造的魅力。编程的世界广阔无垠，充满了未知和惊喜，愿大家能保持这份好奇心，继续探索，不断发现更多的乐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1397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C++ 趣味编程：打造你的第一个</a:t>
            </a:r>
            <a:r>
              <a:rPr lang="zh-CN" alt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冲浪</a:t>
            </a: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游戏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1016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从0到1，用代码创造一个会动的世界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3810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826000" y="381000"/>
            <a:ext cx="254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课程导航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09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282700" y="15621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Part 1 游戏介绍与目标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1930400"/>
            <a:ext cx="3048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直观预览最终游戏运行效果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明确本次课程的核心学习目标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48200" y="16256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143500" y="15494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2 项目整体结构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62500" y="1993900"/>
            <a:ext cx="3048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解析游戏程序的五大关键组成部分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掌握游戏主循环在运行中的核心地位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53400" y="1397000"/>
            <a:ext cx="3429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407400" y="15875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915400" y="15494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Part 3 核心知识点解析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43900" y="2032000"/>
            <a:ext cx="3048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从定义基础规则开始逐步拆解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505050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理解画面刷新与逻辑执行的内在联系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09600" y="3937000"/>
            <a:ext cx="10972800" cy="1270000"/>
          </a:xfrm>
          <a:prstGeom prst="roundRect">
            <a:avLst>
              <a:gd name="adj" fmla="val 10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89000" y="43180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1524000" y="4191000"/>
            <a:ext cx="9144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24000" y="4572000"/>
            <a:ext cx="914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回顾本次课程的核心知识点，梳理游戏开发的整体流程，同时探讨如何在此基础上对游戏功能进行拓展与优化，打开编程实践的新思路。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0" cy="3048000"/>
          </a:xfrm>
          <a:prstGeom prst="roundRect">
            <a:avLst>
              <a:gd name="adj" fmla="val 8333"/>
            </a:avLst>
          </a:prstGeom>
          <a:solidFill>
            <a:srgbClr val="FFFFFF">
              <a:alpha val="95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270000" y="2603500"/>
            <a:ext cx="965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1 游戏介绍与学习目标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34861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270000" y="3683000"/>
            <a:ext cx="965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让我们先看看要做什么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24000" y="5080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87000" y="51308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游戏效果预览：Console Runner Game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6858000" cy="3302000"/>
          </a:xfrm>
          <a:prstGeom prst="roundRect">
            <a:avLst>
              <a:gd name="adj" fmla="val 3846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2E75C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647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游戏运行在极简的黑色控制台窗口中，通过字符的实时刷新构建动态的跑酷场景。玩家需要操控角色在随机生成的关卡中快速反应，这是一个结合了基础输入输出与逻辑判断的经典入门项目。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核心规则体系：</a:t>
            </a:r>
          </a:p>
          <a:p>
            <a:pPr marL="177800" indent="-177800" algn="l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操作逻辑：通过键盘 A/D 控制左右位移，ESC 键实现即时退出，无延迟响应</a:t>
            </a:r>
          </a:p>
          <a:p>
            <a:pPr marL="177800" indent="-177800" algn="l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成长机制：收集金币符号累计分数，分数越高关卡刷新速度越快</a:t>
            </a:r>
          </a:p>
          <a:p>
            <a:pPr marL="177800" indent="-177800" algn="l">
              <a:lnSpc>
                <a:spcPct val="100000"/>
              </a:lnSpc>
              <a:buClr>
                <a:srgbClr val="333333"/>
              </a:buClr>
              <a:buFont typeface="Arial"/>
              <a:buChar char="•"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失败判定：碰撞障碍物扣除生命值，归零时触发游戏结束结算界面</a:t>
            </a:r>
          </a:p>
        </p:txBody>
      </p:sp>
      <p:sp>
        <p:nvSpPr>
          <p:cNvPr id="5" name="AutoShape 5"/>
          <p:cNvSpPr/>
          <p:nvPr/>
        </p:nvSpPr>
        <p:spPr>
          <a:xfrm>
            <a:off x="8064500" y="1397000"/>
            <a:ext cx="3683000" cy="2794000"/>
          </a:xfrm>
          <a:prstGeom prst="roundRect">
            <a:avLst>
              <a:gd name="adj" fmla="val 0"/>
            </a:avLst>
          </a:prstGeom>
          <a:solidFill>
            <a:srgbClr val="1E22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128000" y="1524000"/>
            <a:ext cx="1143000" cy="1270000"/>
          </a:xfrm>
          <a:prstGeom prst="roundRect">
            <a:avLst>
              <a:gd name="adj" fmla="val 0"/>
            </a:avLst>
          </a:prstGeom>
          <a:solidFill>
            <a:srgbClr val="61AFEF">
              <a:alpha val="20000"/>
            </a:srgbClr>
          </a:solidFill>
          <a:ln w="12700" cap="flat" cmpd="sng">
            <a:solidFill>
              <a:srgbClr val="61AFE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28000" y="1587500"/>
            <a:ext cx="114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1AFEF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0" y="2159000"/>
            <a:ext cx="114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玩家角色</a:t>
            </a:r>
            <a:b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可控移动单位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334500" y="1524000"/>
            <a:ext cx="1143000" cy="1270000"/>
          </a:xfrm>
          <a:prstGeom prst="roundRect">
            <a:avLst>
              <a:gd name="adj" fmla="val 0"/>
            </a:avLst>
          </a:prstGeom>
          <a:solidFill>
            <a:srgbClr val="FABD2F">
              <a:alpha val="20000"/>
            </a:srgbClr>
          </a:solidFill>
          <a:ln w="12700" cap="flat" cmpd="sng">
            <a:solidFill>
              <a:srgbClr val="FABD2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334500" y="1587500"/>
            <a:ext cx="114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ABD2F"/>
                </a:solidFill>
                <a:latin typeface="Noto Sans SC"/>
                <a:ea typeface="Noto Sans SC"/>
                <a:cs typeface="Noto Sans SC"/>
                <a:sym typeface="Noto Sans SC"/>
              </a:rPr>
              <a:t>$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334500" y="2159000"/>
            <a:ext cx="114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游戏金币</a:t>
            </a:r>
            <a:b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得分核心道具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541000" y="1524000"/>
            <a:ext cx="1143000" cy="1270000"/>
          </a:xfrm>
          <a:prstGeom prst="roundRect">
            <a:avLst>
              <a:gd name="adj" fmla="val 0"/>
            </a:avLst>
          </a:prstGeom>
          <a:solidFill>
            <a:srgbClr val="F56C6C">
              <a:alpha val="20000"/>
            </a:srgbClr>
          </a:solidFill>
          <a:ln w="12700" cap="flat" cmpd="sng">
            <a:solidFill>
              <a:srgbClr val="F56C6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541000" y="1587500"/>
            <a:ext cx="1143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6C6C"/>
                </a:solidFill>
                <a:latin typeface="Noto Sans SC"/>
                <a:ea typeface="Noto Sans SC"/>
                <a:cs typeface="Noto Sans SC"/>
                <a:sym typeface="Noto Sans SC"/>
              </a:rPr>
              <a:t>#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541000" y="2159000"/>
            <a:ext cx="1143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障碍物</a:t>
            </a:r>
            <a:b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5E9F0"/>
                </a:solidFill>
                <a:latin typeface="Noto Sans SC"/>
                <a:ea typeface="Noto Sans SC"/>
                <a:cs typeface="Noto Sans SC"/>
                <a:sym typeface="Noto Sans SC"/>
              </a:rPr>
              <a:t>危险碰撞体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64500" y="3048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91500" y="3111500"/>
            <a:ext cx="342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在控制台环境中，这三个基础字符构成了游戏的全部视觉语言。程序通过不断重绘这些字符的位置，模拟出流畅的动画效果，让玩家在黑白界面中获得纯粹的游戏体验。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406400" cy="4064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70000" y="5334000"/>
            <a:ext cx="1041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极简的字符交互：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用最基础的符号与指令，构建出兼具操作性与趣味性的经典控制台跑酷游戏！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本次课程学习目标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课程我们将通过亲手制作小游戏的方式，系统掌握C++游戏开发的六大核心技能。从程序的持续运行机制到用户交互响应，再到数据构建与画面呈现，逐步解锁游戏开发的关键逻辑，完成一个可运行的游戏雏形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核心运行机制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175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90600" y="3238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理解游戏循环：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让程序持续运行并不断更新画面，是游戏保持动态的底层核心。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191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90600" y="4254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掌握键盘输入：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实时响应玩家的键盘操作，建立程序与用户之间的交互桥梁。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数据与逻辑构建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175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73600" y="3238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学习数据结构：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灵活运用vector和string来存储与构建游戏地图，承载游戏核心数据。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4191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673600" y="4254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运用随机数：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让游戏道具等元素随机生成，打破固定模式，提升游戏的可玩性。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55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交互与视觉呈现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175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56600" y="3238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实现碰撞检测：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精准判断游戏对象间的接触交互，是实现得分、失败等规则的关键。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4191000"/>
            <a:ext cx="3048000" cy="825500"/>
          </a:xfrm>
          <a:prstGeom prst="roundRect">
            <a:avLst>
              <a:gd name="adj" fmla="val 7692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56600" y="4254500"/>
            <a:ext cx="28575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掌握控制台图形：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控制光标位置并动态刷新画面，让控制台输出不再静态，呈现动态效果。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5A623">
              <a:alpha val="10000"/>
            </a:srgbClr>
          </a:solidFill>
          <a:ln w="127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588000"/>
            <a:ext cx="10287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这六个知识点构成了C++控制台游戏开发的基础框架，从底层逻辑到上层体验，每一步都是实现完整游戏功能不可或缺的环节。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08000" y="1016000"/>
            <a:ext cx="11176000" cy="4826000"/>
          </a:xfrm>
          <a:prstGeom prst="roundRect">
            <a:avLst>
              <a:gd name="adj" fmla="val 5263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1397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2159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2 项目整体结构概览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984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1016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游戏程序的“解剖图” ——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556000" y="4445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892800" y="4445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29600" y="4445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08000" y="4445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98500" y="4826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游戏程序的四大组成部分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2730500" cy="2476500"/>
          </a:xfrm>
          <a:prstGeom prst="roundRect">
            <a:avLst>
              <a:gd name="adj" fmla="val 0"/>
            </a:avLst>
          </a:prstGeom>
          <a:solidFill>
            <a:srgbClr val="3B82F6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16256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" y="2222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准备材料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794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0F9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引入核心头文件（#include），定义游戏运行所需的常量（const），为整个程序搭建基础的编译与运行环境。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03600" y="1524000"/>
            <a:ext cx="2730500" cy="2476500"/>
          </a:xfrm>
          <a:prstGeom prst="roundRect">
            <a:avLst>
              <a:gd name="adj" fmla="val 0"/>
            </a:avLst>
          </a:prstGeom>
          <a:solidFill>
            <a:srgbClr val="10B981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30600" y="16256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30600" y="2222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游戏初始化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30600" y="2794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CFDF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构建游戏地图的二维结构，设定玩家角色的初始坐标，同时初始化分数、生命值等关键游戏状态数据。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99200" y="1524000"/>
            <a:ext cx="2730500" cy="2476500"/>
          </a:xfrm>
          <a:prstGeom prst="roundRect">
            <a:avLst>
              <a:gd name="adj" fmla="val 0"/>
            </a:avLst>
          </a:prstGeom>
          <a:solidFill>
            <a:srgbClr val="F59E0B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26200" y="16256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26200" y="2222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游戏主循环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26200" y="2794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BEB"/>
                </a:solidFill>
                <a:latin typeface="Noto Sans SC"/>
                <a:ea typeface="Noto Sans SC"/>
                <a:cs typeface="Noto Sans SC"/>
                <a:sym typeface="Noto Sans SC"/>
              </a:rPr>
              <a:t>游戏运行的“心脏”，不间断执行输入检测、游戏状态更新、碰撞逻辑判断与画面刷新，形成动态的游戏体验。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94800" y="1524000"/>
            <a:ext cx="2730500" cy="2476500"/>
          </a:xfrm>
          <a:prstGeom prst="roundRect">
            <a:avLst>
              <a:gd name="adj" fmla="val 0"/>
            </a:avLst>
          </a:prstGeom>
          <a:solidFill>
            <a:srgbClr val="EF4444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321800" y="16256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21800" y="2222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游戏结束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21800" y="2794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EF2F2"/>
                </a:solidFill>
                <a:latin typeface="Noto Sans SC"/>
                <a:ea typeface="Noto Sans SC"/>
                <a:cs typeface="Noto Sans SC"/>
                <a:sym typeface="Noto Sans SC"/>
              </a:rPr>
              <a:t>当生命值耗尽或达成通关条件时，终止主循环，展示最终得分与游戏结果，完成资源释放与程序收尾。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" y="4254500"/>
            <a:ext cx="8064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508000" y="4254500"/>
            <a:ext cx="8064500" cy="457200"/>
          </a:xfrm>
          <a:prstGeom prst="roundRect">
            <a:avLst>
              <a:gd name="adj" fmla="val 0"/>
            </a:avLst>
          </a:prstGeom>
          <a:solidFill>
            <a:srgbClr val="0F172A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98500" y="42799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核心逻辑总结：从静态定义到动态执行的闭环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8500" y="4826000"/>
            <a:ext cx="7747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这四个步骤构成了C++游戏开发的标准范式。从前期的环境配置与数据预设，到核心的循环驱动，再到最后的结果结算，是一个严谨的线性执行流程。掌握这四个环节，就掌握了理解游戏程序从“代码”变为“交互体验”的关键钥匙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270000" y="2032000"/>
            <a:ext cx="9652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92800" y="2286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2794000"/>
            <a:ext cx="914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3 核心知识点分步解析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3556000"/>
            <a:ext cx="914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深入代码，拆解魔法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4191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7ED32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定义游戏规则与参数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核心概念：游戏的“基本法”(const 常量)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const 代表“常量”，它是程序中固定不变的值。在贪吃蛇游戏开发中，这些常量就像是游戏世界的“宪法”，规定了地图的边界、玩家和道具的符号，在游戏运行全过程中都不会随意改变。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3492500"/>
            <a:ext cx="444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核心价值：规则统一，一次定义全局通用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651000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游戏参数的代码实现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4699000" cy="1206500"/>
          </a:xfrm>
          <a:prstGeom prst="roundRect">
            <a:avLst>
              <a:gd name="adj" fmla="val 5263"/>
            </a:avLst>
          </a:prstGeom>
          <a:solidFill>
            <a:srgbClr val="1F232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78600" y="2349500"/>
            <a:ext cx="450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const int WIDTH = 25; // 地图宽度</a:t>
            </a:r>
            <a:b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const int HEIGHT = 20; // 地图高度</a:t>
            </a:r>
            <a:b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const char PLAYER = 'A'; const char COIN = '$';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492500"/>
            <a:ext cx="4699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清晰直观的代码定义，让地图和元素规则一目了然。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584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为什么要用 const？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是语法规范，更是工程思维的体现。如果后期想调整地图大小或更换金币符号，只需修改定义处的一个数值，整个游戏逻辑就会自动更新，极大降低了维护成本；同时也避免了关键数值在代码中被意外修改。</a:t>
            </a:r>
          </a:p>
        </p:txBody>
      </p:sp>
      <p:cxnSp>
        <p:nvCxnSpPr>
          <p:cNvPr id="15" name="Connector 15"/>
          <p:cNvCxnSpPr/>
          <p:nvPr/>
        </p:nvCxnSpPr>
        <p:spPr>
          <a:xfrm rot="5370107">
            <a:off x="6381750" y="5232428"/>
            <a:ext cx="146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366000" y="4445000"/>
            <a:ext cx="3937000" cy="1651000"/>
          </a:xfrm>
          <a:prstGeom prst="roundRect">
            <a:avLst>
              <a:gd name="adj" fmla="val 3846"/>
            </a:avLst>
          </a:prstGeom>
          <a:solidFill>
            <a:srgbClr val="F5A623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93000" y="4546600"/>
            <a:ext cx="368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课堂小挑战：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93000" y="4953000"/>
            <a:ext cx="3683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如果想让我们的游戏地图变得更宽，应该修改哪一行代码？修改后整个地图的显示区域会发生什么变化？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5651500"/>
            <a:ext cx="3683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提示：寻找定义地图宽度的那一行常量！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89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模块二：创建游戏世界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00200"/>
            <a:ext cx="457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核心技术容器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我们选用 C++ 标准库中的</a:t>
            </a: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vector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string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来构建游戏世界。`string` 负责定义地图的单行数据，`vector` 则将多个单行组合成二维的网格结构，这是实现贪吃蛇游戏地图的基石。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759200"/>
            <a:ext cx="457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棋盘式的游戏画布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457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可以把变量 `board` 想象成一个</a:t>
            </a:r>
            <a:r>
              <a:rPr lang="en-US" sz="15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20行25列的棋盘</a:t>
            </a:r>
            <a:r>
              <a:rPr lang="en-US" sz="15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。初始时所有格子都是空白的，就像一张干净的画纸。后续蛇的移动、食物的生成，本质上都是在这个棋盘的特定位置上“画画”。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604000" y="16510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核心代码：一行创建地图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222500"/>
            <a:ext cx="4318000" cy="1079500"/>
          </a:xfrm>
          <a:prstGeom prst="roundRect">
            <a:avLst>
              <a:gd name="adj" fmla="val 11764"/>
            </a:avLst>
          </a:prstGeom>
          <a:solidFill>
            <a:srgbClr val="4A90E2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67500" y="2286000"/>
            <a:ext cx="4191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vector&lt;string&gt; board(HEIGHT, string(WIDTH, ' '));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4290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F5A623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67500" y="3492500"/>
            <a:ext cx="196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单行生成：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string(WIDTH, ' ') 创建25个空格的字符串，代表地图上的一行格子。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26500" y="3429000"/>
            <a:ext cx="2095500" cy="1206500"/>
          </a:xfrm>
          <a:prstGeom prst="roundRect">
            <a:avLst>
              <a:gd name="adj" fmla="val 10526"/>
            </a:avLst>
          </a:prstGeom>
          <a:solidFill>
            <a:srgbClr val="4A90E2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90000" y="3492500"/>
            <a:ext cx="19685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整体堆叠：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容器将20个单行堆叠，形成20行的完整地图矩阵。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699000"/>
            <a:ext cx="4318000" cy="825500"/>
          </a:xfrm>
          <a:prstGeom prst="roundRect">
            <a:avLst>
              <a:gd name="adj" fmla="val 15384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731000" y="4762500"/>
            <a:ext cx="4064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意义：搭建底层舞台，让游戏元素有了交互空间！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79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游戏的“心脏”-游戏循环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588000" cy="1714500"/>
          </a:xfrm>
          <a:prstGeom prst="roundRect">
            <a:avLst>
              <a:gd name="adj" fmla="val 7407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87500"/>
            <a:ext cx="444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核心：While 循环引擎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游戏持续运行的关键在于 `while(running)` 循环。只要变量 `running` 保持 `true`，大括号内的代码就会像永动机一样反复执行，这是让程序不闪退、持续响应的底层逻辑。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588000" cy="1714500"/>
          </a:xfrm>
          <a:prstGeom prst="roundRect">
            <a:avLst>
              <a:gd name="adj" fmla="val 7407"/>
            </a:avLst>
          </a:prstGeom>
          <a:solidFill>
            <a:srgbClr val="F5A623">
              <a:alpha val="10000"/>
            </a:srgbClr>
          </a:solidFill>
          <a:ln w="12700" cap="flat" cmpd="sng">
            <a:solidFill>
              <a:srgbClr val="F5A62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492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365500"/>
            <a:ext cx="444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关键：“帧”的动态原理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每一次完整的循环被称为“一帧”。程序以每秒30或60次的频率高速执行这些帧，就像翻书时的静态画面快速闪过，在视觉暂留效应下，离散的静态帧就变成了流畅的动态游戏画面。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5588000" cy="1714500"/>
          </a:xfrm>
          <a:prstGeom prst="roundRect">
            <a:avLst>
              <a:gd name="adj" fmla="val 7407"/>
            </a:avLst>
          </a:prstGeom>
          <a:solidFill>
            <a:srgbClr val="7ED321">
              <a:alpha val="10000"/>
            </a:srgbClr>
          </a:solidFill>
          <a:ln w="12700" cap="flat" cmpd="sng">
            <a:solidFill>
              <a:srgbClr val="7ED32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207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5143500"/>
            <a:ext cx="4445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流程：每一帧的三件事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无论游戏多复杂，每一帧都遵循标准流程：处理玩家的键盘鼠标输入、更新游戏数据（如角色移动）、最后将新画面绘制到屏幕上。三步循环，驱动游戏世界运转。</a:t>
            </a:r>
          </a:p>
        </p:txBody>
      </p:sp>
      <p:cxnSp>
        <p:nvCxnSpPr>
          <p:cNvPr id="12" name="Connector 12"/>
          <p:cNvCxnSpPr/>
          <p:nvPr/>
        </p:nvCxnSpPr>
        <p:spPr>
          <a:xfrm rot="5391185">
            <a:off x="4127500" y="3994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731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858000" y="1651000"/>
            <a:ext cx="4826000" cy="279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1400" b="0" i="0" u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running</a:t>
            </a:r>
            <a:r>
              <a:rPr lang="en-US" sz="1400" b="0" i="0" u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400" b="0" i="0" u="none" strike="noStrike">
                <a:solidFill>
                  <a:srgbClr val="56B6C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US" sz="1400" b="0" i="0" u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1400" b="0" i="0" u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(running) {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1. 响应玩家操作 (Input)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2. 计算新位置/状态 (Update)</a:t>
            </a:r>
          </a:p>
          <a:p>
            <a:pPr marL="19050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3. 把画面画出来 (Render)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731000" y="4762500"/>
            <a:ext cx="5080000" cy="1968500"/>
          </a:xfrm>
          <a:prstGeom prst="roundRect">
            <a:avLst>
              <a:gd name="adj" fmla="val 6451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4A90E2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858000" y="4851400"/>
            <a:ext cx="4826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为什么它是游戏的“心脏”？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程序运行一次就结束，而游戏需要“活”着。这段简单的循环代码打破了一次性执行的限制，赋予了程序“时间”属性。从贪吃蛇的爬行到大型3D游戏的渲染，本质上都是这颗“循环心脏”在不知疲倦地跳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81000"/>
            <a:ext cx="11176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模块四：玩家的控制 - 实时键盘输入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397000"/>
            <a:ext cx="11049000" cy="1016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1397000"/>
            <a:ext cx="76200" cy="1016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473200"/>
            <a:ext cx="1054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核心机制：利用</a:t>
            </a:r>
            <a:r>
              <a:rPr lang="en-US" sz="1600" b="1" i="0" u="none" strike="noStrike">
                <a:solidFill>
                  <a:srgbClr val="D9480F"/>
                </a:solidFill>
                <a:latin typeface="Noto Sans SC"/>
                <a:ea typeface="Noto Sans SC"/>
                <a:cs typeface="Noto Sans SC"/>
                <a:sym typeface="Noto Sans SC"/>
              </a:rPr>
              <a:t>_kbhit()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1600" b="1" i="0" u="none" strike="noStrike">
                <a:solidFill>
                  <a:srgbClr val="D9480F"/>
                </a:solidFill>
                <a:latin typeface="Noto Sans SC"/>
                <a:ea typeface="Noto Sans SC"/>
                <a:cs typeface="Noto Sans SC"/>
                <a:sym typeface="Noto Sans SC"/>
              </a:rPr>
              <a:t>_getch()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组合实现非阻塞式键盘监听。不同于普通输入函数，这两个函数让程序在运行游戏逻辑的同时，能即时响应玩家按键，是实现动作类游戏流畅操作的关键基础。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2667000"/>
            <a:ext cx="5588000" cy="2286000"/>
          </a:xfrm>
          <a:prstGeom prst="roundRect">
            <a:avLst>
              <a:gd name="adj" fmla="val 0"/>
            </a:avLst>
          </a:prstGeom>
          <a:solidFill>
            <a:srgbClr val="282C3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2667000"/>
            <a:ext cx="5588000" cy="355600"/>
          </a:xfrm>
          <a:prstGeom prst="roundRect">
            <a:avLst>
              <a:gd name="adj" fmla="val 0"/>
            </a:avLst>
          </a:prstGeom>
          <a:solidFill>
            <a:srgbClr val="3C40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30500"/>
            <a:ext cx="152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player_ctrl.cpp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334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 (_kbhit()) {</a:t>
            </a:r>
            <a:endParaRPr lang="en-US" sz="1100"/>
          </a:p>
          <a:p>
            <a:pPr marL="25400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int key = _getch();</a:t>
            </a: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获取按键ASCII码</a:t>
            </a:r>
          </a:p>
          <a:p>
            <a:pPr marL="25400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if (key == 'a' || key == 'A') playerX--;</a:t>
            </a: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左移</a:t>
            </a:r>
          </a:p>
          <a:p>
            <a:pPr marL="25400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else if (key == 'd' || key == 'D') playerX++;</a:t>
            </a:r>
            <a:r>
              <a:rPr lang="en-US" sz="12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右移</a:t>
            </a:r>
          </a:p>
          <a:p>
            <a:pPr marL="0"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477000" y="2667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4A90E2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67500" y="2705100"/>
            <a:ext cx="482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_kbhit()：“扫视”键盘的探测器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67500" y="3073400"/>
            <a:ext cx="482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非阻塞式检测，程序无需暂停等待输入。它就像游戏的“眼睛”，每帧循环都快速检查是否有按键被按下，有则返回非0值，无则继续执行游戏逻辑，保证画面流畅。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81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52C41A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3810000"/>
            <a:ext cx="50800" cy="1079500"/>
          </a:xfrm>
          <a:prstGeom prst="roundRect">
            <a:avLst>
              <a:gd name="adj" fmla="val 0"/>
            </a:avLst>
          </a:prstGeom>
          <a:solidFill>
            <a:srgbClr val="52C4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67500" y="3848100"/>
            <a:ext cx="482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_getch()：精准的按键捕捉器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4216400"/>
            <a:ext cx="482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55F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获取实际按下的键值且无控制台回显。在检测到有按键后，通过此函数拿到具体的ASCII码，从而判断玩家是按下了'A'还是'D'，进而驱动角色执行对应的位移操作。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" y="5080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FFF2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FA8C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5500" y="5118100"/>
            <a:ext cx="5207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安全边界：防止角色“穿墙”的最后一道防线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5500" y="5499100"/>
            <a:ext cx="520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414B"/>
                </a:solidFill>
                <a:latin typeface="Noto Sans SC"/>
                <a:ea typeface="Noto Sans SC"/>
                <a:cs typeface="Noto Sans SC"/>
                <a:sym typeface="Noto Sans SC"/>
              </a:rPr>
              <a:t>位移后必须进行合法性校验。例如：当 playerX 小于地图左边界（如0）或大于右边界（如地图宽度）时，强制修正坐标。这不仅是游戏规则的体现，更能避免数组越界导致的程序运行错误。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5080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EB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616A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67500" y="5118100"/>
            <a:ext cx="4826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从输入到交互：游戏引擎的雏形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67500" y="5499100"/>
            <a:ext cx="4826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414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这是脱离“静态地图”迈向“动态游戏”的关键一步。通过实时输入与逻辑响应的结合，我们构建了玩家与虚拟世界互动的通道。后续可在此基础上扩展更多方向键、加速、跳跃等复杂操作逻辑。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模块五：画面的动效 - 地图滚动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492500" cy="2667000"/>
          </a:xfrm>
          <a:prstGeom prst="roundRect">
            <a:avLst>
              <a:gd name="adj" fmla="val 0"/>
            </a:avLst>
          </a:prstGeom>
          <a:solidFill>
            <a:srgbClr val="4A90E2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63600" y="1651000"/>
            <a:ext cx="330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核心概念：数组元素位移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63600" y="2222500"/>
            <a:ext cx="3302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地图滚动的底层逻辑是二维数组的数据重排。我们不需要真的移动图片，而是通过改变存储地图数据的数组，将每一行的内容整体向上“搬运”，从而在屏幕上呈现出画面流动的动态效果。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3629">
            <a:off x="3048000" y="2851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445000" y="1524000"/>
            <a:ext cx="3492500" cy="2667000"/>
          </a:xfrm>
          <a:prstGeom prst="roundRect">
            <a:avLst>
              <a:gd name="adj" fmla="val 0"/>
            </a:avLst>
          </a:prstGeom>
          <a:solidFill>
            <a:srgbClr val="F5A623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46600" y="1651000"/>
            <a:ext cx="330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核心代码：行的覆盖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46600" y="2222500"/>
            <a:ext cx="3302000" cy="952500"/>
          </a:xfrm>
          <a:prstGeom prst="roundRect">
            <a:avLst>
              <a:gd name="adj" fmla="val 0"/>
            </a:avLst>
          </a:prstGeom>
          <a:solidFill>
            <a:srgbClr val="1F232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610100" y="2260600"/>
            <a:ext cx="317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82D37"/>
                </a:solidFill>
                <a:latin typeface="Noto Sans SC"/>
                <a:ea typeface="Noto Sans SC"/>
                <a:cs typeface="Noto Sans SC"/>
                <a:sym typeface="Noto Sans SC"/>
              </a:rPr>
              <a:t>for (int i = 0; i &lt; HEIGHT - 1; i++) {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82D37"/>
                </a:solidFill>
                <a:latin typeface="Noto Sans SC"/>
                <a:ea typeface="Noto Sans SC"/>
                <a:cs typeface="Noto Sans SC"/>
                <a:sym typeface="Noto Sans SC"/>
              </a:rPr>
              <a:t>board[i] = board[i + 1];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// 上一行 = 下一行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82D37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46600" y="3238500"/>
            <a:ext cx="3302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每一行都“继承”下一行的数据，就像翻书一样，上面的内容被下面的内容替换，实现平滑滚动。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3629">
            <a:off x="6731000" y="2851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0" y="1524000"/>
            <a:ext cx="3492500" cy="2667000"/>
          </a:xfrm>
          <a:prstGeom prst="roundRect">
            <a:avLst>
              <a:gd name="adj" fmla="val 0"/>
            </a:avLst>
          </a:prstGeom>
          <a:solidFill>
            <a:srgbClr val="7ED32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229600" y="1651000"/>
            <a:ext cx="330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形象理解：游戏传送带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2222500"/>
            <a:ext cx="3302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3C46"/>
                </a:solidFill>
                <a:latin typeface="Noto Sans SC"/>
                <a:ea typeface="Noto Sans SC"/>
                <a:cs typeface="Noto Sans SC"/>
                <a:sym typeface="Noto Sans SC"/>
              </a:rPr>
              <a:t>把地图看作一条向上运行的传送带，金币和障碍物是传送带上的货物。当传送带转动时，所有物品同步上移。滚动后最下方的空白区域，就像传送带的新工位，正好用来生成新的游戏道具。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445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572000"/>
            <a:ext cx="10160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关键逻辑解析：覆盖与新生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10160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这段代码的精妙之处在于“用数据变化模拟视觉动效”。执行循环后，地图整体上移一格，最后一行数据被清空。这个“空位”至关重要，它是游戏的“刷新点”——我们可以在这里随机生成新的金币或障碍，让游戏画面始终保持动态变化，既减少了内存开销，又为玩家带来了持续的游戏乐趣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65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模块六：随机的惊喜 - 生成金币和障碍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457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核心逻辑：随机数驱动事件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随机源获取：利用 C++ 标准库函数</a:t>
            </a:r>
            <a:r>
              <a:rPr lang="en-US" sz="1400" b="0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rand()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，通过取模运算</a:t>
            </a:r>
            <a:r>
              <a:rPr lang="en-US" sz="1400" b="0" i="0" u="none" strike="noStrike">
                <a:solidFill>
                  <a:srgbClr val="4A90E2"/>
                </a:solidFill>
                <a:latin typeface="Consolas"/>
                <a:ea typeface="Consolas"/>
                <a:cs typeface="Consolas"/>
                <a:sym typeface="Consolas"/>
              </a:rPr>
              <a:t>% 100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锁定 0 到 99 的整数范围。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概率区间映射：将连续的数值区间分割，不同区间对应不同的游戏事件（障碍或金币），区间长度决定了事件发生的概率权重。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457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关键代码实现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4635500" cy="1143000"/>
          </a:xfrm>
          <a:prstGeom prst="roundRect">
            <a:avLst>
              <a:gd name="adj" fmla="val 5555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4889500"/>
            <a:ext cx="4508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r = rand() % 100; // 生成 0-99 随机数</a:t>
            </a:r>
            <a:b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if (r &lt; 8) newRow[j] = OBSTACLE; // 8% 概率生障碍</a:t>
            </a:r>
            <a:b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else if (r &lt; 13) newRow[j] = COIN; // 5% 概率生金币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1185">
            <a:off x="3619500" y="3867158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1397000"/>
            <a:ext cx="5588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1587500"/>
            <a:ext cx="5207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概率规则拆解与互动思考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2222500"/>
            <a:ext cx="2540000" cy="1397000"/>
          </a:xfrm>
          <a:prstGeom prst="roundRect">
            <a:avLst>
              <a:gd name="adj" fmla="val 909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22860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8% 障碍生成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794000"/>
            <a:ext cx="241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数值范围：0 ~ 7 (共8个数)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对应逻辑：r &lt; 8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07500" y="2222500"/>
            <a:ext cx="2540000" cy="1397000"/>
          </a:xfrm>
          <a:prstGeom prst="roundRect">
            <a:avLst>
              <a:gd name="adj" fmla="val 909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271000" y="22860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5% 金币生成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71000" y="2794000"/>
            <a:ext cx="2413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数值范围：8 ~ 12 (共5个数)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对应逻辑：8 ≤ r &lt; 13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3937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67500" y="4064000"/>
            <a:ext cx="495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思考挑战：调整游戏难度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67500" y="4508500"/>
            <a:ext cx="495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如果想让玩家更容易吃到金币，比如把金币出现的概率从 5% 提升到 10%，我们应该如何修改代码中的判断条件？请试着写出新的判断逻辑。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5588000"/>
            <a:ext cx="5207000" cy="508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667500" y="5651500"/>
            <a:ext cx="508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提示：扩大金币对应的数值区间长度即可！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14300"/>
            <a:ext cx="8051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模块七：游戏的规则 - 碰撞检测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8763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5A62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核心逻辑：每一帧检查玩家位置！看看当前格子里藏着什么宝贝或陷阱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87400" y="1447800"/>
            <a:ext cx="10452100" cy="1270000"/>
          </a:xfrm>
          <a:prstGeom prst="roundRect">
            <a:avLst>
              <a:gd name="adj" fmla="val 8000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41400" y="1638300"/>
            <a:ext cx="9525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1. 吃金币：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(board[playerY][playerX] == COIN)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41400" y="2082800"/>
            <a:ext cx="95250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当程序检测到玩家当前所在的格子是金币时，触发奖励机制，将玩家的分数增加10分，这是游戏中常见的正向反馈，引导玩家主动探索收集资源。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87400" y="2743200"/>
            <a:ext cx="10452100" cy="1435100"/>
          </a:xfrm>
          <a:prstGeom prst="roundRect">
            <a:avLst>
              <a:gd name="adj" fmla="val 7964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41400" y="2933700"/>
            <a:ext cx="952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2. 撞障碍：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else if (board[playerY][playerX] == OBSTACLE)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" y="3378200"/>
            <a:ext cx="9525000" cy="596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若玩家位置与障碍物重叠，系统会执行惩罚逻辑，将玩家的生命值减少1。这一设计增加了游戏的难度与紧张感，要求玩家在移动时避开危险区域。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" y="4267200"/>
            <a:ext cx="10452100" cy="1435100"/>
          </a:xfrm>
          <a:prstGeom prst="roundRect">
            <a:avLst>
              <a:gd name="adj" fmla="val 7964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41400" y="4457700"/>
            <a:ext cx="9525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3. 游戏结束：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(life &lt;= 0) running = false;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41400" y="4902200"/>
            <a:ext cx="9525000" cy="596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这是游戏的终止条件判断，当玩家的生命值耗尽变为0或负数时，控制游戏主循环的核心变量running会被设为false，循环停止，游戏进程正式结束。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" y="57658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6F7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41400" y="5892800"/>
            <a:ext cx="952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关键机制：状态实时更新！</a:t>
            </a: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碰撞是交互的基础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无论是奖励还是惩罚，所有游戏反馈都基于对玩家当前位置与地图元素的实时碰撞检测，这是让游戏世界“活”起来的底层逻辑。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795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模块八：画出世界 - 画面刷新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572000" cy="3302000"/>
          </a:xfrm>
          <a:prstGeom prst="roundRect">
            <a:avLst>
              <a:gd name="adj" fmla="val 3846"/>
            </a:avLst>
          </a:prstGeom>
          <a:solidFill>
            <a:srgbClr val="2D343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572000" cy="381000"/>
          </a:xfrm>
          <a:prstGeom prst="roundRect">
            <a:avLst>
              <a:gd name="adj" fmla="val 0"/>
            </a:avLst>
          </a:prstGeom>
          <a:solidFill>
            <a:srgbClr val="3C3C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113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06500" y="15113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60500" y="15113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14400" y="1905000"/>
            <a:ext cx="42545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4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drawGame</a:t>
            </a: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b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gotoXY</a:t>
            </a: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(0, 0);</a:t>
            </a: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关键：光标瞬移左上角</a:t>
            </a:r>
            <a:b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遍历数组，重新绘制墙、蛇、食物...</a:t>
            </a:r>
            <a:b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for(</a:t>
            </a: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i=0; i&lt;HEIGHT; i++) cout &lt;&lt; map[i] &lt;&lt; endl;</a:t>
            </a:r>
            <a:b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4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Sleep</a:t>
            </a: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(500);</a:t>
            </a: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控制游戏节奏，防过快</a:t>
            </a:r>
            <a:b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E6E6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0" y="1397000"/>
            <a:ext cx="609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▍核心原理：突破静态的动态帧更新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15000" y="1905000"/>
            <a:ext cx="6096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传统的cout输出会让内容不断向下滚动，无法形成动画。通过`gotoXY(0,0)`将输出点瞬间拉回屏幕原点，再配合对游戏世界的全量重绘，我们就能在同一个“画布”上覆盖旧画面，从而模拟出流畅的动态视觉效果。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3111500"/>
            <a:ext cx="2984500" cy="1333500"/>
          </a:xfrm>
          <a:prstGeom prst="roundRect">
            <a:avLst>
              <a:gd name="adj" fmla="val 4761"/>
            </a:avLst>
          </a:prstGeom>
          <a:solidFill>
            <a:srgbClr val="F5F8FF">
              <a:alpha val="100000"/>
            </a:srgbClr>
          </a:solidFill>
          <a:ln w="12700" cap="flat" cmpd="sng">
            <a:solidFill>
              <a:srgbClr val="D6E4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816600" y="3175000"/>
            <a:ext cx="279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70C4"/>
                </a:solidFill>
                <a:latin typeface="Noto Sans SC"/>
                <a:ea typeface="Noto Sans SC"/>
                <a:cs typeface="Noto Sans SC"/>
                <a:sym typeface="Noto Sans SC"/>
              </a:rPr>
              <a:t>光标瞬移：gotoXY(0,0)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16600" y="3556000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改变默认的流式输出，将控制台光标强制移动到屏幕左上角。这是实现“覆盖式”刷新的基础，避免画面在终端中无限延伸。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0" y="3111500"/>
            <a:ext cx="2984500" cy="1333500"/>
          </a:xfrm>
          <a:prstGeom prst="roundRect">
            <a:avLst>
              <a:gd name="adj" fmla="val 4761"/>
            </a:avLst>
          </a:prstGeom>
          <a:solidFill>
            <a:srgbClr val="F0FAF5">
              <a:alpha val="100000"/>
            </a:srgbClr>
          </a:solidFill>
          <a:ln w="12700" cap="flat" cmpd="sng">
            <a:solidFill>
              <a:srgbClr val="D0EB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991600" y="3175000"/>
            <a:ext cx="279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09A58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状态同步：全量重绘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91600" y="3556000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每次刷新都基于最新的游戏数据（蛇的位置、食物位置）重新打印整个地图。旧画面被新画面直接覆盖，产生“动”起来的错觉。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15000" y="4508500"/>
            <a:ext cx="2984500" cy="1333500"/>
          </a:xfrm>
          <a:prstGeom prst="roundRect">
            <a:avLst>
              <a:gd name="adj" fmla="val 4761"/>
            </a:avLst>
          </a:prstGeom>
          <a:solidFill>
            <a:srgbClr val="FFF8F0">
              <a:alpha val="100000"/>
            </a:srgbClr>
          </a:solidFill>
          <a:ln w="12700" cap="flat" cmpd="sng">
            <a:solidFill>
              <a:srgbClr val="FFE5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816600" y="4572000"/>
            <a:ext cx="279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节奏把控：Sleep(500)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816600" y="4953000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CPU运算极快，不加延时画面会一闪而过。让程序暂停500毫秒（半秒），控制帧率，让玩家能清晰看到每一步的游戏变化。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0" y="4508500"/>
            <a:ext cx="2984500" cy="1333500"/>
          </a:xfrm>
          <a:prstGeom prst="roundRect">
            <a:avLst>
              <a:gd name="adj" fmla="val 4761"/>
            </a:avLst>
          </a:prstGeom>
          <a:solidFill>
            <a:srgbClr val="FAF2FC">
              <a:alpha val="100000"/>
            </a:srgbClr>
          </a:solidFill>
          <a:ln w="12700" cap="flat" cmpd="sng">
            <a:solidFill>
              <a:srgbClr val="EBD7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991600" y="4572000"/>
            <a:ext cx="2794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B51B0"/>
                </a:solidFill>
                <a:latin typeface="Noto Sans SC"/>
                <a:ea typeface="Noto Sans SC"/>
                <a:cs typeface="Noto Sans SC"/>
                <a:sym typeface="Noto Sans SC"/>
              </a:rPr>
              <a:t>动画本质：静态的连续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91600" y="4953000"/>
            <a:ext cx="279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控制台游戏没有真正的像素动画，而是利用“擦除-重画-延时”的循环，给人眼造成动态的视觉暂留，这是所有字符界面游戏的通用技巧。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1176000" cy="762000"/>
          </a:xfrm>
          <a:prstGeom prst="roundRect">
            <a:avLst>
              <a:gd name="adj" fmla="val 16666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905500"/>
            <a:ext cx="1092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232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通过`gotoXY`实现画面原点复位，配合循环重绘与延时函数，将静态的字符打印转化为动态的游戏画面刷新，这是让贪吃蛇“活”起来的关键一步。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0" cy="3048000"/>
          </a:xfrm>
          <a:prstGeom prst="roundRect">
            <a:avLst>
              <a:gd name="adj" fmla="val 8333"/>
            </a:avLst>
          </a:prstGeom>
          <a:solidFill>
            <a:srgbClr val="FFFFFF">
              <a:alpha val="95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1905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270000" y="2603500"/>
            <a:ext cx="965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Part 4 总结与拓展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34861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270000" y="3683000"/>
            <a:ext cx="965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回顾与展望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24000" y="50800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87000" y="51308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03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794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const 定义不可变的游戏规则，确立核心基准；使用 int、bool 等变量类型动态存储游戏中的分数、剩余生命以及实时的游戏状态，为程序运行提供基础的数值支撑与状态记录。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720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数据结构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794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 string 字符串表示游戏地图的单行布局信息，清晰呈现一行内的元素分布；借助 vector 容器存储多行字符串，将分散的行信息整合为一个整体，从而构建出完整的二维游戏地图场景。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0" y="20320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程序逻辑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55000" y="2794000"/>
            <a:ext cx="3048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while、for 循环实现游戏的持续运行与地图的动态绘制；用 if-else 条件判断处理玩家输入指令、碰撞检测等关键逻辑；结合 rand() 生成随机数，为游戏添加随机的道具或敌人元素，丰富游戏体验。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44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课堂互动问答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现在我们进入实战互动环节！通过调整贪吃蛇游戏的核心代码，来改变游戏规则。请大家快速思考：如果想让游戏更有挑战性或者更简单，我们需要修改哪些关键代码呢？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调整初始生命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1750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如果想让玩家开局拥有5条命，应该修改哪一行初始化代码？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191000"/>
            <a:ext cx="3048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4292600"/>
            <a:ext cx="279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life = 3; → int life = 5;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修改金币价值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1750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吃到一个金币加20分而不是默认的10分，需要调整哪个运算逻辑？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4191000"/>
            <a:ext cx="3048000" cy="762000"/>
          </a:xfrm>
          <a:prstGeom prst="roundRect">
            <a:avLst>
              <a:gd name="adj" fmla="val 8333"/>
            </a:avLst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4292600"/>
            <a:ext cx="279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5A62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score += 10; → score += 20;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0" y="2540000"/>
            <a:ext cx="304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提升游戏速度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175000"/>
            <a:ext cx="304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Sleep(500)代表500毫秒延迟，想让游戏变快数值该调大还是调小？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191000"/>
            <a:ext cx="3048000" cy="762000"/>
          </a:xfrm>
          <a:prstGeom prst="roundRect">
            <a:avLst>
              <a:gd name="adj" fmla="val 8333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0" y="4292600"/>
            <a:ext cx="279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90E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Sleep(500); → Sleep(200);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5A623">
              <a:alpha val="10000"/>
            </a:srgbClr>
          </a:solidFill>
          <a:ln w="127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588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修改游戏参数本质是调整代码中的常量值，理解变量含义与控制逻辑是灵活定制游戏规则的关键。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79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拓展思考：如何让游戏更有趣？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175000" cy="4064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89000" y="1714500"/>
            <a:ext cx="2921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从功能到体验的进阶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的游戏框架搭建完成后，真正的趣味性往往藏在细节的打磨中。通过调整核心机制、引入新的互动元素以及升级感官反馈，我们可以把一个简单的程序转化为充满挑战与惊喜的游戏作品，让玩家获得更丰富的操作体验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4254500" y="1524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381500" y="1587500"/>
            <a:ext cx="349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1. 增加动态难度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2095500"/>
            <a:ext cx="3492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随着玩家分数不断累加，逐步缩短程序中 Sleep() 函数的等待时间。这会让游戏地图的滚动速度越来越快，对玩家的反应能力形成阶梯式挑战，让游戏过程更具张力。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0" y="1524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55000" y="1587500"/>
            <a:ext cx="349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2. 设计趣味道具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255000" y="2095500"/>
            <a:ext cx="3492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在地图中加入特殊符号作为互动道具，例如用“*”代表“无敌星”。当玩家触碰到该符号后，触发短暂的“无敌状态”，期间撞到障碍物不会扣除生命值，为游戏增添随机性与策略乐趣。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54500" y="36195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81500" y="3683000"/>
            <a:ext cx="349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3. 丰富听觉反馈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4191000"/>
            <a:ext cx="3492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学习调用 Windows API 实现基础音频播放。为吃到金币、撞到障碍等关键操作配置专属的提示音效，用听觉强化操作反馈，让游戏从“无声”变为“有声”，显著提升沉浸感。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36195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0" y="3683000"/>
            <a:ext cx="349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4. 升级视觉表现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4191000"/>
            <a:ext cx="3492500" cy="1206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打破单一的文字样式，为不同游戏元素赋予专属色彩：用醒目色标注玩家、暖色调显示金币、警示色区分障碍。色彩的差异化让画面层次更分明，既降低了视觉疲劳，也让游戏过程更直观。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778500"/>
            <a:ext cx="11112500" cy="6985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89000" y="5842000"/>
            <a:ext cx="10922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核心感悟：</a:t>
            </a:r>
            <a: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编程的魅力在于不断创造与迭代，从难度机制到感官体验的每一处优化，都是让代码“活”起来、让游戏“好玩”起来的关键一步。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508000"/>
            <a:ext cx="1016000" cy="1016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795000" y="508000"/>
            <a:ext cx="762000" cy="762000"/>
          </a:xfrm>
          <a:prstGeom prst="ellipse">
            <a:avLst/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0" y="4826000"/>
            <a:ext cx="1270000" cy="1270000"/>
          </a:xfrm>
          <a:prstGeom prst="ellipse">
            <a:avLst/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826000"/>
            <a:ext cx="889000" cy="889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81000" y="2286000"/>
            <a:ext cx="11430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1270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3810000"/>
            <a:ext cx="11430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愿你在编程世界里继续探索，发现更多乐趣！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5207000"/>
            <a:ext cx="3302000" cy="101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2356</Words>
  <Application>Microsoft Office PowerPoint</Application>
  <PresentationFormat>宽屏</PresentationFormat>
  <Paragraphs>259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Noto Sans SC</vt:lpstr>
      <vt:lpstr>Songti SC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H. Schwarz</cp:lastModifiedBy>
  <cp:revision>1</cp:revision>
  <dcterms:modified xsi:type="dcterms:W3CDTF">2026-05-26T05:13:21Z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{"Label":"1","ContentProducer":"001191110102MACQD9K64010000","ProduceID":"7644063220885671126","ReservedCode1":"","ContentPropagator":"","PropagateID":"","ReservedCode2":""}</vt:lpwstr>
  </property>
</Properties>
</file>