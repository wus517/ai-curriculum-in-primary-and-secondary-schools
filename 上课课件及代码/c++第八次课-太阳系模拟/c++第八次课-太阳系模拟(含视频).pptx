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0"/>
  </p:notesMasterIdLst>
  <p:sldIdLst>
    <p:sldId id="256" r:id="rId3"/>
    <p:sldId id="257" r:id="rId4"/>
    <p:sldId id="272" r:id="rId5"/>
    <p:sldId id="258" r:id="rId6"/>
    <p:sldId id="259" r:id="rId7"/>
    <p:sldId id="273" r:id="rId8"/>
    <p:sldId id="286" r:id="rId9"/>
    <p:sldId id="260" r:id="rId10"/>
    <p:sldId id="283" r:id="rId11"/>
    <p:sldId id="284" r:id="rId12"/>
    <p:sldId id="262" r:id="rId13"/>
    <p:sldId id="278" r:id="rId14"/>
    <p:sldId id="263" r:id="rId15"/>
    <p:sldId id="279" r:id="rId16"/>
    <p:sldId id="275" r:id="rId17"/>
    <p:sldId id="264" r:id="rId18"/>
    <p:sldId id="285" r:id="rId19"/>
    <p:sldId id="281" r:id="rId20"/>
    <p:sldId id="280" r:id="rId21"/>
    <p:sldId id="266" r:id="rId22"/>
    <p:sldId id="282" r:id="rId23"/>
    <p:sldId id="287" r:id="rId24"/>
    <p:sldId id="274" r:id="rId25"/>
    <p:sldId id="268" r:id="rId26"/>
    <p:sldId id="269" r:id="rId27"/>
    <p:sldId id="270" r:id="rId28"/>
    <p:sldId id="271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大家好，欢迎来到今天的编程探险课！今天，我们将一起进入一个神奇的世界，学习如何用C++代码创造一个属于我们自己的太阳系。准备好开启这场宇宙之旅了吗？让我们一起出发吧！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今天的课程中，我们将分三步进行我们的宇宙探险。首先，我们会在“宇宙小课堂”里学习一些关于太阳系的有趣知识。然后，我们将进入“代码大揭秘”环节，看看程序是如何工作的。最后，也是最激动人心的部分，你们将成为“小小创造家”，亲手修改代码，创造属于自己的宇宙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现在，让我们正式进入第一部分——我们的宇宙梦想。在这里，我们将了解宇宙运行背后的科学原理，并认识我们美丽的行星邻居们。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宇宙中的一切都遵循着奇妙的规则。其中最重要的两个就是万有引力和椭圆轨道。万有引力就像太阳伸出的无数只看不见的手，紧紧拉住了它的孩子们——行星。而椭圆轨道，则是行星们在太阳引力下奔跑的专属跑道。正是这两种力量的结合，才让我们的太阳系如此稳定而美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让我们认识几位太阳系的大明星！首先是我们的家园——地球，美丽的蓝色星球。然后是红色的战神——火星，它拥有太阳系最高的火山。最后是行星中的巨无霸——木星，它的一场风暴就比整个地球还大！是不是非常神奇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5E80-6059-BDA3-17E7-99F9C48B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133C16-A19C-649F-F3C8-DF42E73B19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6A7C1-D833-AF5F-491E-9FA4B26779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9AB646C-7405-1482-899D-9A335FA5E5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64E3A95-54C9-E5B5-3469-72163B1C1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现在，让我们正式进入第一部分——我们的宇宙梦想。在这里，我们将了解宇宙运行背后的科学原理，并认识我们美丽的行星邻居们。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E234C-5150-F596-D3F1-F6C314E92A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24AC6-7A58-11DE-FC92-5754D57D0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75463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的程序是如何让这些行星动起来的呢？其实很简单，它遵循一个固定的流程。首先，做好准备工作，把宇宙里的东西都创建好。然后，进入一个无限循环，在循环里，它会先检查我们有没有按键盘，接着计算行星的新位置，最后把所有东西画出来。这个过程不断重复，我们就能看到行星运动的动画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，这就是大导演`main`的剧本。我们不需要完全看懂每一行，只需要抓住几个关键部分。`initgraph`是创建窗口，`InitStars`是点亮星星，而最核心的就是`while(true)`这个循环，它会让`HandleInput`、`Update`和`DrawSystem`这三个动作一直重复下去，就像一个永不停歇的魔法，让我们的宇宙持续运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首先看数据定义。我们定义了一个名为`Planet`的结构体，它包含了描述一颗行星所需的所有属性，比如它的角度、速度、轨道参数、大小、颜色和名称。这个结构体是我们整个模拟系统的数据基础。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接下来，我们创建了一个包含八个行星对象的数组。这里为每颗行星都设置了不同的初始参数，比如水星速度最快，木星体积最大。这些数据共同构成了我们太阳系的蓝图。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我们还定义了一些全局变量来控制整个系统的状态，比如速度、暂停标志等。此外，为了让画面更逼真，我们通过`InitStars`和`DrawStars`函数生成了随机的星空背景。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说程序是一个画家，那么`DrawSystem`函数就是它手中的画笔。这个函数负责把我们设计好的一切，包括星星、太阳、行星和轨道，都一一绘制到屏幕上。它就像一个勤劳的画师，每一次循环都会重新绘制整个宇宙，让我们看到最新的画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现在我们来看核心的绘制逻辑。`DrawSystem`函数首先会设置画布，将坐标原点移到屏幕中心，这是模拟太阳系的关键一步。然后，它会在原点绘制代表太阳的黄色实心圆。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我们来逐一探秘这些神奇的函数。首先是InitStars()函数，它的作用很简单，就是在屏幕上随机生成200颗星星的位置，为我们的宇宙增添背景。它通过一个循环，重复200次，每次都随机计算一个坐标点。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一个非常神奇的数学魔法！`cos`和`sin`函数就像钟表的指针，它们能根据行星的角度，精确地计算出行星在轨道上的位置。就像我们看钟表知道时间一样，计算机通过这两个函数，就能知道每个行星应该画在哪里。是不是很神奇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B1442-F20E-B180-B080-3B7F0B5F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390AD1-4DF8-288E-F342-B0725FCEE6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D1A421-5A74-CEE9-6B0F-DE789E1A42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918BCE3-AB52-0ABB-8844-04A6477642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BF2C433-06C4-D769-7A15-6801B62D8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一个非常神奇的数学魔法！`cos`和`sin`函数就像钟表的指针，它们能根据行星的角度，精确地计算出行星在轨道上的位置。就像我们看钟表知道时间一样，计算机通过这两个函数，就能知道每个行星应该画在哪里。是不是很神奇？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12905-2CEF-6BD3-104B-31D26A337E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76F3B-045B-8309-4495-D3E4B4C1A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55514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动画是如何实现的呢？答案就在Update函数里。在每次循环中，如果程序没有暂停，这个函数就会更新每个行星的角度。角度的微小变化，在DrawSystem中就会体现为行星位置的移动，从而形成动画效果。同时，我们还维护了一个simDay变量来记录模拟时间，让系统有了“时间”的概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除了绘制天体，`DrawSystem`还负责绘制用户界面。左上角会显示当前的速度、模拟时间和运行状态。当用户选中一颗行星时，左侧会弹出一个信息面板，显示该行星的详细介绍。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程序不仅能自己运行，还能听我们的话！这就要归功于HandleInput函数了。它就像程序的耳朵，时刻监听着我们的键盘和鼠标操作。按空格键暂停，按方向键加速，点击行星查看信息，都是这个“耳朵”在起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程序能够响应用户操作，我们编写了HandleInput函数。它会检查鼠标点击和键盘按键。当用户点击行星时，它会计算点击位置与行星的距离来判断是否选中。当用户按下特定按键时，它会执行暂停、调速或退出等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8DB4-4691-6F11-3D74-7BE90E79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76A520-BB04-CFD2-67AF-4CC920A7CD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4AADA-764D-3409-B89E-397FF1C48A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BE38263-10A5-9289-3F35-7AF68E5114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DAE4CCC-73F6-0202-05D2-96250445C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现在，让我们正式进入第一部分——我们的宇宙梦想。在这里，我们将了解宇宙运行背后的科学原理，并认识我们美丽的行星邻居们。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7892E-C370-9752-87E6-5630B285A7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C3411-0CC3-7697-5B88-0132D4234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27088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第一个任务非常简单！请大家找到代表地球的那一行代码，把它的颜色值从蓝色改成绿色。你可以尝试我给出的`RGB(0, 255, 0)`，也可以自己创造一个喜欢的绿色。改完之后运行程序，看看你的地球是不是换上了新装！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第二个任务，让我们来当一回赛车教练！找到火星的代码，把它的速度值改大，比如改成0.05。运行程序后，你会发现火星像吃了菠菜一样，在轨道上飞速前进，甚至有可能超过地球哦！快来试试吧！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终极挑战来了！我们要创造一颗全新的行星！大家可以模仿其他行星的代码格式，在列表的最后添加一行。你可以为它设定全新的速度、轨道、大小和颜色，甚至给它起一个独一无二的名字！完成后运行程序，看看你的新行星是不是已经在围绕太阳旋转了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太棒了！今天我们不仅学习了太阳系的有趣知识，还亲手用代码创造了独一无二的宇宙。恭喜每一位同学，你们都是最棒的宇宙创造者！希望大家能记住今天的感受，编程就像一支魔法画笔，能让我们把脑海中的想象变成现实。继续保持好奇，去探索更多编程的奥秘吧！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4.jpe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jpeg"/><Relationship Id="rId9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3" Type="http://schemas.openxmlformats.org/officeDocument/2006/relationships/image" Target="../media/image4.jpe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8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4.jpe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4.jpeg"/><Relationship Id="rId7" Type="http://schemas.openxmlformats.org/officeDocument/2006/relationships/image" Target="../media/image8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4.png"/><Relationship Id="rId5" Type="http://schemas.openxmlformats.org/officeDocument/2006/relationships/image" Target="../media/image83.svg"/><Relationship Id="rId4" Type="http://schemas.openxmlformats.org/officeDocument/2006/relationships/image" Target="../media/image82.png"/><Relationship Id="rId9" Type="http://schemas.openxmlformats.org/officeDocument/2006/relationships/image" Target="../media/image8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8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9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5.png"/><Relationship Id="rId5" Type="http://schemas.openxmlformats.org/officeDocument/2006/relationships/image" Target="../media/image94.svg"/><Relationship Id="rId4" Type="http://schemas.openxmlformats.org/officeDocument/2006/relationships/image" Target="../media/image9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0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9.png"/><Relationship Id="rId5" Type="http://schemas.openxmlformats.org/officeDocument/2006/relationships/image" Target="../media/image98.svg"/><Relationship Id="rId4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4.jpeg"/><Relationship Id="rId7" Type="http://schemas.openxmlformats.org/officeDocument/2006/relationships/image" Target="../media/image10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3.png"/><Relationship Id="rId5" Type="http://schemas.openxmlformats.org/officeDocument/2006/relationships/image" Target="../media/image102.svg"/><Relationship Id="rId4" Type="http://schemas.openxmlformats.org/officeDocument/2006/relationships/image" Target="../media/image101.png"/><Relationship Id="rId9" Type="http://schemas.openxmlformats.org/officeDocument/2006/relationships/image" Target="../media/image10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C++ 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第八次课：</a:t>
            </a: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模拟太阳系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41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用代码创造你的宇宙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3556000" cy="812800"/>
          </a:xfrm>
          <a:prstGeom prst="roundRect">
            <a:avLst>
              <a:gd name="adj" fmla="val 1875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" y="53848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5283200"/>
            <a:ext cx="241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少儿编程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进阶挑战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今天的宇宙探险之旅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EFA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9600" y="2413000"/>
            <a:ext cx="1066800" cy="1066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3683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宇宙小课堂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826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我们将一起探索太阳系的奥秘，了解行星为什么会转圈圈，发现藏在星空里的物理知识！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EFA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2600" y="2413000"/>
            <a:ext cx="1066800" cy="1066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3683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代码大揭秘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4826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化身“程序侦探”，看看神奇的C++代码是如何在电脑里画出整个运转的太阳系的！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EFA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5600" y="2413000"/>
            <a:ext cx="1066800" cy="1066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3683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小小创造家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4826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发挥你的想象力，亲手修改代码参数，给行星换个颜色，调整轨道，创造独一无二的宇宙！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285F4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42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4285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宇宙小课堂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3048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宇宙的“神秘力量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53328" y="1285971"/>
            <a:ext cx="5325359" cy="49784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43640" y="1307804"/>
            <a:ext cx="5325359" cy="139405"/>
          </a:xfrm>
          <a:prstGeom prst="roundRect">
            <a:avLst>
              <a:gd name="adj" fmla="val 150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880359" y="476338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万有引力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想象一下，太阳就像一块巨大无比的磁铁，用一种看不见的“吸引力”拉着所有行星，让它们不会飞走。这种力量就叫做“万有引力”。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62803" y="1285971"/>
            <a:ext cx="5734375" cy="49784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173509" y="1307805"/>
            <a:ext cx="5579358" cy="139405"/>
          </a:xfrm>
          <a:prstGeom prst="roundRect">
            <a:avLst>
              <a:gd name="adj" fmla="val 150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2" name="AutoShape 12"/>
          <p:cNvSpPr/>
          <p:nvPr/>
        </p:nvSpPr>
        <p:spPr>
          <a:xfrm>
            <a:off x="6612641" y="4601786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椭圆轨道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476999" y="4826000"/>
            <a:ext cx="5325359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行星的运行轨道不是一个完美的正圆形，而是一个有点“扁”的圈圈，我们叫它“椭圆”。正是太阳的引力和行星自身向前冲的力量，让它们沿着这样的轨道奔跑。</a:t>
            </a:r>
            <a:endParaRPr lang="en-US" sz="11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7DBB022-0789-7637-6CAF-CF3AEE975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999" y="1447209"/>
            <a:ext cx="5579358" cy="308410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FFD230C-08FA-5931-EEB8-F5DDAEEA8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19" y="1447209"/>
            <a:ext cx="4953000" cy="3316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太阳系明星见面会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32910" b="32910"/>
          <a:stretch>
            <a:fillRect/>
          </a:stretch>
        </p:blipFill>
        <p:spPr>
          <a:xfrm>
            <a:off x="1016000" y="2159000"/>
            <a:ext cx="2794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191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地球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(我们的蓝色家园)</a:t>
            </a:r>
            <a:endParaRPr lang="en-US" sz="1100"/>
          </a:p>
          <a:p>
            <a:pPr indent="0" algn="just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太阳系中唯一有生命的星球！它穿着一件蓝色的“水衣裳”，外面还盖着一层看不见的“空气被子”，保护着我们。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l="5815" r="5815"/>
          <a:stretch>
            <a:fillRect/>
          </a:stretch>
        </p:blipFill>
        <p:spPr>
          <a:xfrm>
            <a:off x="4699000" y="2159000"/>
            <a:ext cx="2794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4699000" y="4191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34836"/>
                </a:solidFill>
                <a:latin typeface="Noto Sans SC"/>
                <a:ea typeface="Noto Sans SC"/>
                <a:cs typeface="Noto Sans SC"/>
                <a:sym typeface="Noto Sans SC"/>
              </a:rPr>
              <a:t>火星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(红色的战神)</a:t>
            </a:r>
            <a:endParaRPr lang="en-US" sz="1100"/>
          </a:p>
          <a:p>
            <a:pPr indent="0" algn="just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它看起来是红色的，因为它的表面覆盖着很多“铁锈”（氧化铁）。火星上有一座超级火山，高度是珠穆朗玛峰的三倍多！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t="36275" b="36275"/>
          <a:stretch>
            <a:fillRect/>
          </a:stretch>
        </p:blipFill>
        <p:spPr>
          <a:xfrm>
            <a:off x="8382000" y="2159000"/>
            <a:ext cx="2794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8382000" y="4191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E6A23C"/>
                </a:solidFill>
                <a:latin typeface="Noto Sans SC"/>
                <a:ea typeface="Noto Sans SC"/>
                <a:cs typeface="Noto Sans SC"/>
                <a:sym typeface="Noto Sans SC"/>
              </a:rPr>
              <a:t>木星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(行星中的巨无霸)</a:t>
            </a:r>
            <a:endParaRPr lang="en-US" sz="1100"/>
          </a:p>
          <a:p>
            <a:pPr indent="0" algn="just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它是太阳系里最大的行星，一个木星能装下1300多个地球！它著名的“大红斑”是一场刮了几百年、比地球还大的巨大风暴。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91A7-54A4-5CBF-A418-183AF61F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EA6B33C-AAD1-D922-23C9-79098A1ED457}"/>
              </a:ext>
            </a:extLst>
          </p:cNvPr>
          <p:cNvSpPr/>
          <p:nvPr/>
        </p:nvSpPr>
        <p:spPr>
          <a:xfrm>
            <a:off x="0" y="1651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 dirty="0">
                <a:solidFill>
                  <a:srgbClr val="4285F4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0DC031E-BD34-AA94-549B-EF362EF57098}"/>
              </a:ext>
            </a:extLst>
          </p:cNvPr>
          <p:cNvSpPr/>
          <p:nvPr/>
        </p:nvSpPr>
        <p:spPr>
          <a:xfrm>
            <a:off x="5588000" y="342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4285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4E8B306-8C49-1539-798C-E7C8A8A3B866}"/>
              </a:ext>
            </a:extLst>
          </p:cNvPr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代码大揭秘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9782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9C1DFDF0-70E0-6BBE-BE35-9466E68D09B8}"/>
              </a:ext>
            </a:extLst>
          </p:cNvPr>
          <p:cNvSpPr/>
          <p:nvPr/>
        </p:nvSpPr>
        <p:spPr>
          <a:xfrm>
            <a:off x="172824" y="153094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运行效果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1D7616-AAA1-D3FD-C469-3FF88069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300" y="62345"/>
            <a:ext cx="9502218" cy="681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80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我们的程序是如何工作的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981200" cy="3302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981200" cy="1016000"/>
          </a:xfrm>
          <a:prstGeom prst="roundRect">
            <a:avLst>
              <a:gd name="adj" fmla="val 15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1082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57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175000"/>
            <a:ext cx="172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准备工作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(初始化)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创建太阳、行星和星星，搭建出宇宙的基本场景。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2933700" y="1905000"/>
            <a:ext cx="1981200" cy="3302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933700" y="1905000"/>
            <a:ext cx="1981200" cy="1016000"/>
          </a:xfrm>
          <a:prstGeom prst="roundRect">
            <a:avLst>
              <a:gd name="adj" fmla="val 15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86100" y="21082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759200" y="2057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60700" y="3175000"/>
            <a:ext cx="172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进入循环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(游戏开始)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程序进入一个不停重复的“游戏循环”，让动画动起来。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105400" y="1905000"/>
            <a:ext cx="1981200" cy="3302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105400" y="1905000"/>
            <a:ext cx="1981200" cy="1016000"/>
          </a:xfrm>
          <a:prstGeom prst="roundRect">
            <a:avLst>
              <a:gd name="adj" fmla="val 15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57800" y="21082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930900" y="2057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232400" y="3175000"/>
            <a:ext cx="172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听指令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处理输入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时刻“</a:t>
            </a:r>
            <a:r>
              <a:rPr lang="en-US" sz="12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竖起耳朵</a:t>
            </a:r>
            <a:r>
              <a:rPr lang="en-US" sz="12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2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检查我们按下了什么</a:t>
            </a:r>
            <a:r>
              <a:rPr lang="zh-CN" altLang="en-US" sz="12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鼠标和</a:t>
            </a:r>
            <a:r>
              <a:rPr lang="en-US" sz="1200" b="0" i="0" u="none" strike="noStrike" dirty="0" err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键盘按键来控制飞船</a:t>
            </a:r>
            <a:r>
              <a:rPr lang="en-US" sz="1200" b="0" i="0" u="none" strike="noStrike" dirty="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277100" y="1905000"/>
            <a:ext cx="1981200" cy="3302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277100" y="1905000"/>
            <a:ext cx="1981200" cy="1016000"/>
          </a:xfrm>
          <a:prstGeom prst="roundRect">
            <a:avLst>
              <a:gd name="adj" fmla="val 15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29500" y="21082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102600" y="2057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04100" y="3175000"/>
            <a:ext cx="172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更新位置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(行星运动)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根据物理规则，快速计算出每个行星和飞船在下一刻的新位置。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448800" y="1905000"/>
            <a:ext cx="1981200" cy="3302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448800" y="1905000"/>
            <a:ext cx="1981200" cy="1016000"/>
          </a:xfrm>
          <a:prstGeom prst="roundRect">
            <a:avLst>
              <a:gd name="adj" fmla="val 15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01200" y="21082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0274300" y="2057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75800" y="3175000"/>
            <a:ext cx="172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画出宇宙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(绘制画面)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把太阳、星星、飞船和新位置的行星，全部画到屏幕上。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E8F4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62000" y="565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A98"/>
                </a:solidFill>
                <a:latin typeface="Noto Sans SC"/>
                <a:ea typeface="Noto Sans SC"/>
                <a:cs typeface="Noto Sans SC"/>
                <a:sym typeface="Noto Sans SC"/>
              </a:rPr>
              <a:t>🔄 循环往复：画完后，程序立刻回到第 2 步，再次执行，就这样不停重复，形成了我们看到的动画！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762000" y="2667000"/>
            <a:ext cx="10668000" cy="3683000"/>
          </a:xfrm>
          <a:prstGeom prst="roundRect">
            <a:avLst>
              <a:gd name="adj" fmla="val 4137"/>
            </a:avLst>
          </a:prstGeom>
          <a:solidFill>
            <a:srgbClr val="1E1E23">
              <a:alpha val="96000"/>
            </a:srgbClr>
          </a:solidFill>
          <a:ln w="25400" cap="flat" cmpd="sng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1016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ts val="1800"/>
              </a:lnSpc>
              <a:buNone/>
            </a:pP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程序的“总开关”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initgraph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1.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画宇宙画布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InitStars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// 2.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点亮满天星星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// 3.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进入无限循环，让故事永远继续！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HandleInput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听玩家指挥 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键盘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鼠标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更新星球位置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DrawSystem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画出最新画面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控制动画速度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循环结束</a:t>
            </a: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zh-CN" alt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AutoShape 18">
            <a:extLst>
              <a:ext uri="{FF2B5EF4-FFF2-40B4-BE49-F238E27FC236}">
                <a16:creationId xmlns:a16="http://schemas.microsoft.com/office/drawing/2014/main" id="{C1D378ED-A996-2CB4-610A-A18C485881A8}"/>
              </a:ext>
            </a:extLst>
          </p:cNvPr>
          <p:cNvSpPr/>
          <p:nvPr/>
        </p:nvSpPr>
        <p:spPr>
          <a:xfrm>
            <a:off x="762000" y="1587500"/>
            <a:ext cx="10056828" cy="825500"/>
          </a:xfrm>
          <a:prstGeom prst="roundRect">
            <a:avLst>
              <a:gd name="adj" fmla="val 25000"/>
            </a:avLst>
          </a:prstGeom>
          <a:solidFill>
            <a:srgbClr val="FEF3C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9">
            <a:extLst>
              <a:ext uri="{FF2B5EF4-FFF2-40B4-BE49-F238E27FC236}">
                <a16:creationId xmlns:a16="http://schemas.microsoft.com/office/drawing/2014/main" id="{2355D3E9-A36A-D150-8367-39C816C62F77}"/>
              </a:ext>
            </a:extLst>
          </p:cNvPr>
          <p:cNvSpPr/>
          <p:nvPr/>
        </p:nvSpPr>
        <p:spPr>
          <a:xfrm>
            <a:off x="837414" y="16129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✨ </a:t>
            </a:r>
            <a:r>
              <a:rPr lang="en-US" sz="1800" b="1" i="0" u="none" strike="noStrike" dirty="0" err="1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就像动画片一样，一帧一帧地播放，连起来就变成了会动的画面</a:t>
            </a:r>
            <a:r>
              <a:rPr lang="en-US" sz="1800" b="1" i="0" u="none" strike="noStrike" dirty="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！ ✨</a:t>
            </a:r>
            <a:endParaRPr lang="en-US" sz="1100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E7FDA887-263D-C5EB-C82D-0010AECC31F8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我们的程序是如何工作的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6223000" y="16510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8415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731000" y="18034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angle · </a:t>
            </a:r>
            <a:r>
              <a:rPr lang="en-US" sz="1600" b="1" i="0" u="none" strike="noStrike" dirty="0" err="1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轨道角度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决定行星在轨道上的位置坐标，通过三角函数计算实时位置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9017000" y="16510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1841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525000" y="18034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speed · 角速度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控制行星绕日公转的快慢，数值越大，轨道运动越迅速。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3238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3429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31000" y="33909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a, b · 轨道参数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分别代表轨道椭圆的长半轴和短半轴，定义了行星运行的轨道形状。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017000" y="3238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3429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525000" y="33909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size · 视觉大小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设定行星在屏幕上的绘制像素大小，区分行星体积差异。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23000" y="48260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0" y="5016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31000" y="49784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color · 行星颜色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通过颜色值定义行星的外观颜色，让太阳系色彩更加丰富真实。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9017000" y="48260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4000" y="5016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525000" y="49784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B2777"/>
                </a:solidFill>
                <a:latin typeface="Noto Sans SC"/>
                <a:ea typeface="Noto Sans SC"/>
                <a:cs typeface="Noto Sans SC"/>
                <a:sym typeface="Noto Sans SC"/>
              </a:rPr>
              <a:t>name_cn · 中文名称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用于在界面上显示行星的中文名称，便于用户识别与交互。</a:t>
            </a:r>
          </a:p>
        </p:txBody>
      </p:sp>
      <p:sp>
        <p:nvSpPr>
          <p:cNvPr id="26" name="AutoShape 2">
            <a:extLst>
              <a:ext uri="{FF2B5EF4-FFF2-40B4-BE49-F238E27FC236}">
                <a16:creationId xmlns:a16="http://schemas.microsoft.com/office/drawing/2014/main" id="{98CAA82A-C33F-B526-407D-E664A0354A8D}"/>
              </a:ext>
            </a:extLst>
          </p:cNvPr>
          <p:cNvSpPr/>
          <p:nvPr/>
        </p:nvSpPr>
        <p:spPr>
          <a:xfrm>
            <a:off x="635000" y="2286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代码揭秘：行星的“身份证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43AADF72-EEC6-394B-1638-A508A1B1AE1F}"/>
              </a:ext>
            </a:extLst>
          </p:cNvPr>
          <p:cNvSpPr/>
          <p:nvPr/>
        </p:nvSpPr>
        <p:spPr>
          <a:xfrm>
            <a:off x="635000" y="1841500"/>
            <a:ext cx="5334000" cy="4397632"/>
          </a:xfrm>
          <a:prstGeom prst="roundRect">
            <a:avLst>
              <a:gd name="adj" fmla="val 4615"/>
            </a:avLst>
          </a:prstGeom>
          <a:solidFill>
            <a:srgbClr val="1E293B">
              <a:alpha val="100000"/>
            </a:srgbClr>
          </a:solidFill>
          <a:ln w="38100" cap="flat" cmpd="sng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CB0BE427-C7BB-CD7A-A325-11E89D7C81FC}"/>
              </a:ext>
            </a:extLst>
          </p:cNvPr>
          <p:cNvSpPr/>
          <p:nvPr/>
        </p:nvSpPr>
        <p:spPr>
          <a:xfrm>
            <a:off x="635000" y="2095500"/>
            <a:ext cx="5461000" cy="37863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 dirty="0">
                <a:solidFill>
                  <a:srgbClr val="FFD7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500" b="1" i="0" u="none" strike="noStrike" dirty="0" err="1">
                <a:solidFill>
                  <a:srgbClr val="FFD7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行星结构</a:t>
            </a:r>
            <a:r>
              <a:rPr lang="en-US" sz="1500" b="1" i="0" u="none" strike="noStrike" dirty="0">
                <a:solidFill>
                  <a:srgbClr val="FFD7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</a:p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FFD7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Struct </a:t>
            </a:r>
            <a:r>
              <a:rPr lang="en-US" sz="1600" b="1" i="0" u="none" strike="noStrike" dirty="0">
                <a:solidFill>
                  <a:srgbClr val="FFC85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Planet</a:t>
            </a:r>
            <a:r>
              <a:rPr lang="en-US" sz="1600" b="0" i="0" u="none" strike="noStrike" dirty="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Double </a:t>
            </a:r>
            <a:r>
              <a:rPr lang="en-US" sz="1400" b="0" i="0" u="none" strike="noStrike" dirty="0">
                <a:solidFill>
                  <a:srgbClr val="818CF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angle;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400" b="0" i="0" u="none" strike="noStrike" dirty="0" err="1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行星当前的角度（决定它轨道上的位置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）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Double </a:t>
            </a:r>
            <a:r>
              <a:rPr lang="en-US" sz="1400" b="0" i="0" u="none" strike="noStrike" dirty="0">
                <a:solidFill>
                  <a:srgbClr val="818CF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speed;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400" b="0" i="0" u="none" strike="noStrike" dirty="0" err="1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行星的公转速度</a:t>
            </a:r>
            <a:endParaRPr lang="en-US" sz="1400" b="0" i="0" u="none" strike="noStrike" dirty="0">
              <a:solidFill>
                <a:srgbClr val="10B98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Double </a:t>
            </a:r>
            <a:r>
              <a:rPr lang="en-US" sz="1400" b="0" i="0" u="none" strike="noStrike" dirty="0">
                <a:solidFill>
                  <a:srgbClr val="818CF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a, b;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400" b="0" i="0" u="none" strike="noStrike" dirty="0" err="1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轨道的长半轴和短半轴，轨道大小和形状</a:t>
            </a:r>
            <a:endParaRPr lang="en-US" sz="1400" b="0" i="0" u="none" strike="noStrike" dirty="0">
              <a:solidFill>
                <a:srgbClr val="10B98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</a:t>
            </a:r>
            <a:r>
              <a:rPr lang="en-US" sz="1400" b="0" i="0" u="none" strike="noStrike" dirty="0">
                <a:solidFill>
                  <a:srgbClr val="818CF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size;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400" b="0" i="0" u="none" strike="noStrike" dirty="0" err="1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行星自身的大小（半径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）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COLORREF </a:t>
            </a:r>
            <a:r>
              <a:rPr lang="en-US" sz="1400" b="0" i="0" u="none" strike="noStrike" dirty="0">
                <a:solidFill>
                  <a:srgbClr val="818CF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color;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400" b="0" i="0" u="none" strike="noStrike" dirty="0" err="1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行星的专属颜色</a:t>
            </a:r>
            <a:endParaRPr lang="en-US" sz="1400" b="0" i="0" u="none" strike="noStrike" dirty="0">
              <a:solidFill>
                <a:srgbClr val="10B98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const char* </a:t>
            </a:r>
            <a:r>
              <a:rPr lang="en-US" sz="1400" b="0" i="0" u="none" strike="noStrike" dirty="0" err="1">
                <a:solidFill>
                  <a:srgbClr val="818CF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name_cn</a:t>
            </a:r>
            <a:r>
              <a:rPr lang="en-US" sz="1400" b="0" i="0" u="none" strike="noStrike" dirty="0">
                <a:solidFill>
                  <a:srgbClr val="818CF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400" b="0" i="0" u="none" strike="noStrike" dirty="0" err="1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行星的中文名字（如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：“</a:t>
            </a:r>
            <a:r>
              <a:rPr lang="en-US" sz="1400" b="0" i="0" u="none" strike="noStrike" dirty="0" err="1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地球</a:t>
            </a:r>
            <a:r>
              <a:rPr lang="en-US" sz="1400" b="0" i="0" u="none" strike="noStrike" dirty="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”）</a:t>
            </a: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</a:p>
        </p:txBody>
      </p:sp>
      <p:sp>
        <p:nvSpPr>
          <p:cNvPr id="24" name="AutoShape 4">
            <a:extLst>
              <a:ext uri="{FF2B5EF4-FFF2-40B4-BE49-F238E27FC236}">
                <a16:creationId xmlns:a16="http://schemas.microsoft.com/office/drawing/2014/main" id="{1D3FB2B7-56DD-1F9E-EFA4-D2B5C1E926D6}"/>
              </a:ext>
            </a:extLst>
          </p:cNvPr>
          <p:cNvSpPr/>
          <p:nvPr/>
        </p:nvSpPr>
        <p:spPr>
          <a:xfrm>
            <a:off x="635000" y="8001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0" i="0" u="none" strike="noStrike" dirty="0" err="1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这就是我们设计的“行星身份证”蓝图。</a:t>
            </a:r>
            <a:r>
              <a:rPr lang="en-US" sz="1800" b="1" i="0" u="none" strike="noStrike" dirty="0" err="1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struct</a:t>
            </a:r>
            <a:r>
              <a:rPr lang="en-US" sz="1800" b="0" i="0" u="none" strike="noStrike" dirty="0" err="1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就像一个制作行星的“万能</a:t>
            </a:r>
            <a:r>
              <a:rPr lang="zh-CN" altLang="en-US" sz="1800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模板</a:t>
            </a:r>
            <a:r>
              <a:rPr lang="en-US" sz="18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”，我们只要往里面填入不同的细节，就能批量“生产”出形态各异的行星啦！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511643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Planet </a:t>
            </a:r>
            <a:r>
              <a:rPr lang="en-US" sz="1300" b="0" i="0" u="none" strike="noStrike" dirty="0">
                <a:solidFill>
                  <a:srgbClr val="B91C1C"/>
                </a:solidFill>
                <a:latin typeface="Consolas"/>
                <a:ea typeface="Consolas"/>
                <a:cs typeface="Consolas"/>
                <a:sym typeface="Consolas"/>
              </a:rPr>
              <a:t>planets[8]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 {</a:t>
            </a:r>
            <a:endParaRPr lang="en-US" sz="1100" dirty="0"/>
          </a:p>
          <a:p>
            <a:pPr marL="19050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{0, 0.05, 100, 60, 6,</a:t>
            </a:r>
            <a:r>
              <a:rPr lang="en-US" sz="1300" b="0" i="0" u="none" strike="noStrike" dirty="0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RGB(200,200,200)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水星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  <a:p>
            <a:pPr marL="19050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{0, 0.04, 150, 90, 10,</a:t>
            </a:r>
            <a:r>
              <a:rPr lang="en-US" sz="1300" b="0" i="0" u="none" strike="noStrike" dirty="0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RGB(255,200,100)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金星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  <a:p>
            <a:pPr marL="19050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{0, 0.03, 200, 120,11,</a:t>
            </a:r>
            <a:r>
              <a:rPr lang="en-US" sz="1300" b="0" i="0" u="none" strike="noStrike" dirty="0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RGB(100,150,255)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地球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  <a:p>
            <a:pPr marL="19050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{0, 0.025,250, 160,9,</a:t>
            </a:r>
            <a:r>
              <a:rPr lang="en-US" sz="1300" b="0" i="0" u="none" strike="noStrike" dirty="0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RGB(255,100,100)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火星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  <a:p>
            <a:pPr marL="19050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{0, 0.015,320, 200,20,</a:t>
            </a:r>
            <a:r>
              <a:rPr lang="en-US" sz="1300" b="0" i="0" u="none" strike="noStrike" dirty="0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RGB(200,180,100)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 err="1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木星</a:t>
            </a:r>
            <a:r>
              <a:rPr lang="en-US" sz="1300" b="0" i="0" u="none" strike="noStrike" dirty="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  <a:p>
            <a:pPr marL="19050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土星</a:t>
            </a:r>
            <a:r>
              <a:rPr lang="en-US" sz="1300" b="0" i="0" u="none" strike="noStrike" dirty="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天王星</a:t>
            </a:r>
            <a:r>
              <a:rPr lang="en-US" sz="1300" b="0" i="0" u="none" strike="noStrike" dirty="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海王星</a:t>
            </a:r>
            <a:r>
              <a:rPr lang="en-US" sz="1300" b="0" i="0" u="none" strike="noStrike" dirty="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数据略</a:t>
            </a:r>
            <a:r>
              <a:rPr lang="en-US" sz="1300" b="0" i="0" u="none" strike="noStrike" dirty="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注：数组包含8个对象，对应八大行星的物理属性。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820" b="3820"/>
          <a:stretch>
            <a:fillRect/>
          </a:stretch>
        </p:blipFill>
        <p:spPr>
          <a:xfrm>
            <a:off x="6350000" y="1651000"/>
            <a:ext cx="1651000" cy="13970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0" y="3111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水星 Mercury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7692" b="7692"/>
          <a:stretch>
            <a:fillRect/>
          </a:stretch>
        </p:blipFill>
        <p:spPr>
          <a:xfrm>
            <a:off x="8128000" y="1651000"/>
            <a:ext cx="1651000" cy="13970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128000" y="3111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金星 Venus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20545" r="20545"/>
          <a:stretch>
            <a:fillRect/>
          </a:stretch>
        </p:blipFill>
        <p:spPr>
          <a:xfrm>
            <a:off x="9906000" y="1651000"/>
            <a:ext cx="1651000" cy="13970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9906000" y="3111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地球 Earth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3937000"/>
            <a:ext cx="2540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127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4089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统一初始化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4699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初始角度(angle)均为0，保证动画逻辑统一，所有行星同一起跑线。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017000" y="3937000"/>
            <a:ext cx="2540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412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652000" y="4089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差异化参数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207500" y="4699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速度、轨道、体积和颜色均不同，精准还原行星多样性。</a:t>
            </a:r>
            <a:endParaRPr lang="en-US" sz="1100"/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D1B2C889-32B4-F0ED-AF56-8AB9859039BA}"/>
              </a:ext>
            </a:extLst>
          </p:cNvPr>
          <p:cNvSpPr/>
          <p:nvPr/>
        </p:nvSpPr>
        <p:spPr>
          <a:xfrm>
            <a:off x="762000" y="52739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代码揭秘：行星的“身份证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89000" y="57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代码揭秘：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全局变量与星空背景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全局变量：控制整个系统的“开关”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921000"/>
          </a:xfrm>
          <a:prstGeom prst="roundRect">
            <a:avLst>
              <a:gd name="adj" fmla="val 347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06500" y="3048000"/>
            <a:ext cx="431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Double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globalSpeed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=</a:t>
            </a:r>
            <a:r>
              <a:rPr lang="en-US" sz="1400" b="0" i="0" u="none" strike="noStrike" dirty="0">
                <a:solidFill>
                  <a:srgbClr val="D97706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-US" sz="13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全局速度倍率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Bool 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paused =</a:t>
            </a:r>
            <a:r>
              <a:rPr lang="en-US" sz="1400" b="0" i="0" u="none" strike="noStrike" dirty="0">
                <a:solidFill>
                  <a:srgbClr val="D97706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-US" sz="13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暂停标志位</a:t>
            </a:r>
            <a:endParaRPr lang="en-US" sz="13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Double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simDay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=</a:t>
            </a:r>
            <a:r>
              <a:rPr lang="en-US" sz="1400" b="0" i="0" u="none" strike="noStrike" dirty="0">
                <a:solidFill>
                  <a:srgbClr val="D97706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-US" sz="13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虚拟天数</a:t>
            </a:r>
            <a:endParaRPr lang="en-US" sz="13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selected =</a:t>
            </a:r>
            <a:r>
              <a:rPr lang="en-US" sz="1400" b="0" i="0" u="none" strike="noStrike" dirty="0">
                <a:solidFill>
                  <a:srgbClr val="D97706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lang="en-US" sz="14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-US" sz="13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选中索引</a:t>
            </a:r>
            <a:endParaRPr lang="en-US" sz="13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星空背景生成逻辑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667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✨ InitStars()：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程序初始化阶段，生成200个随机坐标点，构建静态的星空“地图”。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🎨 DrawStars()：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每帧渲染时遍历数组绘制光点，模拟深邃的宇宙背景。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16368" r="16368"/>
          <a:stretch>
            <a:fillRect/>
          </a:stretch>
        </p:blipFill>
        <p:spPr>
          <a:xfrm>
            <a:off x="6477000" y="4318000"/>
            <a:ext cx="1460500" cy="1460500"/>
          </a:xfrm>
          <a:prstGeom prst="roundRect">
            <a:avLst>
              <a:gd name="adj" fmla="val 6956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7700" b="7700"/>
          <a:stretch>
            <a:fillRect/>
          </a:stretch>
        </p:blipFill>
        <p:spPr>
          <a:xfrm>
            <a:off x="8102600" y="4318000"/>
            <a:ext cx="1460500" cy="1460500"/>
          </a:xfrm>
          <a:prstGeom prst="roundRect">
            <a:avLst>
              <a:gd name="adj" fmla="val 6956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l="22333" r="22333"/>
          <a:stretch>
            <a:fillRect/>
          </a:stretch>
        </p:blipFill>
        <p:spPr>
          <a:xfrm>
            <a:off x="9715500" y="4318000"/>
            <a:ext cx="1460500" cy="1460500"/>
          </a:xfrm>
          <a:prstGeom prst="roundRect">
            <a:avLst>
              <a:gd name="adj" fmla="val 6956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代码揭秘：宇宙的“画师” DrawSystem()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这个函数是整个程序的“大画师”，负责把宇宙的一切——星星、太阳、行星和轨道，都一一绘制在屏幕上。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667000"/>
            <a:ext cx="3302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857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819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清空画布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556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在画新的一帧之前，先把屏幕“擦”干净，就像画画前先铺一张白纸一样。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667000"/>
            <a:ext cx="3302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857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70500" y="2819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画出星星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556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调用</a:t>
            </a:r>
            <a:r>
              <a:rPr lang="en-US" sz="1300" b="1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DrawStars()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函数，在漆黑的背景上点亮无数个微小的白点，打造浩瀚星空。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667000"/>
            <a:ext cx="3302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2857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953500" y="2819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画出太阳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556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定位到屏幕正中心，画一个明亮的黄色大圆圈，作为整个太阳系的“C位”主角。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9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953000"/>
            <a:ext cx="482600" cy="482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953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画出所有行星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71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先画出椭圆形的轨道，再计算出每个行星现在的实时位置，画出彩色的行星圆，并在旁边标注它的名字。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69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953000"/>
            <a:ext cx="482600" cy="482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953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画出信息面板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5568176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在屏幕左</a:t>
            </a: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上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角画一个半透明的“</a:t>
            </a: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仪表盘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显示当前的模拟速度、运行时间、缩放比例等重要信息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代码揭秘：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画布设置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`DrawSystem` 是整个程序最核心的绘制函数，负责将所有视觉元素呈现在屏幕上。第一步就是初始化画布。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8FAFC">
              <a:alpha val="100000"/>
            </a:srgbClr>
          </a:solidFill>
          <a:ln w="25400" cap="flat" cmpd="sng">
            <a:solidFill>
              <a:srgbClr val="8B5CF6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514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坐标系重构：画布初始化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302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setorigin(getwidth()/2, getheight()/2); // 原点移至窗口中心</a:t>
            </a:r>
            <a:br>
              <a:rPr lang="en-US" sz="1200" b="0" i="0" u="none" strike="noStrik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setaspectratio(1, 1); // 像素宽高比 1:1</a:t>
            </a:r>
            <a:br>
              <a:rPr lang="en-US" sz="1200" b="0" i="0" u="none" strike="noStrik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cleardevice(); // 清空画布，准备重绘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将默认的“左上角坐标系”转换为以屏幕中心为原点的“笛卡尔坐标系”，更贴合物理认知。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286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8FAFC">
              <a:alpha val="100000"/>
            </a:srgbClr>
          </a:solidFill>
          <a:ln w="25400" cap="flat" cmpd="sng">
            <a:solidFill>
              <a:srgbClr val="F59E0B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540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2514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系统核心：绘制太阳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175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04000" y="3365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setfillcolor(YELLOW); // 设置填充颜色为黄色</a:t>
            </a:r>
            <a:br>
              <a:rPr lang="en-US" sz="1200" b="0" i="0" u="none" strike="noStrik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solidcircle(0, 0, 40); // 在原点绘制半径40的实心圆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57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作为太阳系的引力与视觉中心，太阳被固定绘制在坐标原点(0,0)，作为绝对参照点。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58674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逻辑小结：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先确立“中心”坐标系，再绘制核心天体，为行星轨道运动奠定基础。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代码揭秘：点亮星空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095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57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285F4"/>
                </a:solidFill>
                <a:latin typeface="Noto Sans SC"/>
                <a:ea typeface="Noto Sans SC"/>
                <a:cs typeface="Noto Sans SC"/>
                <a:sym typeface="Noto Sans SC"/>
              </a:rPr>
              <a:t>InitStars()</a:t>
            </a:r>
            <a:r>
              <a:rPr lang="en-US" sz="2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— “撒星星” 函数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921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核心功能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在漆黑的宇宙画布上，通过循环结构，随机生成</a:t>
            </a:r>
            <a:r>
              <a:rPr lang="en-US" sz="1300" b="1" i="0" u="none" strike="noStrike">
                <a:solidFill>
                  <a:srgbClr val="4285F4"/>
                </a:solidFill>
                <a:latin typeface="Noto Sans SC"/>
                <a:ea typeface="Noto Sans SC"/>
                <a:cs typeface="Noto Sans SC"/>
                <a:sym typeface="Noto Sans SC"/>
              </a:rPr>
              <a:t>200 颗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星星的位置数据。每一颗星星都有独一无二的 X、Y 轴坐标，从而构成浩瀚的星空背景。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1066800" y="4572000"/>
            <a:ext cx="4597400" cy="1397000"/>
          </a:xfrm>
          <a:prstGeom prst="roundRect">
            <a:avLst>
              <a:gd name="adj" fmla="val 7272"/>
            </a:avLst>
          </a:prstGeom>
          <a:solidFill>
            <a:srgbClr val="E8F0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44600" y="4762500"/>
            <a:ext cx="424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1" u="none" strike="noStrike">
                <a:solidFill>
                  <a:srgbClr val="4285F4"/>
                </a:solidFill>
                <a:latin typeface="Noto Sans SC"/>
                <a:ea typeface="Noto Sans SC"/>
                <a:cs typeface="Noto Sans SC"/>
                <a:sym typeface="Noto Sans SC"/>
              </a:rPr>
              <a:t>💡 “这个函数就像一个拿着星星魔法棒的小精灵，在画布上‘噗噗噗’地撒下200颗小星星，每一颗都落在随机的角落，组合起来就成了深邃的宇宙背景。”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1E232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635000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930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215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Code Implementation (C++)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667000"/>
            <a:ext cx="469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C586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 </a:t>
            </a:r>
            <a:r>
              <a:rPr lang="en-US" sz="1200" b="0" i="0" u="none" strike="noStrike" dirty="0" err="1">
                <a:solidFill>
                  <a:srgbClr val="DCDCA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InitStars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()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C586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200" b="0" i="0" u="none" strike="noStrike" dirty="0">
                <a:solidFill>
                  <a:srgbClr val="C586C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lang="en-US" sz="1200" b="0" i="0" u="none" strike="noStrike" dirty="0">
                <a:solidFill>
                  <a:srgbClr val="9CDCF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0; </a:t>
            </a:r>
            <a:r>
              <a:rPr lang="en-US" sz="1200" b="0" i="0" u="none" strike="noStrike" dirty="0" err="1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&lt; 200; </a:t>
            </a:r>
            <a:r>
              <a:rPr lang="en-US" sz="1200" b="0" i="0" u="none" strike="noStrike" dirty="0" err="1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++)</a:t>
            </a:r>
            <a:r>
              <a:rPr lang="en-US" sz="1200" b="0" i="0" u="none" strike="noStrike" dirty="0">
                <a:solidFill>
                  <a:srgbClr val="6A99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循环200次撒星星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9CDCF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stars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</a:t>
            </a:r>
            <a:r>
              <a:rPr lang="en-US" sz="1200" b="0" i="0" u="none" strike="noStrike" dirty="0" err="1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].x =</a:t>
            </a:r>
            <a:r>
              <a:rPr lang="en-US" sz="1200" b="0" i="0" u="none" strike="noStrike" dirty="0">
                <a:solidFill>
                  <a:srgbClr val="DCDCA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rand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() % 1000 - 500;</a:t>
            </a:r>
            <a:r>
              <a:rPr lang="en-US" sz="1200" b="0" i="0" u="none" strike="noStrike" dirty="0">
                <a:solidFill>
                  <a:srgbClr val="6A99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200" b="0" i="0" u="none" strike="noStrike" dirty="0" err="1">
                <a:solidFill>
                  <a:srgbClr val="6A99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X轴随机位置</a:t>
            </a:r>
            <a:endParaRPr lang="en-US" sz="1200" b="0" i="0" u="none" strike="noStrike" dirty="0">
              <a:solidFill>
                <a:srgbClr val="6A995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508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9CDCF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stars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</a:t>
            </a:r>
            <a:r>
              <a:rPr lang="en-US" sz="1200" b="0" i="0" u="none" strike="noStrike" dirty="0" err="1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].y =</a:t>
            </a:r>
            <a:r>
              <a:rPr lang="en-US" sz="1200" b="0" i="0" u="none" strike="noStrike" dirty="0">
                <a:solidFill>
                  <a:srgbClr val="DCDCA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rand</a:t>
            </a: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() % 800 - 400;</a:t>
            </a:r>
            <a:r>
              <a:rPr lang="en-US" sz="1200" b="0" i="0" u="none" strike="noStrike" dirty="0">
                <a:solidFill>
                  <a:srgbClr val="6A99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200" b="0" i="0" u="none" strike="noStrike" dirty="0" err="1">
                <a:solidFill>
                  <a:srgbClr val="6A99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Y轴随机位置</a:t>
            </a:r>
            <a:endParaRPr lang="en-US" sz="1200" b="0" i="0" u="none" strike="noStrike" dirty="0">
              <a:solidFill>
                <a:srgbClr val="6A995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3B9D526-29A3-ACF6-400F-63FD408704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62" y="1104367"/>
            <a:ext cx="10821338" cy="5852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508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1309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行星坐标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：cos() 和 sin()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35000" y="641846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行星是怎么知道自己该在轨道的哪个位置的呢？靠的是数学魔法</a:t>
            </a:r>
            <a:r>
              <a:rPr lang="en-US" sz="16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cos() 和 sin() </a:t>
            </a:r>
            <a:r>
              <a:rPr lang="en-US" sz="1600" b="0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这两个函数就像钟表的指针，能精准定位行星的位置</a:t>
            </a:r>
            <a:r>
              <a:rPr lang="en-US" sz="16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BA4D921-87CF-A62A-BEE4-4C1D4B32E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512758"/>
            <a:ext cx="9499076" cy="51855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85AA9-F7EE-30D2-8615-4962B976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91A68C5-C424-200F-CC34-4A2C65178F7B}"/>
              </a:ext>
            </a:extLst>
          </p:cNvPr>
          <p:cNvSpPr/>
          <p:nvPr/>
        </p:nvSpPr>
        <p:spPr>
          <a:xfrm>
            <a:off x="0" y="-508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14209C1-CDB8-F7EE-7228-DBD51310A490}"/>
              </a:ext>
            </a:extLst>
          </p:cNvPr>
          <p:cNvSpPr/>
          <p:nvPr/>
        </p:nvSpPr>
        <p:spPr>
          <a:xfrm>
            <a:off x="635000" y="63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行星坐标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：cos() 和 sin()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E044BC1-62BC-E003-44E4-B622B6F51F98}"/>
              </a:ext>
            </a:extLst>
          </p:cNvPr>
          <p:cNvSpPr/>
          <p:nvPr/>
        </p:nvSpPr>
        <p:spPr>
          <a:xfrm>
            <a:off x="635000" y="7239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行星是怎么知道自己该在轨道的哪个位置的呢？靠的是数学魔法</a:t>
            </a:r>
            <a:r>
              <a:rPr lang="en-US" sz="16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cos() 和 sin() </a:t>
            </a:r>
            <a:r>
              <a:rPr lang="en-US" sz="1600" b="0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这两个函数就像钟表的指针，能精准定位行星的位置</a:t>
            </a:r>
            <a:r>
              <a:rPr lang="en-US" sz="16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9894864-3F13-B5C1-717E-29B65A55216C}"/>
              </a:ext>
            </a:extLst>
          </p:cNvPr>
          <p:cNvSpPr/>
          <p:nvPr/>
        </p:nvSpPr>
        <p:spPr>
          <a:xfrm>
            <a:off x="625311" y="1587500"/>
            <a:ext cx="5011918" cy="1841500"/>
          </a:xfrm>
          <a:prstGeom prst="roundRect">
            <a:avLst>
              <a:gd name="adj" fmla="val 6666"/>
            </a:avLst>
          </a:prstGeom>
          <a:solidFill>
            <a:srgbClr val="EBF5FF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9B56F61-7B6A-36B3-1516-2E7B2D691D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9311" y="1841500"/>
            <a:ext cx="440071" cy="440071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D19EDD15-811B-64A3-6C3A-40901547697E}"/>
              </a:ext>
            </a:extLst>
          </p:cNvPr>
          <p:cNvSpPr/>
          <p:nvPr/>
        </p:nvSpPr>
        <p:spPr>
          <a:xfrm>
            <a:off x="1514311" y="1841500"/>
            <a:ext cx="3789499" cy="14322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2B5FA0"/>
                </a:solidFill>
                <a:latin typeface="Noto Sans SC"/>
                <a:ea typeface="Noto Sans SC"/>
                <a:cs typeface="Noto Sans SC"/>
                <a:sym typeface="Noto Sans SC"/>
              </a:rPr>
              <a:t>钟表指针的奥秘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想象行星的</a:t>
            </a:r>
            <a:r>
              <a:rPr lang="en-US" sz="14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angle</a:t>
            </a:r>
            <a:r>
              <a:rPr lang="en-US" sz="14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角度</a:t>
            </a:r>
            <a:r>
              <a:rPr lang="en-US" sz="14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就是钟表指针的角度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>
                <a:solidFill>
                  <a:srgbClr val="E67E22"/>
                </a:solidFill>
                <a:latin typeface="Noto Sans SC"/>
                <a:ea typeface="Noto Sans SC"/>
                <a:cs typeface="Noto Sans SC"/>
                <a:sym typeface="Noto Sans SC"/>
              </a:rPr>
              <a:t>cos(angle)</a:t>
            </a:r>
            <a:r>
              <a:rPr lang="en-US" sz="13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→ </a:t>
            </a:r>
            <a:r>
              <a:rPr lang="en-US" sz="1300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指针在水平方向的位置</a:t>
            </a:r>
            <a:r>
              <a:rPr lang="en-US" sz="13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300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X坐标</a:t>
            </a:r>
            <a:r>
              <a:rPr lang="en-US" sz="13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>
                <a:solidFill>
                  <a:srgbClr val="2ECC71"/>
                </a:solidFill>
                <a:latin typeface="Noto Sans SC"/>
                <a:ea typeface="Noto Sans SC"/>
                <a:cs typeface="Noto Sans SC"/>
                <a:sym typeface="Noto Sans SC"/>
              </a:rPr>
              <a:t>sin(angle)</a:t>
            </a:r>
            <a:r>
              <a:rPr lang="en-US" sz="13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→ </a:t>
            </a:r>
            <a:r>
              <a:rPr lang="en-US" sz="1300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指针在垂直方向的位置</a:t>
            </a:r>
            <a:r>
              <a:rPr lang="en-US" sz="13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300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Y坐标</a:t>
            </a:r>
            <a:r>
              <a:rPr lang="en-US" sz="13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C8A4EE6F-E824-54E6-82C7-8060F3C5743F}"/>
              </a:ext>
            </a:extLst>
          </p:cNvPr>
          <p:cNvSpPr/>
          <p:nvPr/>
        </p:nvSpPr>
        <p:spPr>
          <a:xfrm>
            <a:off x="611062" y="3708863"/>
            <a:ext cx="5127437" cy="2442641"/>
          </a:xfrm>
          <a:prstGeom prst="roundRect">
            <a:avLst>
              <a:gd name="adj" fmla="val 6666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E93A003D-4805-41FF-35E6-28AABC60A0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862" y="3772364"/>
            <a:ext cx="488528" cy="488528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5839E5D9-7964-2FC7-AEBA-65B936171E4C}"/>
              </a:ext>
            </a:extLst>
          </p:cNvPr>
          <p:cNvSpPr/>
          <p:nvPr/>
        </p:nvSpPr>
        <p:spPr>
          <a:xfrm>
            <a:off x="728373" y="3962864"/>
            <a:ext cx="5011919" cy="21712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代码里的“魔法咒语</a:t>
            </a:r>
            <a:r>
              <a:rPr lang="en-US" sz="1800" b="1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Double </a:t>
            </a:r>
            <a:r>
              <a:rPr lang="en-US" sz="1200" b="0" i="0" u="none" strike="noStrike" dirty="0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planets[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].a *</a:t>
            </a:r>
            <a:r>
              <a:rPr lang="en-US" sz="1200" b="0" i="0" u="none" strike="noStrike" dirty="0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cos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(planets[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].angle);</a:t>
            </a:r>
            <a:r>
              <a:rPr lang="en-US" sz="1200" b="0" i="0" u="none" strike="noStrike" dirty="0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200" b="0" i="0" u="none" strike="noStrike" dirty="0" err="1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X坐标</a:t>
            </a:r>
            <a:endParaRPr lang="en-US" sz="1200" b="0" i="0" u="none" strike="noStrike" dirty="0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Double </a:t>
            </a:r>
            <a:r>
              <a:rPr lang="en-US" sz="1200" b="0" i="0" u="none" strike="noStrike" dirty="0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planets[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].b *</a:t>
            </a:r>
            <a:r>
              <a:rPr lang="en-US" sz="1200" b="0" i="0" u="none" strike="noStrike" dirty="0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sin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(planets[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].angle);</a:t>
            </a:r>
            <a:r>
              <a:rPr lang="en-US" sz="1200" b="0" i="0" u="none" strike="noStrike" dirty="0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200" b="0" i="0" u="none" strike="noStrike" dirty="0" err="1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Y坐标</a:t>
            </a:r>
            <a:endParaRPr lang="en-US" sz="1200" b="0" i="0" u="none" strike="noStrike" dirty="0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solidcircle</a:t>
            </a:r>
            <a:r>
              <a:rPr lang="en-US" sz="1200" b="0" i="0" u="none" strike="noStrike" dirty="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((int)x, (int)y, size);</a:t>
            </a:r>
            <a:r>
              <a:rPr lang="en-US" sz="1200" b="0" i="0" u="none" strike="noStrike" dirty="0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200" b="0" i="0" u="none" strike="noStrike" dirty="0" err="1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画出星星</a:t>
            </a:r>
            <a:r>
              <a:rPr lang="en-US" sz="1200" b="0" i="0" u="none" strike="noStrike" dirty="0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3CF628D-3937-5A19-197B-353971F35B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5810" y="1587500"/>
            <a:ext cx="6179772" cy="4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64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动画更新逻辑：Update函数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动画的本质是“静帧”的快速切换。</a:t>
            </a: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Update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函数作为“驱动心脏”，负责计算每一帧行星与系统的新状态，是实现动态宇宙的核心逻辑。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3302000"/>
          </a:xfrm>
          <a:prstGeom prst="roundRect">
            <a:avLst>
              <a:gd name="adj" fmla="val 3076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857500"/>
            <a:ext cx="482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DB277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 </a:t>
            </a:r>
            <a:r>
              <a:rPr lang="en-US" sz="1200" b="1" i="0" u="none" strike="noStrike" dirty="0">
                <a:solidFill>
                  <a:srgbClr val="1E40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Update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() {</a:t>
            </a:r>
            <a:endParaRPr lang="en-US" sz="1100" dirty="0"/>
          </a:p>
          <a:p>
            <a:pPr marL="1905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DB277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(!paused) { // </a:t>
            </a: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仅在非暂停状态下执行更新逻辑</a:t>
            </a:r>
            <a:endParaRPr lang="en-US" sz="1200" b="0" i="0" u="none" strike="noStrike" dirty="0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381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遍历更新八大行星的运动角度</a:t>
            </a:r>
            <a:endParaRPr lang="en-US" sz="1200" b="0" i="0" u="none" strike="noStrike" dirty="0">
              <a:solidFill>
                <a:srgbClr val="6B728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381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DB277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200" b="0" i="0" u="none" strike="noStrike" dirty="0">
                <a:solidFill>
                  <a:srgbClr val="DB277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 = 0; </a:t>
            </a: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&lt; 8; </a:t>
            </a: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++)</a:t>
            </a:r>
          </a:p>
          <a:p>
            <a:pPr marL="5715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planets[</a:t>
            </a: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].angle += planets[</a:t>
            </a: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].speed * </a:t>
            </a: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globalSpeed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</a:p>
          <a:p>
            <a:pPr marL="38100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simDay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+= </a:t>
            </a: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globalSpeed</a:t>
            </a: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 // </a:t>
            </a:r>
            <a:r>
              <a:rPr lang="en-US" sz="1200" b="0" i="0" u="none" strike="noStrike" dirty="0" err="1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累计模拟天数，用于UI展示</a:t>
            </a:r>
            <a:endParaRPr lang="en-US" sz="1200" b="0" i="0" u="none" strike="noStrike" dirty="0">
              <a:solidFill>
                <a:srgbClr val="33333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905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2667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E3F2FD">
              <a:alpha val="100000"/>
            </a:srgbClr>
          </a:solidFill>
          <a:ln w="12700" cap="flat" cmpd="sng">
            <a:solidFill>
              <a:srgbClr val="1E40A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921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28575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角度更新 (Angle Update)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行星对象的</a:t>
            </a: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angle</a:t>
            </a: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变量根据自身公转速度</a:t>
            </a:r>
            <a:r>
              <a:rPr lang="en-US" sz="13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speed</a:t>
            </a: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与全局速度倍率</a:t>
            </a:r>
            <a:r>
              <a:rPr lang="en-US" sz="13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globalSpeed</a:t>
            </a: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实时累加，这是驱动行星位置变化的核心数学逻辑。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4445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E3F2FD">
              <a:alpha val="100000"/>
            </a:srgbClr>
          </a:solidFill>
          <a:ln w="12700" cap="flat" cmpd="sng">
            <a:solidFill>
              <a:srgbClr val="1E40A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699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46355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时间更新 (Time Tracking)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simDay</a:t>
            </a: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随帧更新，精确记录整个宇宙模拟系统运行的“内部时间”，为界面上的日期显示、历史回溯提供数据支撑。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核心绘制逻辑：UI与信息面板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06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绘制 UI 状态信息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4826000" cy="2921000"/>
          </a:xfrm>
          <a:prstGeom prst="roundRect">
            <a:avLst>
              <a:gd name="adj" fmla="val 3478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3048000"/>
            <a:ext cx="4445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实时显示系统运行参数与状态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settextcolor</a:t>
            </a: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(WHITE);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char buf[128];// 定义字符缓冲区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sprintf</a:t>
            </a: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(buf, "速度倍率: x%.2f", globalSpeed);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outtextxy</a:t>
            </a: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(-450, -350, buf);</a:t>
            </a:r>
            <a:r>
              <a:rPr lang="en-US" sz="13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左上角绘制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同理绘制模拟流逝时间与暂停/运行状态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032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006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绘制 行星交互信息面板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794000"/>
            <a:ext cx="4826000" cy="2921000"/>
          </a:xfrm>
          <a:prstGeom prst="roundRect">
            <a:avLst>
              <a:gd name="adj" fmla="val 3478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3048000"/>
            <a:ext cx="4445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选中行星时，动态渲染详情面板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(selected != -1) {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setfillcolor</a:t>
            </a: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(RGB(30, 30, 35));</a:t>
            </a:r>
            <a:r>
              <a:rPr lang="en-US" sz="13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深色背景块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solidrectangle</a:t>
            </a: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(x0, y0, x0+300, y0+180);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rectangle</a:t>
            </a: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(x0, y0, x0+300, y0+180);</a:t>
            </a:r>
            <a:r>
              <a:rPr lang="en-US" sz="13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白色描边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outtextxy</a:t>
            </a: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(x0+10, y0+10, "=== 行星档案 ===");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根据 selected 索引渲染对应天文数据...</a:t>
            </a:r>
            <a:br>
              <a:rPr lang="en-US" sz="13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3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代码揭秘：程序的“耳朵”</a:t>
            </a:r>
            <a:r>
              <a:rPr lang="en-US" sz="3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HandleInput()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这个神奇的函数就像程序的感官接收器，让程序能够“听懂”我们的每一个指令，实现人机交互！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730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730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控制暂停与继续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当你按下键盘上的</a:t>
            </a:r>
            <a:r>
              <a:rPr lang="en-US" sz="13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空格键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时，它会立刻“听见”并发出指令，让整个太阳系的运动暂停，或者从暂停状态恢复运行。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413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730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2730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调节宇宙速度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68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按下键盘上的</a:t>
            </a:r>
            <a:r>
              <a:rPr lang="en-US" sz="13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向上或向下方向键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，它就能精准捕捉信号，轻松调整所有行星的公转和自转速度，快进或慢放都由你定！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413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2730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2730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行星信息查询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68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当你用鼠标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点击任意一颗行星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时，它会立刻识别你的意图，选中该行星，并将它的详细资料展示在信息面板上。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7777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524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就像你喊一声“开灯”，灯就亮了一样，这个函数就是程序的“耳朵”，时刻准备着响应你的每一次操作！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用户交互逻辑：HandleInput函数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这个函数负责处理用户的输入事件，让程序变得“可交互”。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191000"/>
          </a:xfrm>
          <a:prstGeom prst="roundRect">
            <a:avLst>
              <a:gd name="adj" fmla="val 2424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478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鼠标交互：选中行星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4826000" cy="3048000"/>
          </a:xfrm>
          <a:prstGeom prst="roundRect">
            <a:avLst>
              <a:gd name="adj" fmla="val 250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200400"/>
            <a:ext cx="4940300" cy="2578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2E74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msg.message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== WM_LBUTTONDOWN) {</a:t>
            </a:r>
            <a:endParaRPr lang="en-US" sz="1600" dirty="0"/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转换鼠标坐标到以行星系为中心的坐标系</a:t>
            </a:r>
            <a:endParaRPr lang="en-US" sz="16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C02629"/>
                </a:solidFill>
                <a:latin typeface="Roboto Mono"/>
                <a:ea typeface="Roboto Mono"/>
                <a:cs typeface="Roboto Mono"/>
                <a:sym typeface="Roboto Mono"/>
              </a:rPr>
              <a:t>Double 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mx =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msg.x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- cx, my =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msg.y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- cy;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遍历八大行星，检查点击位置与行星距离</a:t>
            </a:r>
            <a:endParaRPr lang="en-US" sz="16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2E74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600" b="0" i="0" u="none" strike="noStrike" dirty="0">
                <a:solidFill>
                  <a:srgbClr val="C02629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 = 0;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&lt; 8;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++) {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距离小于行星半径+5像素即判定为选中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2E74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(sqrt((mx-x)*(mx-x)+(my-y)*(my-y)) &lt; planets[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].size + 5)</a:t>
            </a:r>
          </a:p>
          <a:p>
            <a:pPr marL="762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selected =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4191000"/>
          </a:xfrm>
          <a:prstGeom prst="roundRect">
            <a:avLst>
              <a:gd name="adj" fmla="val 2424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28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088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键盘交互：控制动画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921000"/>
            <a:ext cx="4826000" cy="3048000"/>
          </a:xfrm>
          <a:prstGeom prst="roundRect">
            <a:avLst>
              <a:gd name="adj" fmla="val 250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2667000"/>
            <a:ext cx="4335346" cy="311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2E74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msg.message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== WM_KEYDOWN) {</a:t>
            </a:r>
            <a:endParaRPr lang="en-US" sz="1600" dirty="0"/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2E74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msg.vkcode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== VK_SPACE)</a:t>
            </a:r>
            <a:r>
              <a:rPr lang="en-US" sz="1600" b="0" i="0" u="none" strike="noStrike" dirty="0">
                <a:solidFill>
                  <a:srgbClr val="C02629"/>
                </a:solidFill>
                <a:latin typeface="Roboto Mono"/>
                <a:ea typeface="Roboto Mono"/>
                <a:cs typeface="Roboto Mono"/>
                <a:sym typeface="Roboto Mono"/>
              </a:rPr>
              <a:t>paused = !paused;</a:t>
            </a:r>
            <a:r>
              <a:rPr lang="en-US" sz="16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空格键：暂停</a:t>
            </a:r>
            <a:r>
              <a:rPr lang="en-US" sz="16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恢复</a:t>
            </a:r>
            <a:endParaRPr lang="en-US" sz="16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2E74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msg.vkcode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== VK_UP)</a:t>
            </a:r>
            <a:r>
              <a:rPr lang="en-US" sz="1600" b="0" i="0" u="none" strike="noStrike" dirty="0">
                <a:solidFill>
                  <a:srgbClr val="C02629"/>
                </a:solidFill>
                <a:latin typeface="Roboto Mono"/>
                <a:ea typeface="Roboto Mono"/>
                <a:cs typeface="Roboto Mono"/>
                <a:sym typeface="Roboto Mono"/>
              </a:rPr>
              <a:t>speed *= 1.2;</a:t>
            </a:r>
            <a:r>
              <a:rPr lang="en-US" sz="16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上方向键：加速</a:t>
            </a:r>
            <a:endParaRPr lang="en-US" sz="16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2E74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msg.vkcode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== VK_DOWN)</a:t>
            </a:r>
            <a:r>
              <a:rPr lang="en-US" sz="1600" b="0" i="0" u="none" strike="noStrike" dirty="0">
                <a:solidFill>
                  <a:srgbClr val="C02629"/>
                </a:solidFill>
                <a:latin typeface="Roboto Mono"/>
                <a:ea typeface="Roboto Mono"/>
                <a:cs typeface="Roboto Mono"/>
                <a:sym typeface="Roboto Mono"/>
              </a:rPr>
              <a:t>speed /= 1.2;</a:t>
            </a:r>
            <a:r>
              <a:rPr lang="en-US" sz="16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下方向键：减速</a:t>
            </a:r>
            <a:endParaRPr lang="en-US" sz="16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2E74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msg.vkcode</a:t>
            </a: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== VK_ESCAPE)</a:t>
            </a:r>
            <a:r>
              <a:rPr lang="en-US" sz="1600" b="0" i="0" u="none" strike="noStrike" dirty="0">
                <a:solidFill>
                  <a:srgbClr val="C02629"/>
                </a:solidFill>
                <a:latin typeface="Roboto Mono"/>
                <a:ea typeface="Roboto Mono"/>
                <a:cs typeface="Roboto Mono"/>
                <a:sym typeface="Roboto Mono"/>
              </a:rPr>
              <a:t>exit(0);</a:t>
            </a:r>
            <a:r>
              <a:rPr lang="en-US" sz="16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ESC键：退出</a:t>
            </a:r>
            <a:endParaRPr lang="en-US" sz="1600" b="0" i="0" u="none" strike="noStrike" dirty="0">
              <a:solidFill>
                <a:srgbClr val="6B72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1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注：VK</a:t>
            </a:r>
            <a:r>
              <a:rPr lang="en-US" sz="1200" b="0" i="1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_* 是 Windows </a:t>
            </a:r>
            <a:r>
              <a:rPr lang="en-US" sz="1200" b="0" i="1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系统定义的虚拟按键码常量</a:t>
            </a:r>
            <a:r>
              <a:rPr lang="en-US" sz="1200" b="0" i="1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3964-351F-2E2B-FE89-DBED3A92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9264BEF0-84DA-0817-0C76-CAD3A18C62F6}"/>
              </a:ext>
            </a:extLst>
          </p:cNvPr>
          <p:cNvSpPr/>
          <p:nvPr/>
        </p:nvSpPr>
        <p:spPr>
          <a:xfrm>
            <a:off x="182136" y="9540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</a:t>
            </a: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视频</a:t>
            </a:r>
            <a:endParaRPr lang="en-US" sz="1100" dirty="0"/>
          </a:p>
        </p:txBody>
      </p:sp>
      <p:pic>
        <p:nvPicPr>
          <p:cNvPr id="3" name="太阳系运行视频">
            <a:hlinkClick r:id="" action="ppaction://media"/>
            <a:extLst>
              <a:ext uri="{FF2B5EF4-FFF2-40B4-BE49-F238E27FC236}">
                <a16:creationId xmlns:a16="http://schemas.microsoft.com/office/drawing/2014/main" id="{0E50765B-1BEC-1656-E15B-8A2C8A96FB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7335" y="95405"/>
            <a:ext cx="9436232" cy="67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8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BEC7D-C2C1-889D-0BED-F468911F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2FED5B8-E845-782F-2CA9-5C4CF68D0351}"/>
              </a:ext>
            </a:extLst>
          </p:cNvPr>
          <p:cNvSpPr/>
          <p:nvPr/>
        </p:nvSpPr>
        <p:spPr>
          <a:xfrm>
            <a:off x="0" y="1651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 dirty="0">
                <a:solidFill>
                  <a:srgbClr val="4285F4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3EE7D54-EA42-DCEB-7F05-18F218E5BDE8}"/>
              </a:ext>
            </a:extLst>
          </p:cNvPr>
          <p:cNvSpPr/>
          <p:nvPr/>
        </p:nvSpPr>
        <p:spPr>
          <a:xfrm>
            <a:off x="5588000" y="342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4285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757638B-D0A6-4A0A-B464-7E4FC60D7652}"/>
              </a:ext>
            </a:extLst>
          </p:cNvPr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小小创造家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67635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任务一：给地球换上绿色衣裳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EBF5FF">
              <a:alpha val="100000"/>
            </a:srgbClr>
          </a:solidFill>
          <a:ln w="25400" cap="flat" cmpd="sng">
            <a:solidFill>
              <a:srgbClr val="4A90E2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06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任务指南 (Mission Guide)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800"/>
              </a:spcBef>
              <a:defRPr/>
            </a:pPr>
            <a:r>
              <a:rPr lang="en-US" sz="1600" b="1" i="0" u="none" strike="noStrike">
                <a:solidFill>
                  <a:srgbClr val="FF6F3C"/>
                </a:solidFill>
                <a:latin typeface="Noto Sans SC"/>
                <a:ea typeface="Noto Sans SC"/>
                <a:cs typeface="Noto Sans SC"/>
                <a:sym typeface="Noto Sans SC"/>
              </a:rPr>
              <a:t>01. 寻找线索：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在代码里找到包含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`"地球"`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的那一行，这是你的目标！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02. 观察现状：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你会发现地球现在穿的是</a:t>
            </a: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`RGB(100,150,255)`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的蓝色衣服。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52C41A"/>
                </a:solidFill>
                <a:latin typeface="Noto Sans SC"/>
                <a:ea typeface="Noto Sans SC"/>
                <a:cs typeface="Noto Sans SC"/>
                <a:sym typeface="Noto Sans SC"/>
              </a:rPr>
              <a:t>03. 开始改造：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挑战一下！把颜色代码改成绿色，试试</a:t>
            </a:r>
            <a:r>
              <a:rPr lang="en-US" sz="1400" b="1" i="0" u="none" strike="noStrike">
                <a:solidFill>
                  <a:srgbClr val="52C41A"/>
                </a:solidFill>
                <a:latin typeface="Noto Sans SC"/>
                <a:ea typeface="Noto Sans SC"/>
                <a:cs typeface="Noto Sans SC"/>
                <a:sym typeface="Noto Sans SC"/>
              </a:rPr>
              <a:t>`RGB(0, 255, 0)`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或者你喜欢的其他绿色。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FAAD14"/>
                </a:solidFill>
                <a:latin typeface="Noto Sans SC"/>
                <a:ea typeface="Noto Sans SC"/>
                <a:cs typeface="Noto Sans SC"/>
                <a:sym typeface="Noto Sans SC"/>
              </a:rPr>
              <a:t>04. 见证奇迹：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保存代码并点击“运行”，看看地球是不是变绿了？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32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2006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代码大变身 (Code Change)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794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2921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修改前 (Before)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{0, 0.03, 200, 120,11,</a:t>
            </a:r>
            <a:r>
              <a:rPr lang="en-US" sz="1300" b="1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RGB(100,150,255)</a:t>
            </a:r>
            <a:r>
              <a:rPr lang="en-US" sz="13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, "地球"},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477000" y="4191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222831">
              <a:alpha val="100000"/>
            </a:srgbClr>
          </a:solidFill>
          <a:ln w="25400" cap="flat" cmpd="sng">
            <a:solidFill>
              <a:srgbClr val="52C41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4318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// 修改后 (After) - 把颜色值换掉！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{0, 0.03, 200, 120,11,</a:t>
            </a:r>
            <a:r>
              <a:rPr lang="en-US" sz="1300" b="1" i="0" u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RGB(0, 255, 0)</a:t>
            </a: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, "地球"},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任务二：让火星“狂飙”起来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A90E2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06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任务指南：变身赛车教练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寻找目标：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在代码的茫茫大海中，找到包含</a:t>
            </a:r>
            <a:r>
              <a:rPr lang="en-US" sz="1400" b="1" i="0" u="none" strike="noStrike">
                <a:solidFill>
                  <a:srgbClr val="EB5757"/>
                </a:solidFill>
                <a:latin typeface="Noto Sans SC"/>
                <a:ea typeface="Noto Sans SC"/>
                <a:cs typeface="Noto Sans SC"/>
                <a:sym typeface="Noto Sans SC"/>
              </a:rPr>
              <a:t>“火星”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的那一行。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定位参数：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在这行代码里，有一个数字控制着它的速度 (speed)，目前它是</a:t>
            </a: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0.025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03. 火力全开 (挑战)：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把速度值改大一点！比如改成</a:t>
            </a:r>
            <a:r>
              <a:rPr lang="en-US" sz="14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0.05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，甚至可以尝试更大的数值！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04. 见证奇迹：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保存修改，重新运行程序。看看火星是不是像吃了菠菜一样，跑得比以前快多了？它甚至可能超过地球哦！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252933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635000"/>
          </a:xfrm>
          <a:prstGeom prst="roundRect">
            <a:avLst>
              <a:gd name="adj" fmla="val 24000"/>
            </a:avLst>
          </a:prstGeom>
          <a:solidFill>
            <a:srgbClr val="3136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917700"/>
            <a:ext cx="330200" cy="330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930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💻 </a:t>
            </a:r>
            <a:r>
              <a:rPr lang="en-US" sz="1800" b="1" i="0" u="none" strike="noStrike" dirty="0" err="1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代码修改对比示例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1A1D24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2794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🌙 修改前：慢吞吞模式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{0,</a:t>
            </a:r>
            <a:r>
              <a:rPr lang="en-US" sz="1300" b="1" i="0" u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0.025</a:t>
            </a:r>
            <a:r>
              <a:rPr lang="en-US" sz="13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, 250, 160, 9, RGB(255,100,100),</a:t>
            </a:r>
            <a:r>
              <a:rPr lang="en-US" sz="1300" b="0" i="0" u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"火星"</a:t>
            </a:r>
            <a:r>
              <a:rPr lang="en-US" sz="13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77000" y="4318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1A1D24">
              <a:alpha val="100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4445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🔥 修改后：开启“狂飙”模式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{0,</a:t>
            </a:r>
            <a:r>
              <a:rPr lang="en-US" sz="1300" b="1" i="0" u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0.05</a:t>
            </a:r>
            <a:r>
              <a:rPr lang="en-US" sz="13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, 250, 160, 9, RGB(255,100,100),</a:t>
            </a:r>
            <a:r>
              <a:rPr lang="en-US" sz="1300" b="0" i="0" u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"火星"</a:t>
            </a:r>
            <a:r>
              <a:rPr lang="en-US" sz="1300" b="0" i="0" u="none" strike="noStrik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任务三：创造一颗属于你的行星！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52600"/>
            <a:ext cx="5207000" cy="4761322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A90E2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478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任务指令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找到代码中</a:t>
            </a:r>
            <a:r>
              <a:rPr lang="en-US" sz="1400" b="1" i="0" u="none" strike="noStrike" dirty="0" err="1">
                <a:solidFill>
                  <a:srgbClr val="E74C3C"/>
                </a:solidFill>
                <a:latin typeface="Noto Sans SC"/>
                <a:ea typeface="Noto Sans SC"/>
                <a:cs typeface="Noto Sans SC"/>
                <a:sym typeface="Noto Sans SC"/>
              </a:rPr>
              <a:t>Planet</a:t>
            </a:r>
            <a:r>
              <a:rPr lang="en-US" sz="1400" b="1" i="0" u="none" strike="noStrike" dirty="0">
                <a:solidFill>
                  <a:srgbClr val="E74C3C"/>
                </a:solidFill>
                <a:latin typeface="Noto Sans SC"/>
                <a:ea typeface="Noto Sans SC"/>
                <a:cs typeface="Noto Sans SC"/>
                <a:sym typeface="Noto Sans SC"/>
              </a:rPr>
              <a:t> planets[8] = { ... }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的位置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在数组的末尾，最后一个</a:t>
            </a:r>
            <a:r>
              <a:rPr lang="en-US" sz="1400" b="0" i="0" u="none" strike="noStrike" dirty="0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之前，添加一行全新的行星代码</a:t>
            </a:r>
            <a:endParaRPr lang="en-US" sz="14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2893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47800" y="3263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自定义行星参数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3740870"/>
            <a:ext cx="4699000" cy="25653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•speed / </a:t>
            </a:r>
            <a:r>
              <a:rPr lang="en-US" sz="13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size：设定它的运行速度与体型大小</a:t>
            </a:r>
            <a:b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•a, </a:t>
            </a:r>
            <a:r>
              <a:rPr lang="en-US" sz="13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b：调整数值，决定它在轨道上的远近</a:t>
            </a:r>
            <a:b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color：选一个你最爱的颜色，如</a:t>
            </a:r>
            <a:r>
              <a:rPr lang="en-US" sz="1300" b="1" i="0" u="none" strike="noStrike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RGB</a:t>
            </a:r>
            <a:r>
              <a:rPr lang="en-US" sz="1300" b="1" i="0" u="none" strike="noStrike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(180, 100, 200)</a:t>
            </a:r>
            <a:b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name_cn：给它起个独一无二的名字吧</a:t>
            </a:r>
            <a:r>
              <a:rPr lang="en-US" sz="13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25000"/>
              </a:lnSpc>
              <a:defRPr/>
            </a:pPr>
            <a:r>
              <a:rPr lang="en-US" b="1" dirty="0">
                <a:sym typeface="Noto Sans SC"/>
              </a:rPr>
              <a:t>PS: </a:t>
            </a:r>
            <a:br>
              <a:rPr lang="en-US" b="1" dirty="0">
                <a:sym typeface="Noto Sans SC"/>
              </a:rPr>
            </a:br>
            <a:r>
              <a:rPr lang="zh-CN" altLang="en-US" b="1" dirty="0">
                <a:sym typeface="Noto Sans SC"/>
              </a:rPr>
              <a:t>修改第</a:t>
            </a:r>
            <a:r>
              <a:rPr lang="en-US" altLang="zh-CN" b="1" dirty="0">
                <a:sym typeface="Noto Sans SC"/>
              </a:rPr>
              <a:t>22</a:t>
            </a:r>
            <a:r>
              <a:rPr lang="zh-CN" altLang="en-US" b="1" dirty="0">
                <a:sym typeface="Noto Sans SC"/>
              </a:rPr>
              <a:t>行，数组大小为</a:t>
            </a:r>
            <a:r>
              <a:rPr lang="en-US" altLang="zh-CN" b="1" dirty="0">
                <a:sym typeface="Noto Sans SC"/>
              </a:rPr>
              <a:t>9</a:t>
            </a:r>
            <a:r>
              <a:rPr lang="zh-CN" altLang="en-US" b="1" dirty="0">
                <a:sym typeface="Noto Sans SC"/>
              </a:rPr>
              <a:t>，</a:t>
            </a:r>
            <a:endParaRPr lang="en-US" b="1" dirty="0"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b="1" dirty="0"/>
              <a:t>修改第</a:t>
            </a:r>
            <a:r>
              <a:rPr lang="en-US" altLang="zh-CN" b="1" dirty="0"/>
              <a:t>75</a:t>
            </a:r>
            <a:r>
              <a:rPr lang="zh-CN" altLang="en-US" b="1" dirty="0"/>
              <a:t>行，遍历</a:t>
            </a:r>
            <a:r>
              <a:rPr lang="en-US" altLang="zh-CN" b="1" dirty="0"/>
              <a:t>9</a:t>
            </a:r>
            <a:r>
              <a:rPr lang="zh-CN" altLang="en-US" b="1" dirty="0"/>
              <a:t>个行星 </a:t>
            </a:r>
            <a:r>
              <a:rPr lang="nn-NO" altLang="zh-CN" b="1" dirty="0"/>
              <a:t>for (int i = 0; i &lt; 9; i++)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b="1" dirty="0"/>
              <a:t>修改第</a:t>
            </a:r>
            <a:r>
              <a:rPr lang="en-US" altLang="zh-CN" b="1" dirty="0"/>
              <a:t>163</a:t>
            </a:r>
            <a:r>
              <a:rPr lang="zh-CN" altLang="en-US" b="1" dirty="0"/>
              <a:t>行，遍历</a:t>
            </a:r>
            <a:r>
              <a:rPr lang="en-US" altLang="zh-CN" b="1" dirty="0"/>
              <a:t>9</a:t>
            </a:r>
            <a:r>
              <a:rPr lang="zh-CN" altLang="en-US" b="1" dirty="0"/>
              <a:t>个行星 </a:t>
            </a:r>
            <a:r>
              <a:rPr lang="nn-NO" altLang="zh-CN" b="1" dirty="0"/>
              <a:t>for (int i = 0; i &lt; 9; i++)</a:t>
            </a:r>
            <a:endParaRPr lang="en-US" altLang="zh-CN" b="1" dirty="0"/>
          </a:p>
          <a:p>
            <a:pPr>
              <a:lnSpc>
                <a:spcPct val="125000"/>
              </a:lnSpc>
              <a:defRPr/>
            </a:pPr>
            <a:endParaRPr lang="en-US" altLang="zh-CN" sz="1100" dirty="0"/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4705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2032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代码示例参考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794000"/>
            <a:ext cx="4699000" cy="2921000"/>
          </a:xfrm>
          <a:prstGeom prst="roundRect">
            <a:avLst>
              <a:gd name="adj" fmla="val 5217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731000" y="3048000"/>
            <a:ext cx="419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33333"/>
              </a:lnSpc>
              <a:defRPr/>
            </a:pPr>
            <a:r>
              <a:rPr lang="en-US" sz="1200" b="0" i="0" u="none" strike="noStrike" dirty="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1. </a:t>
            </a:r>
            <a:r>
              <a:rPr lang="en-US" sz="1200" b="0" i="0" u="none" strike="noStrike" dirty="0" err="1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先在海王星后加上逗号</a:t>
            </a:r>
            <a:br>
              <a:rPr lang="en-US" sz="12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 dirty="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{0, 0.006, 520, 320, 14, RGB(100, 100, 255), "</a:t>
            </a:r>
            <a:r>
              <a:rPr lang="en-US" sz="1200" b="0" i="0" u="none" strike="noStrike" dirty="0" err="1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海王星</a:t>
            </a:r>
            <a:r>
              <a:rPr lang="en-US" sz="1200" b="0" i="0" u="none" strike="noStrike" dirty="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"},</a:t>
            </a:r>
            <a:br>
              <a:rPr lang="en-US" sz="12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 dirty="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2. </a:t>
            </a:r>
            <a:r>
              <a:rPr lang="en-US" sz="1200" b="0" i="0" u="none" strike="noStrike" dirty="0" err="1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在下一行添加你的行星</a:t>
            </a:r>
            <a:br>
              <a:rPr lang="en-US" sz="12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altLang="zh-CN" sz="1200" dirty="0">
                <a:solidFill>
                  <a:srgbClr val="FB92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{0, 0.03, 290, 130,15, RGB(10,50,255), "</a:t>
            </a:r>
            <a:r>
              <a:rPr lang="zh-CN" altLang="en-US" sz="1200" dirty="0">
                <a:solidFill>
                  <a:srgbClr val="FB92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独墅湖小学星</a:t>
            </a:r>
            <a:r>
              <a:rPr lang="en-US" altLang="zh-CN" sz="1200" dirty="0">
                <a:solidFill>
                  <a:srgbClr val="FB92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"} </a:t>
            </a:r>
            <a:br>
              <a:rPr lang="en-US" sz="12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 dirty="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540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恭喜你，宇宙创造者！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06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EBF5FF"/>
                </a:solidFill>
                <a:latin typeface="Noto Sans SC"/>
                <a:ea typeface="Noto Sans SC"/>
                <a:cs typeface="Noto Sans SC"/>
                <a:sym typeface="Noto Sans SC"/>
              </a:rPr>
              <a:t>编程就像拥有了一支魔法画笔，能让我们把脑海中的想象变成现实。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33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保持好奇 · 持续探索 · 创造无限宇宙！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2533</Words>
  <Application>Microsoft Office PowerPoint</Application>
  <PresentationFormat>宽屏</PresentationFormat>
  <Paragraphs>321</Paragraphs>
  <Slides>27</Slides>
  <Notes>25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Noto Sans SC</vt:lpstr>
      <vt:lpstr>Arial</vt:lpstr>
      <vt:lpstr>Consolas</vt:lpstr>
      <vt:lpstr>Courier New</vt:lpstr>
      <vt:lpstr>Roboto Mono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yulin liu</cp:lastModifiedBy>
  <cp:revision>21</cp:revision>
  <dcterms:modified xsi:type="dcterms:W3CDTF">2026-05-18T04:03:45Z</dcterms:modified>
</cp:coreProperties>
</file>